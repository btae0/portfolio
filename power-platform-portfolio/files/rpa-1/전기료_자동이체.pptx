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3" r:id="rId1"/>
  </p:sldMasterIdLst>
  <p:notesMasterIdLst>
    <p:notesMasterId r:id="rId22"/>
  </p:notesMasterIdLst>
  <p:sldIdLst>
    <p:sldId id="497" r:id="rId2"/>
    <p:sldId id="498" r:id="rId3"/>
    <p:sldId id="450" r:id="rId4"/>
    <p:sldId id="507" r:id="rId5"/>
    <p:sldId id="453" r:id="rId6"/>
    <p:sldId id="508" r:id="rId7"/>
    <p:sldId id="509" r:id="rId8"/>
    <p:sldId id="510" r:id="rId9"/>
    <p:sldId id="512" r:id="rId10"/>
    <p:sldId id="511" r:id="rId11"/>
    <p:sldId id="513" r:id="rId12"/>
    <p:sldId id="514" r:id="rId13"/>
    <p:sldId id="515" r:id="rId14"/>
    <p:sldId id="516" r:id="rId15"/>
    <p:sldId id="517" r:id="rId16"/>
    <p:sldId id="518" r:id="rId17"/>
    <p:sldId id="519" r:id="rId18"/>
    <p:sldId id="520" r:id="rId19"/>
    <p:sldId id="521" r:id="rId20"/>
    <p:sldId id="506" r:id="rId21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172" userDrawn="1">
          <p15:clr>
            <a:srgbClr val="A4A3A4"/>
          </p15:clr>
        </p15:guide>
        <p15:guide id="4" pos="6068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  <p15:guide id="6" orient="horz" pos="3974" userDrawn="1">
          <p15:clr>
            <a:srgbClr val="A4A3A4"/>
          </p15:clr>
        </p15:guide>
        <p15:guide id="7" pos="217" userDrawn="1">
          <p15:clr>
            <a:srgbClr val="A4A3A4"/>
          </p15:clr>
        </p15:guide>
        <p15:guide id="8" orient="horz" pos="3884" userDrawn="1">
          <p15:clr>
            <a:srgbClr val="A4A3A4"/>
          </p15:clr>
        </p15:guide>
        <p15:guide id="9" pos="12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7">
          <p15:clr>
            <a:srgbClr val="A4A3A4"/>
          </p15:clr>
        </p15:guide>
        <p15:guide id="2" pos="212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85C3"/>
    <a:srgbClr val="444B56"/>
    <a:srgbClr val="CCECFF"/>
    <a:srgbClr val="DDDDDD"/>
    <a:srgbClr val="333F50"/>
    <a:srgbClr val="777777"/>
    <a:srgbClr val="969696"/>
    <a:srgbClr val="9F9378"/>
    <a:srgbClr val="C74630"/>
    <a:srgbClr val="B640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0" autoAdjust="0"/>
    <p:restoredTop sz="95932" autoAdjust="0"/>
  </p:normalViewPr>
  <p:slideViewPr>
    <p:cSldViewPr snapToGrid="0">
      <p:cViewPr varScale="1">
        <p:scale>
          <a:sx n="116" d="100"/>
          <a:sy n="116" d="100"/>
        </p:scale>
        <p:origin x="1500" y="108"/>
      </p:cViewPr>
      <p:guideLst>
        <p:guide pos="3120"/>
        <p:guide orient="horz" pos="2160"/>
        <p:guide pos="172"/>
        <p:guide pos="6068"/>
        <p:guide orient="horz" pos="640"/>
        <p:guide orient="horz" pos="3974"/>
        <p:guide pos="217"/>
        <p:guide orient="horz" pos="3884"/>
        <p:guide pos="12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-3312" y="-96"/>
      </p:cViewPr>
      <p:guideLst>
        <p:guide orient="horz" pos="3107"/>
        <p:guide pos="212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9413" cy="495300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F025AD99-35FA-440B-8F88-3A203730E305}" type="datetimeFigureOut">
              <a:rPr lang="ko-KR" altLang="en-US" smtClean="0"/>
              <a:pPr/>
              <a:t>2025-07-03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3613" y="1233488"/>
            <a:ext cx="48085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013"/>
            <a:ext cx="2919413" cy="495300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61E2742E-9E8E-4922-8A9E-A443D39573F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46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992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180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9941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5300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165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142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8771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4660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75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10170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9373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9629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11062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2764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2643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00571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4061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B393BF-53B9-49A0-89B6-8DD4DA27F17D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069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981" y="6032569"/>
            <a:ext cx="979998" cy="252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51831" y="6032569"/>
            <a:ext cx="979998" cy="30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1468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466" userDrawn="1">
          <p15:clr>
            <a:srgbClr val="FBAE40"/>
          </p15:clr>
        </p15:guide>
        <p15:guide id="3" pos="46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541867" y="558800"/>
            <a:ext cx="1574800" cy="11260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31" y="6032569"/>
            <a:ext cx="979998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5587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434">
          <p15:clr>
            <a:srgbClr val="FBAE40"/>
          </p15:clr>
        </p15:guide>
        <p15:guide id="2" pos="4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447" y="5648063"/>
            <a:ext cx="1210433" cy="311255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7033" y="5608917"/>
            <a:ext cx="1411224" cy="43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1003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스터_대내제안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cxnSp>
        <p:nvCxnSpPr>
          <p:cNvPr id="19" name="직선 연결선 18"/>
          <p:cNvCxnSpPr/>
          <p:nvPr userDrawn="1"/>
        </p:nvCxnSpPr>
        <p:spPr>
          <a:xfrm flipH="1">
            <a:off x="0" y="797741"/>
            <a:ext cx="99052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 flipH="1">
            <a:off x="794" y="6457950"/>
            <a:ext cx="9904414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700529" y="6530609"/>
            <a:ext cx="504946" cy="253916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sz="1050" b="1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 smtClean="0"/>
              <a:t>- </a:t>
            </a:r>
            <a:fld id="{FDEBD689-CD72-46D1-AE0B-2BB7D6B163A0}" type="slidenum">
              <a:rPr lang="ko-KR" altLang="en-US" smtClean="0"/>
              <a:pPr/>
              <a:t>‹#›</a:t>
            </a:fld>
            <a:r>
              <a:rPr lang="ko-KR" altLang="en-US" dirty="0" smtClean="0"/>
              <a:t> </a:t>
            </a:r>
            <a:r>
              <a:rPr lang="en-US" altLang="ko-KR" dirty="0" smtClean="0"/>
              <a:t>-</a:t>
            </a:r>
            <a:endParaRPr lang="ko-KR" altLang="en-US" dirty="0"/>
          </a:p>
        </p:txBody>
      </p:sp>
      <p:sp>
        <p:nvSpPr>
          <p:cNvPr id="25" name="제목 1"/>
          <p:cNvSpPr>
            <a:spLocks noGrp="1"/>
          </p:cNvSpPr>
          <p:nvPr>
            <p:ph type="title"/>
          </p:nvPr>
        </p:nvSpPr>
        <p:spPr>
          <a:xfrm>
            <a:off x="273050" y="193702"/>
            <a:ext cx="4036361" cy="443198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>
              <a:defRPr lang="ko-KR" altLang="en-US" sz="3200" b="1" spc="-3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algn="l">
              <a:lnSpc>
                <a:spcPct val="90000"/>
              </a:lnSpc>
            </a:pPr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26" name="그림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2952" y="6567567"/>
            <a:ext cx="699998" cy="1800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208789" y="6548517"/>
            <a:ext cx="705612" cy="21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319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2" pos="172">
          <p15:clr>
            <a:srgbClr val="FBAE40"/>
          </p15:clr>
        </p15:guide>
        <p15:guide id="4" pos="6068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orient="horz" pos="6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white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414"/>
            <a:ext cx="9906000" cy="612317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627" y="5172878"/>
            <a:ext cx="1357999" cy="349200"/>
          </a:xfrm>
          <a:prstGeom prst="rect">
            <a:avLst/>
          </a:prstGeom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97322" y="6509828"/>
            <a:ext cx="511358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ctr">
              <a:defRPr sz="1050" b="0" spc="-7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smtClean="0"/>
              <a:t>- </a:t>
            </a:r>
            <a:fld id="{FDEBD689-CD72-46D1-AE0B-2BB7D6B163A0}" type="slidenum">
              <a:rPr lang="ko-KR" altLang="en-US" smtClean="0"/>
              <a:pPr/>
              <a:t>‹#›</a:t>
            </a:fld>
            <a:r>
              <a:rPr lang="ko-KR" altLang="en-US" smtClean="0"/>
              <a:t> </a:t>
            </a:r>
            <a:r>
              <a:rPr lang="en-US" altLang="ko-KR" smtClean="0"/>
              <a:t>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09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01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04" r:id="rId3"/>
    <p:sldLayoutId id="2147483711" r:id="rId4"/>
    <p:sldLayoutId id="2147483710" r:id="rId5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\\rpa-filesvr\RPA.&#44221;&#50689;&#51648;&#50896;&#54016;\034_&#51204;&#44592;&#47308;%20&#51088;&#46041;&#51060;&#52404;\&#44277;&#46041;&#51064;&#51613;&#49436;\&#47215;&#45936;&#54616;&#51060;&#47560;&#53944;_2025.pf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file:///\\rpa-filesvr\RPA.&#44221;&#50689;&#51648;&#50896;&#54016;\034_&#51204;&#44592;&#47308;%20&#51088;&#46041;&#51060;&#52404;\&#44208;&#44284;\202506\30\&#54620;&#51204;ON&#52897;&#52432;_0630.p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569366" y="2240948"/>
            <a:ext cx="7429575" cy="1069141"/>
            <a:chOff x="569367" y="2240948"/>
            <a:chExt cx="5889098" cy="1069141"/>
          </a:xfrm>
        </p:grpSpPr>
        <p:sp>
          <p:nvSpPr>
            <p:cNvPr id="7" name="TextBox 6"/>
            <p:cNvSpPr txBox="1"/>
            <p:nvPr/>
          </p:nvSpPr>
          <p:spPr>
            <a:xfrm>
              <a:off x="569367" y="2240948"/>
              <a:ext cx="58890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4000" b="1" spc="-150" dirty="0" err="1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맑은 고딕" panose="020B0503020000020004" pitchFamily="50" charset="-127"/>
                </a:rPr>
                <a:t>롯데하이마트</a:t>
              </a:r>
              <a:r>
                <a:rPr lang="ko-KR" altLang="en-US" sz="4000" b="1" spc="-15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4000" b="1" spc="-15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RPA </a:t>
              </a:r>
              <a:r>
                <a:rPr lang="ko-KR" altLang="en-US" sz="4000" b="1" spc="-15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464042"/>
                  </a:solidFill>
                  <a:latin typeface="맑은 고딕" panose="020B0503020000020004" pitchFamily="50" charset="-127"/>
                </a:rPr>
                <a:t>프로세스</a:t>
              </a:r>
              <a:endParaRPr lang="ko-KR" altLang="en-US" sz="40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64042"/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24785" y="2940757"/>
              <a:ext cx="28604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pc="-150" dirty="0" smtClean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지방세 납부 자동화 프로세스 정의서</a:t>
              </a:r>
              <a:endParaRPr lang="ko-KR" altLang="en-US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624785" y="4583660"/>
            <a:ext cx="83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sz="1400" b="1" spc="-8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 smtClean="0"/>
              <a:t>2025. 07</a:t>
            </a:r>
          </a:p>
        </p:txBody>
      </p:sp>
      <p:graphicFrame>
        <p:nvGraphicFramePr>
          <p:cNvPr id="9" name="Group 70">
            <a:extLst>
              <a:ext uri="{FF2B5EF4-FFF2-40B4-BE49-F238E27FC236}">
                <a16:creationId xmlns="" xmlns:a16="http://schemas.microsoft.com/office/drawing/2014/main" id="{7F2930FB-2724-4DA1-926B-475EA459F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590049"/>
              </p:ext>
            </p:extLst>
          </p:nvPr>
        </p:nvGraphicFramePr>
        <p:xfrm>
          <a:off x="2930932" y="3748396"/>
          <a:ext cx="3328552" cy="1243942"/>
        </p:xfrm>
        <a:graphic>
          <a:graphicData uri="http://schemas.openxmlformats.org/drawingml/2006/table">
            <a:tbl>
              <a:tblPr>
                <a:effectLst>
                  <a:outerShdw blurRad="25400" dist="25400" dir="5400000" algn="tl" rotWithShape="0">
                    <a:srgbClr val="0D0D0D">
                      <a:alpha val="20000"/>
                    </a:srgbClr>
                  </a:outerShdw>
                </a:effectLst>
              </a:tblPr>
              <a:tblGrid>
                <a:gridCol w="7421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5864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376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소속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롯데정보통신</a:t>
                      </a:r>
                      <a:endParaRPr kumimoji="1" lang="en-US" altLang="ko-KR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5973352"/>
                  </a:ext>
                </a:extLst>
              </a:tr>
              <a:tr h="3907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배태영 사원</a:t>
                      </a:r>
                      <a:r>
                        <a:rPr kumimoji="1" lang="en-US" altLang="ko-KR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김충현 사원</a:t>
                      </a:r>
                      <a:endParaRPr kumimoji="1" lang="ko-KR" altLang="en-US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5512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rgbClr val="464042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굴림" pitchFamily="50" charset="-127"/>
                        </a:rPr>
                        <a:t>과제</a:t>
                      </a:r>
                      <a:endParaRPr kumimoji="1" lang="ko-KR" altLang="en-US" sz="900" b="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rgbClr val="464042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전기세 납부 자동화</a:t>
                      </a:r>
                      <a:r>
                        <a:rPr kumimoji="1" lang="en-US" altLang="ko-KR" sz="9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– </a:t>
                      </a:r>
                      <a:r>
                        <a:rPr kumimoji="1" lang="ko-KR" altLang="en-US" sz="900" b="0" i="0" u="none" strike="noStrike" kern="1200" cap="none" spc="0" normalizeH="0" baseline="0" dirty="0" err="1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휴면명조"/>
                        </a:rPr>
                        <a:t>경영지원팀</a:t>
                      </a:r>
                      <a:endParaRPr kumimoji="1" lang="ko-KR" altLang="en-US" sz="9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801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193702"/>
            <a:ext cx="1593385" cy="492443"/>
          </a:xfrm>
        </p:spPr>
        <p:txBody>
          <a:bodyPr/>
          <a:lstStyle/>
          <a:p>
            <a:pPr algn="l"/>
            <a:r>
              <a:rPr lang="ko-KR" altLang="en-US" dirty="0"/>
              <a:t>문서 이력</a:t>
            </a:r>
          </a:p>
        </p:txBody>
      </p:sp>
      <p:graphicFrame>
        <p:nvGraphicFramePr>
          <p:cNvPr id="3" name="Group 70">
            <a:extLst>
              <a:ext uri="{FF2B5EF4-FFF2-40B4-BE49-F238E27FC236}">
                <a16:creationId xmlns="" xmlns:a16="http://schemas.microsoft.com/office/drawing/2014/main" id="{7F2930FB-2724-4DA1-926B-475EA459F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010306"/>
              </p:ext>
            </p:extLst>
          </p:nvPr>
        </p:nvGraphicFramePr>
        <p:xfrm>
          <a:off x="273049" y="1236727"/>
          <a:ext cx="9359901" cy="3475320"/>
        </p:xfrm>
        <a:graphic>
          <a:graphicData uri="http://schemas.openxmlformats.org/drawingml/2006/table">
            <a:tbl>
              <a:tblPr>
                <a:effectLst>
                  <a:outerShdw blurRad="25400" dist="25400" dir="5400000" algn="tl" rotWithShape="0">
                    <a:srgbClr val="0D0D0D">
                      <a:alpha val="20000"/>
                    </a:srgbClr>
                  </a:outerShdw>
                </a:effectLst>
              </a:tblPr>
              <a:tblGrid>
                <a:gridCol w="59716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0206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6382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31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4217773">
                  <a:extLst>
                    <a:ext uri="{9D8B030D-6E8A-4147-A177-3AD203B41FA5}">
                      <a16:colId xmlns="" xmlns:a16="http://schemas.microsoft.com/office/drawing/2014/main" val="873605889"/>
                    </a:ext>
                  </a:extLst>
                </a:gridCol>
                <a:gridCol w="107091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97498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34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순번</a:t>
                      </a: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버전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작성일자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구분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내역</a:t>
                      </a:r>
                      <a:endParaRPr kumimoji="1" lang="ko-KR" altLang="en-US" sz="1100" b="1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+mn-cs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검토자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+mn-cs"/>
                        </a:rPr>
                        <a:t>비고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3F5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5973352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1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V1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2025.07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신규</a:t>
                      </a: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1100" b="0" i="0" u="none" strike="noStrike" kern="1200" cap="none" spc="0" normalizeH="0" baseline="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휴면명조"/>
                        </a:rPr>
                        <a:t>  최초 작성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1100" b="0" i="0" u="none" strike="noStrike" kern="1200" cap="none" spc="0" normalizeH="0" baseline="0" dirty="0" smtClean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/>
                          <a:cs typeface="휴면명조"/>
                        </a:rPr>
                        <a:t>배태영</a:t>
                      </a:r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2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 smtClean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3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4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5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6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4415"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kern="1200" dirty="0">
                          <a:ln>
                            <a:solidFill>
                              <a:schemeClr val="tx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바른고딕" panose="020B0603020101020101" pitchFamily="50" charset="-127"/>
                          <a:ea typeface="나눔바른고딕" panose="020B0603020101020101"/>
                          <a:cs typeface="굴림" pitchFamily="50" charset="-127"/>
                        </a:rPr>
                        <a:t>7</a:t>
                      </a: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569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>
                          <a:srgbClr val="5F5F5F"/>
                        </a:buClr>
                        <a:buSzPct val="80000"/>
                        <a:buFontTx/>
                        <a:buNone/>
                        <a:tabLst/>
                        <a:defRPr/>
                      </a:pPr>
                      <a:endParaRPr kumimoji="1" lang="ko-KR" altLang="en-US" sz="1100" kern="120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바른고딕" panose="020B0603020101020101" pitchFamily="50" charset="-127"/>
                        <a:ea typeface="나눔바른고딕" panose="020B0603020101020101"/>
                        <a:cs typeface="굴림" pitchFamily="50" charset="-127"/>
                      </a:endParaRPr>
                    </a:p>
                  </a:txBody>
                  <a:tcPr marL="86400" marR="86400" marT="43200" marB="43200" anchor="ctr" horzOverflow="overflow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kumimoji="1" lang="ko-KR" altLang="en-US" sz="1100" b="0" i="0" u="none" strike="noStrike" kern="1200" cap="none" spc="0" normalizeH="0" baseline="0" dirty="0">
                        <a:ln>
                          <a:solidFill>
                            <a:schemeClr val="tx1">
                              <a:alpha val="0"/>
                            </a:scheme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바른고딕" panose="020B0603020101020101" pitchFamily="50" charset="-127"/>
                        <a:ea typeface="나눔바른고딕" panose="020B0603020101020101"/>
                        <a:cs typeface="휴면명조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431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209108" y="6530609"/>
            <a:ext cx="412953" cy="253916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="" xmlns:a16="http://schemas.microsoft.com/office/drawing/2014/main" id="{B1FCF4C0-CF78-0B48-8FAE-53D40F0D4A33}"/>
              </a:ext>
            </a:extLst>
          </p:cNvPr>
          <p:cNvSpPr txBox="1"/>
          <p:nvPr/>
        </p:nvSpPr>
        <p:spPr>
          <a:xfrm>
            <a:off x="1297461" y="393356"/>
            <a:ext cx="2575643" cy="273764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3890D8AC-7E6A-2B45-8C83-615E94355EF4}"/>
              </a:ext>
            </a:extLst>
          </p:cNvPr>
          <p:cNvSpPr/>
          <p:nvPr/>
        </p:nvSpPr>
        <p:spPr>
          <a:xfrm>
            <a:off x="480969" y="1841026"/>
            <a:ext cx="8925494" cy="4303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="" xmlns:a16="http://schemas.microsoft.com/office/drawing/2014/main" id="{5E4CEAEF-37A1-904A-8653-F54C6694E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415623"/>
              </p:ext>
            </p:extLst>
          </p:nvPr>
        </p:nvGraphicFramePr>
        <p:xfrm>
          <a:off x="480970" y="1016409"/>
          <a:ext cx="8925494" cy="45295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593363">
                  <a:extLst>
                    <a:ext uri="{9D8B030D-6E8A-4147-A177-3AD203B41FA5}">
                      <a16:colId xmlns="" xmlns:a16="http://schemas.microsoft.com/office/drawing/2014/main" val="3188960228"/>
                    </a:ext>
                  </a:extLst>
                </a:gridCol>
                <a:gridCol w="7332131">
                  <a:extLst>
                    <a:ext uri="{9D8B030D-6E8A-4147-A177-3AD203B41FA5}">
                      <a16:colId xmlns="" xmlns:a16="http://schemas.microsoft.com/office/drawing/2014/main" val="1382077078"/>
                    </a:ext>
                  </a:extLst>
                </a:gridCol>
              </a:tblGrid>
              <a:tr h="4529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bg1"/>
                          </a:solidFill>
                        </a:rPr>
                        <a:t>연관시스템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285C3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Excel, HISIS, HICOSS,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</a:rPr>
                        <a:t> SAP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97724368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DC28BDFE-F857-E248-950F-135627925FE2}"/>
              </a:ext>
            </a:extLst>
          </p:cNvPr>
          <p:cNvSpPr/>
          <p:nvPr/>
        </p:nvSpPr>
        <p:spPr>
          <a:xfrm>
            <a:off x="480969" y="1605028"/>
            <a:ext cx="1423237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RPA</a:t>
            </a:r>
            <a:r>
              <a:rPr kumimoji="1" lang="ko-KR" altLang="en-US" sz="1400" dirty="0"/>
              <a:t> 적용</a:t>
            </a:r>
          </a:p>
        </p:txBody>
      </p:sp>
      <p:grpSp>
        <p:nvGrpSpPr>
          <p:cNvPr id="56" name="그룹 55">
            <a:extLst>
              <a:ext uri="{FF2B5EF4-FFF2-40B4-BE49-F238E27FC236}">
                <a16:creationId xmlns="" xmlns:a16="http://schemas.microsoft.com/office/drawing/2014/main" id="{7ABCE4CC-A93A-CF4B-9633-25BD43C98053}"/>
              </a:ext>
            </a:extLst>
          </p:cNvPr>
          <p:cNvGrpSpPr/>
          <p:nvPr/>
        </p:nvGrpSpPr>
        <p:grpSpPr>
          <a:xfrm>
            <a:off x="1735641" y="3230853"/>
            <a:ext cx="797995" cy="1438066"/>
            <a:chOff x="1966715" y="3501665"/>
            <a:chExt cx="936663" cy="1164532"/>
          </a:xfrm>
        </p:grpSpPr>
        <p:sp>
          <p:nvSpPr>
            <p:cNvPr id="57" name="직사각형 56">
              <a:extLst>
                <a:ext uri="{FF2B5EF4-FFF2-40B4-BE49-F238E27FC236}">
                  <a16:creationId xmlns="" xmlns:a16="http://schemas.microsoft.com/office/drawing/2014/main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수행여부 판단</a:t>
              </a:r>
              <a:endParaRPr lang="en-US" altLang="ko-KR" sz="900" b="1" dirty="0" smtClean="0">
                <a:latin typeface="맑은 고딕" pitchFamily="50" charset="-127"/>
                <a:ea typeface="맑은 고딕" pitchFamily="50" charset="-127"/>
              </a:endParaRPr>
            </a:p>
            <a:p>
              <a:pPr algn="ctr" eaLnBrk="0" hangingPunct="0"/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매달</a:t>
              </a: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5,10,13,15,20,26,31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일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="" xmlns:a16="http://schemas.microsoft.com/office/drawing/2014/main" id="{31D177CC-C5F1-4E44-AB73-BEC2DBF9330C}"/>
                </a:ext>
              </a:extLst>
            </p:cNvPr>
            <p:cNvSpPr/>
            <p:nvPr/>
          </p:nvSpPr>
          <p:spPr bwMode="auto">
            <a:xfrm>
              <a:off x="1966715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Excel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="" xmlns:a16="http://schemas.microsoft.com/office/drawing/2014/main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</a:t>
              </a:r>
              <a:r>
                <a:rPr lang="en-US" altLang="ko-KR" sz="1000" b="1" dirty="0" smtClean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60" name="직선 화살표 연결선 59">
            <a:extLst>
              <a:ext uri="{FF2B5EF4-FFF2-40B4-BE49-F238E27FC236}">
                <a16:creationId xmlns="" xmlns:a16="http://schemas.microsoft.com/office/drawing/2014/main" id="{5FF314B9-CBE0-0F4F-9E3D-23A7B3E3A32F}"/>
              </a:ext>
            </a:extLst>
          </p:cNvPr>
          <p:cNvCxnSpPr>
            <a:stCxn id="57" idx="3"/>
            <a:endCxn id="50" idx="1"/>
          </p:cNvCxnSpPr>
          <p:nvPr/>
        </p:nvCxnSpPr>
        <p:spPr>
          <a:xfrm>
            <a:off x="2533636" y="3970191"/>
            <a:ext cx="334138" cy="0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>
            <a:extLst>
              <a:ext uri="{FF2B5EF4-FFF2-40B4-BE49-F238E27FC236}">
                <a16:creationId xmlns="" xmlns:a16="http://schemas.microsoft.com/office/drawing/2014/main" id="{7ABCE4CC-A93A-CF4B-9633-25BD43C98053}"/>
              </a:ext>
            </a:extLst>
          </p:cNvPr>
          <p:cNvGrpSpPr/>
          <p:nvPr/>
        </p:nvGrpSpPr>
        <p:grpSpPr>
          <a:xfrm>
            <a:off x="2867298" y="3230853"/>
            <a:ext cx="797995" cy="1438066"/>
            <a:chOff x="1966715" y="3501665"/>
            <a:chExt cx="936663" cy="1164532"/>
          </a:xfrm>
        </p:grpSpPr>
        <p:sp>
          <p:nvSpPr>
            <p:cNvPr id="50" name="직사각형 49">
              <a:extLst>
                <a:ext uri="{FF2B5EF4-FFF2-40B4-BE49-F238E27FC236}">
                  <a16:creationId xmlns="" xmlns:a16="http://schemas.microsoft.com/office/drawing/2014/main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900" b="1" dirty="0" smtClean="0">
                  <a:latin typeface="맑은 고딕" pitchFamily="50" charset="-127"/>
                </a:rPr>
                <a:t>한전</a:t>
              </a:r>
              <a:r>
                <a:rPr lang="en-US" altLang="ko-KR" sz="900" b="1" dirty="0" smtClean="0">
                  <a:latin typeface="맑은 고딕" pitchFamily="50" charset="-127"/>
                </a:rPr>
                <a:t>ON </a:t>
              </a:r>
              <a:r>
                <a:rPr lang="ko-KR" altLang="en-US" sz="900" b="1" dirty="0" smtClean="0">
                  <a:latin typeface="맑은 고딕" pitchFamily="50" charset="-127"/>
                </a:rPr>
                <a:t>페이지 접속 수 </a:t>
              </a:r>
              <a:r>
                <a:rPr lang="en-US" altLang="ko-KR" sz="900" b="1" dirty="0" smtClean="0">
                  <a:latin typeface="맑은 고딕" pitchFamily="50" charset="-127"/>
                </a:rPr>
                <a:t>Excel </a:t>
              </a:r>
              <a:r>
                <a:rPr lang="ko-KR" altLang="en-US" sz="900" b="1" dirty="0" smtClean="0">
                  <a:latin typeface="맑은 고딕" pitchFamily="50" charset="-127"/>
                </a:rPr>
                <a:t>다운로드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="" xmlns:a16="http://schemas.microsoft.com/office/drawing/2014/main" id="{31D177CC-C5F1-4E44-AB73-BEC2DBF9330C}"/>
                </a:ext>
              </a:extLst>
            </p:cNvPr>
            <p:cNvSpPr/>
            <p:nvPr/>
          </p:nvSpPr>
          <p:spPr bwMode="auto">
            <a:xfrm>
              <a:off x="1966715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>
                  <a:latin typeface="맑은 고딕" pitchFamily="50" charset="-127"/>
                </a:rPr>
                <a:t>Chrome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="" xmlns:a16="http://schemas.microsoft.com/office/drawing/2014/main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2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="" xmlns:a16="http://schemas.microsoft.com/office/drawing/2014/main" id="{7ABCE4CC-A93A-CF4B-9633-25BD43C98053}"/>
              </a:ext>
            </a:extLst>
          </p:cNvPr>
          <p:cNvGrpSpPr/>
          <p:nvPr/>
        </p:nvGrpSpPr>
        <p:grpSpPr>
          <a:xfrm>
            <a:off x="3974240" y="3230853"/>
            <a:ext cx="797995" cy="1438066"/>
            <a:chOff x="1966715" y="3501665"/>
            <a:chExt cx="936663" cy="1164532"/>
          </a:xfrm>
        </p:grpSpPr>
        <p:sp>
          <p:nvSpPr>
            <p:cNvPr id="67" name="직사각형 66">
              <a:extLst>
                <a:ext uri="{FF2B5EF4-FFF2-40B4-BE49-F238E27FC236}">
                  <a16:creationId xmlns="" xmlns:a16="http://schemas.microsoft.com/office/drawing/2014/main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SAP </a:t>
              </a:r>
              <a:r>
                <a:rPr lang="ko-KR" altLang="en-US" sz="900" b="1" dirty="0" smtClean="0">
                  <a:latin typeface="맑은 고딕" pitchFamily="50" charset="-127"/>
                  <a:ea typeface="맑은 고딕" pitchFamily="50" charset="-127"/>
                </a:rPr>
                <a:t>업로드용 파일 및 결과파일 작성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="" xmlns:a16="http://schemas.microsoft.com/office/drawing/2014/main" id="{31D177CC-C5F1-4E44-AB73-BEC2DBF9330C}"/>
                </a:ext>
              </a:extLst>
            </p:cNvPr>
            <p:cNvSpPr/>
            <p:nvPr/>
          </p:nvSpPr>
          <p:spPr bwMode="auto">
            <a:xfrm>
              <a:off x="1966715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b="1" dirty="0" smtClean="0">
                  <a:latin typeface="맑은 고딕" pitchFamily="50" charset="-127"/>
                  <a:ea typeface="맑은 고딕" pitchFamily="50" charset="-127"/>
                </a:rPr>
                <a:t>Excel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="" xmlns:a16="http://schemas.microsoft.com/office/drawing/2014/main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3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74" name="그룹 73">
            <a:extLst>
              <a:ext uri="{FF2B5EF4-FFF2-40B4-BE49-F238E27FC236}">
                <a16:creationId xmlns="" xmlns:a16="http://schemas.microsoft.com/office/drawing/2014/main" id="{7ABCE4CC-A93A-CF4B-9633-25BD43C98053}"/>
              </a:ext>
            </a:extLst>
          </p:cNvPr>
          <p:cNvGrpSpPr/>
          <p:nvPr/>
        </p:nvGrpSpPr>
        <p:grpSpPr>
          <a:xfrm>
            <a:off x="5081182" y="3230853"/>
            <a:ext cx="797995" cy="1438066"/>
            <a:chOff x="1966715" y="3501665"/>
            <a:chExt cx="936663" cy="1164532"/>
          </a:xfrm>
        </p:grpSpPr>
        <p:sp>
          <p:nvSpPr>
            <p:cNvPr id="75" name="직사각형 74">
              <a:extLst>
                <a:ext uri="{FF2B5EF4-FFF2-40B4-BE49-F238E27FC236}">
                  <a16:creationId xmlns="" xmlns:a16="http://schemas.microsoft.com/office/drawing/2014/main" id="{43814D3E-3BE3-8B4C-AEE7-4C46ECC8D897}"/>
                </a:ext>
              </a:extLst>
            </p:cNvPr>
            <p:cNvSpPr/>
            <p:nvPr/>
          </p:nvSpPr>
          <p:spPr bwMode="auto">
            <a:xfrm>
              <a:off x="1967274" y="3775644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900" b="1" dirty="0" smtClean="0">
                  <a:latin typeface="맑은 고딕" pitchFamily="50" charset="-127"/>
                </a:rPr>
                <a:t>전표 생성 및 전표 등록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="" xmlns:a16="http://schemas.microsoft.com/office/drawing/2014/main" id="{31D177CC-C5F1-4E44-AB73-BEC2DBF9330C}"/>
                </a:ext>
              </a:extLst>
            </p:cNvPr>
            <p:cNvSpPr/>
            <p:nvPr/>
          </p:nvSpPr>
          <p:spPr bwMode="auto">
            <a:xfrm>
              <a:off x="1966715" y="3501665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 smtClean="0">
                  <a:latin typeface="맑은 고딕" pitchFamily="50" charset="-127"/>
                </a:rPr>
                <a:t>SAP</a:t>
              </a:r>
              <a:endParaRPr lang="ko-KR" altLang="en-US" sz="9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="" xmlns:a16="http://schemas.microsoft.com/office/drawing/2014/main" id="{03932EC8-5B2D-9B47-BE5E-3DAF81FAE9FB}"/>
                </a:ext>
              </a:extLst>
            </p:cNvPr>
            <p:cNvSpPr/>
            <p:nvPr/>
          </p:nvSpPr>
          <p:spPr bwMode="auto">
            <a:xfrm>
              <a:off x="1967274" y="4425105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Step 4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122" name="직선 화살표 연결선 121">
            <a:extLst>
              <a:ext uri="{FF2B5EF4-FFF2-40B4-BE49-F238E27FC236}">
                <a16:creationId xmlns="" xmlns:a16="http://schemas.microsoft.com/office/drawing/2014/main" id="{5FF314B9-CBE0-0F4F-9E3D-23A7B3E3A32F}"/>
              </a:ext>
            </a:extLst>
          </p:cNvPr>
          <p:cNvCxnSpPr>
            <a:stCxn id="50" idx="3"/>
            <a:endCxn id="67" idx="1"/>
          </p:cNvCxnSpPr>
          <p:nvPr/>
        </p:nvCxnSpPr>
        <p:spPr>
          <a:xfrm>
            <a:off x="3665293" y="3970191"/>
            <a:ext cx="309423" cy="0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="" xmlns:a16="http://schemas.microsoft.com/office/drawing/2014/main" id="{5FF314B9-CBE0-0F4F-9E3D-23A7B3E3A32F}"/>
              </a:ext>
            </a:extLst>
          </p:cNvPr>
          <p:cNvCxnSpPr>
            <a:stCxn id="67" idx="3"/>
            <a:endCxn id="75" idx="1"/>
          </p:cNvCxnSpPr>
          <p:nvPr/>
        </p:nvCxnSpPr>
        <p:spPr>
          <a:xfrm>
            <a:off x="4772235" y="3970191"/>
            <a:ext cx="309423" cy="0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="" xmlns:a16="http://schemas.microsoft.com/office/drawing/2014/main" id="{5FF314B9-CBE0-0F4F-9E3D-23A7B3E3A32F}"/>
              </a:ext>
            </a:extLst>
          </p:cNvPr>
          <p:cNvCxnSpPr>
            <a:stCxn id="75" idx="3"/>
          </p:cNvCxnSpPr>
          <p:nvPr/>
        </p:nvCxnSpPr>
        <p:spPr>
          <a:xfrm>
            <a:off x="5879177" y="3970191"/>
            <a:ext cx="309423" cy="6245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="" xmlns:a16="http://schemas.microsoft.com/office/drawing/2014/main" id="{CA444300-EA3C-6846-B519-9C6B4C274B25}"/>
              </a:ext>
            </a:extLst>
          </p:cNvPr>
          <p:cNvGrpSpPr/>
          <p:nvPr/>
        </p:nvGrpSpPr>
        <p:grpSpPr>
          <a:xfrm>
            <a:off x="6188124" y="3227576"/>
            <a:ext cx="797995" cy="1438065"/>
            <a:chOff x="7489398" y="3506649"/>
            <a:chExt cx="936663" cy="1164531"/>
          </a:xfrm>
        </p:grpSpPr>
        <p:sp>
          <p:nvSpPr>
            <p:cNvPr id="71" name="직사각형 70">
              <a:extLst>
                <a:ext uri="{FF2B5EF4-FFF2-40B4-BE49-F238E27FC236}">
                  <a16:creationId xmlns="" xmlns:a16="http://schemas.microsoft.com/office/drawing/2014/main" id="{FEDD0AB4-980A-074C-BC88-9BB1A360A952}"/>
                </a:ext>
              </a:extLst>
            </p:cNvPr>
            <p:cNvSpPr/>
            <p:nvPr/>
          </p:nvSpPr>
          <p:spPr bwMode="auto">
            <a:xfrm>
              <a:off x="7489957" y="3780628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800" b="1" dirty="0" smtClean="0">
                  <a:latin typeface="맑은 고딕" pitchFamily="50" charset="-127"/>
                  <a:ea typeface="맑은 고딕" pitchFamily="50" charset="-127"/>
                </a:rPr>
                <a:t>생성된 전표 결재</a:t>
              </a:r>
              <a:endParaRPr lang="ko-KR" altLang="en-US" sz="8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="" xmlns:a16="http://schemas.microsoft.com/office/drawing/2014/main" id="{F2A40EA8-D452-EF4F-B393-1C675B435BE1}"/>
                </a:ext>
              </a:extLst>
            </p:cNvPr>
            <p:cNvSpPr/>
            <p:nvPr/>
          </p:nvSpPr>
          <p:spPr bwMode="auto">
            <a:xfrm>
              <a:off x="7489398" y="3506649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 smtClean="0">
                  <a:latin typeface="맑은 고딕" pitchFamily="50" charset="-127"/>
                </a:rPr>
                <a:t>HICOSS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="" xmlns:a16="http://schemas.microsoft.com/office/drawing/2014/main" id="{D4C63A7D-04AE-004C-BC3C-C15C115CDFA1}"/>
                </a:ext>
              </a:extLst>
            </p:cNvPr>
            <p:cNvSpPr/>
            <p:nvPr/>
          </p:nvSpPr>
          <p:spPr bwMode="auto">
            <a:xfrm>
              <a:off x="7489957" y="4430088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</a:rPr>
                <a:t>Step</a:t>
              </a: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5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7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과제 실행 단계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="" xmlns:a16="http://schemas.microsoft.com/office/drawing/2014/main" id="{5FF314B9-CBE0-0F4F-9E3D-23A7B3E3A32F}"/>
              </a:ext>
            </a:extLst>
          </p:cNvPr>
          <p:cNvCxnSpPr/>
          <p:nvPr/>
        </p:nvCxnSpPr>
        <p:spPr>
          <a:xfrm>
            <a:off x="6979321" y="3963946"/>
            <a:ext cx="309423" cy="6245"/>
          </a:xfrm>
          <a:prstGeom prst="straightConnector1">
            <a:avLst/>
          </a:prstGeom>
          <a:ln>
            <a:solidFill>
              <a:srgbClr val="1737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="" xmlns:a16="http://schemas.microsoft.com/office/drawing/2014/main" id="{CA444300-EA3C-6846-B519-9C6B4C274B25}"/>
              </a:ext>
            </a:extLst>
          </p:cNvPr>
          <p:cNvGrpSpPr/>
          <p:nvPr/>
        </p:nvGrpSpPr>
        <p:grpSpPr>
          <a:xfrm>
            <a:off x="7288268" y="3221331"/>
            <a:ext cx="797995" cy="1438065"/>
            <a:chOff x="7489398" y="3506649"/>
            <a:chExt cx="936663" cy="1164531"/>
          </a:xfrm>
        </p:grpSpPr>
        <p:sp>
          <p:nvSpPr>
            <p:cNvPr id="38" name="직사각형 37">
              <a:extLst>
                <a:ext uri="{FF2B5EF4-FFF2-40B4-BE49-F238E27FC236}">
                  <a16:creationId xmlns="" xmlns:a16="http://schemas.microsoft.com/office/drawing/2014/main" id="{FEDD0AB4-980A-074C-BC88-9BB1A360A952}"/>
                </a:ext>
              </a:extLst>
            </p:cNvPr>
            <p:cNvSpPr/>
            <p:nvPr/>
          </p:nvSpPr>
          <p:spPr bwMode="auto">
            <a:xfrm>
              <a:off x="7489957" y="3780628"/>
              <a:ext cx="936104" cy="64945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/>
              <a:r>
                <a:rPr lang="ko-KR" altLang="en-US" sz="800" b="1" dirty="0" smtClean="0">
                  <a:latin typeface="맑은 고딕" pitchFamily="50" charset="-127"/>
                  <a:ea typeface="맑은 고딕" pitchFamily="50" charset="-127"/>
                </a:rPr>
                <a:t>결과 파일 </a:t>
              </a:r>
              <a:r>
                <a:rPr lang="ko-KR" altLang="en-US" sz="800" b="1" dirty="0" err="1" smtClean="0">
                  <a:latin typeface="맑은 고딕" pitchFamily="50" charset="-127"/>
                  <a:ea typeface="맑은 고딕" pitchFamily="50" charset="-127"/>
                </a:rPr>
                <a:t>공유폴더</a:t>
              </a:r>
              <a:r>
                <a:rPr lang="ko-KR" altLang="en-US" sz="800" b="1" dirty="0" smtClean="0">
                  <a:latin typeface="맑은 고딕" pitchFamily="50" charset="-127"/>
                  <a:ea typeface="맑은 고딕" pitchFamily="50" charset="-127"/>
                </a:rPr>
                <a:t> 저장 및 담당자 이메일 회신</a:t>
              </a:r>
              <a:endParaRPr lang="ko-KR" altLang="en-US" sz="800" b="1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="" xmlns:a16="http://schemas.microsoft.com/office/drawing/2014/main" id="{F2A40EA8-D452-EF4F-B393-1C675B435BE1}"/>
                </a:ext>
              </a:extLst>
            </p:cNvPr>
            <p:cNvSpPr/>
            <p:nvPr/>
          </p:nvSpPr>
          <p:spPr bwMode="auto">
            <a:xfrm>
              <a:off x="7489398" y="3506649"/>
              <a:ext cx="936663" cy="28233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900" b="1" dirty="0" smtClean="0">
                  <a:latin typeface="맑은 고딕" pitchFamily="50" charset="-127"/>
                </a:rPr>
                <a:t>Outlook</a:t>
              </a:r>
              <a:endParaRPr lang="ko-KR" altLang="en-US" sz="900" b="1" dirty="0">
                <a:latin typeface="맑은 고딕" pitchFamily="50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="" xmlns:a16="http://schemas.microsoft.com/office/drawing/2014/main" id="{D4C63A7D-04AE-004C-BC3C-C15C115CDFA1}"/>
                </a:ext>
              </a:extLst>
            </p:cNvPr>
            <p:cNvSpPr/>
            <p:nvPr/>
          </p:nvSpPr>
          <p:spPr bwMode="auto">
            <a:xfrm>
              <a:off x="7489957" y="4430088"/>
              <a:ext cx="936104" cy="241092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solidFill>
                <a:srgbClr val="17375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0909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18191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27286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3638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45473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054574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563667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072762" algn="l" defTabSz="1018191" rtl="0" eaLnBrk="1" latinLnBrk="0" hangingPunct="1"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0" hangingPunct="0">
                <a:lnSpc>
                  <a:spcPct val="80000"/>
                </a:lnSpc>
              </a:pP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</a:rPr>
                <a:t>Step</a:t>
              </a:r>
              <a:r>
                <a:rPr lang="en-US" altLang="ko-KR" sz="1000" b="1" dirty="0">
                  <a:solidFill>
                    <a:schemeClr val="bg1"/>
                  </a:solidFill>
                  <a:latin typeface="맑은 고딕" pitchFamily="50" charset="-127"/>
                  <a:ea typeface="맑은 고딕" pitchFamily="50" charset="-127"/>
                </a:rPr>
                <a:t> 6</a:t>
              </a:r>
              <a:endParaRPr lang="ko-KR" altLang="en-US" sz="10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797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한전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ON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홈페이지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로그인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1-1.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한전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ON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홈페이지 접속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dirty="0" smtClean="0">
                <a:solidFill>
                  <a:srgbClr val="FF0000"/>
                </a:solidFill>
              </a:rPr>
              <a:t>1. https</a:t>
            </a:r>
            <a:r>
              <a:rPr kumimoji="1" lang="en-US" altLang="ko-KR" sz="1000" dirty="0">
                <a:solidFill>
                  <a:srgbClr val="FF0000"/>
                </a:solidFill>
              </a:rPr>
              <a:t>://online.kepco.co.kr/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40" y="2604862"/>
            <a:ext cx="4946052" cy="2668027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 bwMode="ltGray">
          <a:xfrm>
            <a:off x="5042893" y="299892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335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법인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/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단체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공동인증서 인증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사업자등록번호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공동인증서 인증하기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1-2.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한전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ON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홈페이지 로그인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dirty="0">
                <a:solidFill>
                  <a:srgbClr val="FF0000"/>
                </a:solidFill>
              </a:rPr>
              <a:t>1.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사업자등록번호 </a:t>
            </a:r>
            <a:r>
              <a:rPr kumimoji="1" lang="en-US" altLang="ko-KR" sz="1000" dirty="0">
                <a:solidFill>
                  <a:srgbClr val="FF0000"/>
                </a:solidFill>
              </a:rPr>
              <a:t>: 1048116860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68" y="2550924"/>
            <a:ext cx="5130321" cy="2775903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3245966" y="303344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4001077" y="3271927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2309080" y="393887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타원 18"/>
          <p:cNvSpPr/>
          <p:nvPr/>
        </p:nvSpPr>
        <p:spPr bwMode="ltGray">
          <a:xfrm>
            <a:off x="3245966" y="415814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4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05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하드디스크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인증서 찾기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PW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확인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1-3.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한전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ON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홈페이지 공인인증서 인증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공동인증서 경로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: </a:t>
            </a:r>
            <a:r>
              <a:rPr kumimoji="1" lang="en-US" altLang="ko-KR" sz="1000" dirty="0" smtClean="0">
                <a:solidFill>
                  <a:srgbClr val="FF0000"/>
                </a:solidFill>
                <a:hlinkClick r:id="rId3" action="ppaction://hlinkfile"/>
              </a:rPr>
              <a:t>\\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rpa-filesvr\RPA.</a:t>
            </a:r>
            <a:r>
              <a:rPr kumimoji="1" lang="ko-KR" altLang="en-US" sz="1000" dirty="0" err="1">
                <a:solidFill>
                  <a:srgbClr val="FF0000"/>
                </a:solidFill>
                <a:hlinkClick r:id="rId3" action="ppaction://hlinkfile"/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  <a:hlinkClick r:id="rId3" action="ppaction://hlinkfile"/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  <a:hlinkClick r:id="rId3" action="ppaction://hlinkfile"/>
              </a:rPr>
              <a:t>공동인증서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</a:t>
            </a:r>
            <a:r>
              <a:rPr kumimoji="1" lang="ko-KR" altLang="en-US" sz="1000" dirty="0" err="1">
                <a:solidFill>
                  <a:srgbClr val="FF0000"/>
                </a:solidFill>
                <a:hlinkClick r:id="rId3" action="ppaction://hlinkfile"/>
              </a:rPr>
              <a:t>롯데하이마트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_</a:t>
            </a:r>
            <a:r>
              <a:rPr kumimoji="1" lang="en-US" altLang="ko-KR" sz="1000" dirty="0" smtClean="0">
                <a:solidFill>
                  <a:srgbClr val="FF0000"/>
                </a:solidFill>
                <a:hlinkClick r:id="rId3" action="ppaction://hlinkfile"/>
              </a:rPr>
              <a:t>2025.pfx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공동인증서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PW : himart5130!!</a:t>
            </a: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638" y="2565676"/>
            <a:ext cx="5096656" cy="274639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672" y="2185481"/>
            <a:ext cx="3104221" cy="3415865"/>
          </a:xfrm>
          <a:prstGeom prst="rect">
            <a:avLst/>
          </a:prstGeom>
        </p:spPr>
      </p:pic>
      <p:sp>
        <p:nvSpPr>
          <p:cNvPr id="14" name="타원 13"/>
          <p:cNvSpPr/>
          <p:nvPr/>
        </p:nvSpPr>
        <p:spPr bwMode="ltGray">
          <a:xfrm>
            <a:off x="2252947" y="2910450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6" name="타원 15"/>
          <p:cNvSpPr/>
          <p:nvPr/>
        </p:nvSpPr>
        <p:spPr bwMode="ltGray">
          <a:xfrm>
            <a:off x="3382782" y="423039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822704" y="4901797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2468947" y="520407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4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579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상단 메뉴 마이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요금조회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통합청구조회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1-4.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한전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ON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통합조회 접속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67" y="1609567"/>
            <a:ext cx="5109397" cy="2749368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891579" y="1712449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813559" y="2521946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92" y="3331443"/>
            <a:ext cx="5189277" cy="2799657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 bwMode="ltGray">
          <a:xfrm>
            <a:off x="1921559" y="385661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8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페이지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캡쳐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후 저장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>
                <a:solidFill>
                  <a:schemeClr val="tx1"/>
                </a:solidFill>
              </a:rPr>
              <a:t>RPA_</a:t>
            </a:r>
            <a:r>
              <a:rPr kumimoji="1" lang="ko-KR" altLang="en-US" sz="1000" dirty="0">
                <a:solidFill>
                  <a:schemeClr val="tx1"/>
                </a:solidFill>
              </a:rPr>
              <a:t>날짜종합</a:t>
            </a:r>
            <a:r>
              <a:rPr kumimoji="1" lang="en-US" altLang="ko-KR" sz="1000" dirty="0">
                <a:solidFill>
                  <a:schemeClr val="tx1"/>
                </a:solidFill>
              </a:rPr>
              <a:t>.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xlsx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파일의 데이터와 웹 사이트의 고객번호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청구년월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납기일자가 모두 일치한 항목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Excel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다운로드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1-5. </a:t>
            </a:r>
            <a:r>
              <a:rPr lang="ko-KR" altLang="en-US" sz="2215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한전</a:t>
            </a:r>
            <a:r>
              <a:rPr lang="en-US" altLang="ko-KR" sz="2215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ON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통합조회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err="1" smtClean="0">
                <a:solidFill>
                  <a:srgbClr val="FF0000"/>
                </a:solidFill>
              </a:rPr>
              <a:t>캡쳐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 사진 경로 </a:t>
            </a:r>
            <a:r>
              <a:rPr kumimoji="1" lang="en-US" altLang="ko-KR" sz="1000" dirty="0">
                <a:solidFill>
                  <a:srgbClr val="FF0000"/>
                </a:solidFill>
              </a:rPr>
              <a:t>: 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\\rpa-filesvr\RPA.</a:t>
            </a:r>
            <a:r>
              <a:rPr kumimoji="1" lang="ko-KR" altLang="en-US" sz="1000" dirty="0" err="1">
                <a:solidFill>
                  <a:srgbClr val="FF0000"/>
                </a:solidFill>
                <a:hlinkClick r:id="rId3" action="ppaction://hlinkfile"/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  <a:hlinkClick r:id="rId3" action="ppaction://hlinkfile"/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  <a:hlinkClick r:id="rId3" action="ppaction://hlinkfile"/>
              </a:rPr>
              <a:t>결과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\202506\30\</a:t>
            </a:r>
            <a:r>
              <a:rPr kumimoji="1" lang="ko-KR" altLang="en-US" sz="1000" dirty="0">
                <a:solidFill>
                  <a:srgbClr val="FF0000"/>
                </a:solidFill>
                <a:hlinkClick r:id="rId3" action="ppaction://hlinkfile"/>
              </a:rPr>
              <a:t>한전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ON</a:t>
            </a:r>
            <a:r>
              <a:rPr kumimoji="1" lang="ko-KR" altLang="en-US" sz="1000" dirty="0" err="1">
                <a:solidFill>
                  <a:srgbClr val="FF0000"/>
                </a:solidFill>
                <a:hlinkClick r:id="rId3" action="ppaction://hlinkfile"/>
              </a:rPr>
              <a:t>캡쳐</a:t>
            </a:r>
            <a:r>
              <a:rPr kumimoji="1" lang="en-US" altLang="ko-KR" sz="1000" dirty="0">
                <a:solidFill>
                  <a:srgbClr val="FF0000"/>
                </a:solidFill>
                <a:hlinkClick r:id="rId3" action="ppaction://hlinkfile"/>
              </a:rPr>
              <a:t>_</a:t>
            </a:r>
            <a:r>
              <a:rPr kumimoji="1" lang="en-US" altLang="ko-KR" sz="1000" dirty="0" smtClean="0">
                <a:solidFill>
                  <a:srgbClr val="FF0000"/>
                </a:solidFill>
                <a:hlinkClick r:id="rId3" action="ppaction://hlinkfile"/>
              </a:rPr>
              <a:t>0630.png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Excel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다운로드 경로 </a:t>
            </a:r>
            <a:r>
              <a:rPr kumimoji="1" lang="en-US" altLang="ko-KR" sz="1000" dirty="0">
                <a:solidFill>
                  <a:srgbClr val="FF0000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</a:t>
            </a:r>
            <a:r>
              <a:rPr kumimoji="1" lang="en-US" altLang="ko-KR" sz="1000" dirty="0">
                <a:solidFill>
                  <a:srgbClr val="FF0000"/>
                </a:solidFill>
              </a:rPr>
              <a:t>\202506\30\06.30.xlsx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55" y="2509932"/>
            <a:ext cx="5267421" cy="2857886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264772" y="317549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5097475" y="345663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49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>
                <a:solidFill>
                  <a:schemeClr val="tx1"/>
                </a:solidFill>
              </a:rPr>
              <a:t>전기료 자동이체</a:t>
            </a:r>
            <a:r>
              <a:rPr kumimoji="1" lang="en-US" altLang="ko-KR" sz="1000" dirty="0">
                <a:solidFill>
                  <a:schemeClr val="tx1"/>
                </a:solidFill>
              </a:rPr>
              <a:t>_Raw(20250702).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xls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파일에 다운로드 받은 데이터 붙혀넣기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파일 이름 바꾸기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(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전기료 자동이체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_Raw(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yyyy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-MM-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dd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).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xlsx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2-1. Raw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파일 작성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Raw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파일 경로 </a:t>
            </a:r>
            <a:r>
              <a:rPr kumimoji="1" lang="en-US" altLang="ko-KR" sz="1000" dirty="0">
                <a:solidFill>
                  <a:srgbClr val="FF0000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_Raw(20250702).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xls</a:t>
            </a:r>
          </a:p>
          <a:p>
            <a:pPr marL="228600" indent="-228600">
              <a:buAutoNum type="arabicPeriod"/>
            </a:pP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FontTx/>
              <a:buAutoNum type="arabicPeriod"/>
            </a:pPr>
            <a:r>
              <a:rPr kumimoji="1" lang="en-US" altLang="ko-KR" sz="1000" dirty="0">
                <a:solidFill>
                  <a:srgbClr val="FF0000"/>
                </a:solidFill>
              </a:rPr>
              <a:t>Row</a:t>
            </a:r>
            <a:r>
              <a:rPr kumimoji="1" lang="ko-KR" altLang="en-US" sz="1000" dirty="0">
                <a:solidFill>
                  <a:srgbClr val="FF0000"/>
                </a:solidFill>
              </a:rPr>
              <a:t>를 쌓는 파일이므로 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재수행</a:t>
            </a:r>
            <a:r>
              <a:rPr kumimoji="1" lang="ko-KR" altLang="en-US" sz="1000" dirty="0">
                <a:solidFill>
                  <a:srgbClr val="FF0000"/>
                </a:solidFill>
              </a:rPr>
              <a:t> 시</a:t>
            </a:r>
            <a:r>
              <a:rPr kumimoji="1" lang="en-US" altLang="ko-KR" sz="1000" dirty="0">
                <a:solidFill>
                  <a:srgbClr val="FF0000"/>
                </a:solidFill>
              </a:rPr>
              <a:t>, </a:t>
            </a:r>
            <a:r>
              <a:rPr kumimoji="1" lang="ko-KR" altLang="en-US" sz="1000" dirty="0">
                <a:solidFill>
                  <a:srgbClr val="FF0000"/>
                </a:solidFill>
              </a:rPr>
              <a:t>파일이름의 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날짜값으로</a:t>
            </a:r>
            <a:r>
              <a:rPr kumimoji="1" lang="ko-KR" altLang="en-US" sz="1000" dirty="0">
                <a:solidFill>
                  <a:srgbClr val="FF0000"/>
                </a:solidFill>
              </a:rPr>
              <a:t> 중복 수행 방지함</a:t>
            </a: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437" y="2443107"/>
            <a:ext cx="5059058" cy="274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956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RAW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시트 활성화 후 한전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ON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에서 다운로드 받은 파일 데이터 붙혀넣기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총장 시트 활성화 후 한전고객번호 데이터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2-2. Excel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파일 작성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Excel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파일 경로 </a:t>
            </a:r>
            <a:r>
              <a:rPr kumimoji="1" lang="en-US" altLang="ko-KR" sz="1000" dirty="0">
                <a:solidFill>
                  <a:srgbClr val="FF0000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결과물확인</a:t>
            </a:r>
            <a:r>
              <a:rPr kumimoji="1" lang="en-US" altLang="ko-KR" sz="1000" dirty="0">
                <a:solidFill>
                  <a:srgbClr val="FF0000"/>
                </a:solidFill>
              </a:rPr>
              <a:t>_25</a:t>
            </a:r>
            <a:r>
              <a:rPr kumimoji="1" lang="ko-KR" altLang="en-US" sz="1000" dirty="0">
                <a:solidFill>
                  <a:srgbClr val="FF0000"/>
                </a:solidFill>
              </a:rPr>
              <a:t>일</a:t>
            </a:r>
            <a:r>
              <a:rPr kumimoji="1" lang="en-US" altLang="ko-KR" sz="1000" dirty="0">
                <a:solidFill>
                  <a:srgbClr val="FF0000"/>
                </a:solidFill>
              </a:rPr>
              <a:t>_(2)\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_Excel_20250625.xls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34" y="1644178"/>
            <a:ext cx="4818863" cy="4498471"/>
          </a:xfrm>
          <a:prstGeom prst="rect">
            <a:avLst/>
          </a:prstGeom>
        </p:spPr>
      </p:pic>
      <p:sp>
        <p:nvSpPr>
          <p:cNvPr id="18" name="타원 17"/>
          <p:cNvSpPr/>
          <p:nvPr/>
        </p:nvSpPr>
        <p:spPr bwMode="ltGray">
          <a:xfrm>
            <a:off x="1624536" y="565636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9" name="타원 18"/>
          <p:cNvSpPr/>
          <p:nvPr/>
        </p:nvSpPr>
        <p:spPr bwMode="ltGray">
          <a:xfrm>
            <a:off x="1336528" y="565636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0" name="타원 19"/>
          <p:cNvSpPr/>
          <p:nvPr/>
        </p:nvSpPr>
        <p:spPr bwMode="ltGray">
          <a:xfrm>
            <a:off x="1340895" y="2465958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895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A,I,D,E,M,S,U,W,N,Z,AA,AD,AE,AJ,AD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열 작성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2-3.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파일 작성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SAP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파일 경로 </a:t>
            </a:r>
            <a:r>
              <a:rPr kumimoji="1" lang="en-US" altLang="ko-KR" sz="1000" dirty="0">
                <a:solidFill>
                  <a:srgbClr val="FF0000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결과물확인</a:t>
            </a:r>
            <a:r>
              <a:rPr kumimoji="1" lang="en-US" altLang="ko-KR" sz="1000" dirty="0">
                <a:solidFill>
                  <a:srgbClr val="FF0000"/>
                </a:solidFill>
              </a:rPr>
              <a:t>_25</a:t>
            </a:r>
            <a:r>
              <a:rPr kumimoji="1" lang="ko-KR" altLang="en-US" sz="1000" dirty="0">
                <a:solidFill>
                  <a:srgbClr val="FF0000"/>
                </a:solidFill>
              </a:rPr>
              <a:t>일</a:t>
            </a:r>
            <a:r>
              <a:rPr kumimoji="1" lang="en-US" altLang="ko-KR" sz="1000" dirty="0">
                <a:solidFill>
                  <a:srgbClr val="FF0000"/>
                </a:solidFill>
              </a:rPr>
              <a:t>_(2)\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_SAP_20250625.xls</a:t>
            </a:r>
          </a:p>
          <a:p>
            <a:pPr marL="228600" indent="-228600">
              <a:buAutoNum type="arabicPeriod"/>
            </a:pPr>
            <a:endParaRPr kumimoji="1" lang="en-US" altLang="ko-KR" sz="10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전표통화금액 기준으로 데이터 입력</a:t>
            </a: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26" y="2622716"/>
            <a:ext cx="4926274" cy="266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2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파일 경로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오류 조회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데이터 업로드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3-1.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Z-Code : </a:t>
            </a:r>
            <a:r>
              <a:rPr kumimoji="1" lang="en-US" altLang="ko-KR" sz="1000" dirty="0">
                <a:solidFill>
                  <a:srgbClr val="FF0000"/>
                </a:solidFill>
              </a:rPr>
              <a:t>ZFIC0020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04" y="2454829"/>
            <a:ext cx="5046724" cy="2968093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947875" y="324063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649737" y="349337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2619101" y="3813269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971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임시전표생성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3-2.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0" y="3011916"/>
            <a:ext cx="5068011" cy="1762995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689669" y="3083235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39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전표번호 생성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3-3.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000" dirty="0" smtClean="0">
                <a:solidFill>
                  <a:srgbClr val="FF0000"/>
                </a:solidFill>
              </a:rPr>
              <a:t>1.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스크롤 다운해야 전표번호 데이터 읽을 수 있음</a:t>
            </a: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9" y="2414068"/>
            <a:ext cx="5259893" cy="2958690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004463" y="3348632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322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전기일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전표번호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전표 유형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3-4.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err="1" smtClean="0">
                <a:solidFill>
                  <a:srgbClr val="FF0000"/>
                </a:solidFill>
              </a:rPr>
              <a:t>전기일은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 날짜종합 파일에서 읽음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전표 유형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: AB</a:t>
            </a: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07" y="2541962"/>
            <a:ext cx="5038117" cy="2349761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2376063" y="3131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741480" y="3347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2160063" y="3455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22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전기일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전표번호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전표 유형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조회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3-4.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err="1" smtClean="0">
                <a:solidFill>
                  <a:srgbClr val="FF0000"/>
                </a:solidFill>
              </a:rPr>
              <a:t>전기일은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 날짜종합 파일에서 읽음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전표 유형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: AB</a:t>
            </a:r>
            <a:endParaRPr kumimoji="1" lang="en-US" altLang="ko-KR" sz="1000" dirty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07" y="2541962"/>
            <a:ext cx="5038117" cy="2349761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2376063" y="3131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741480" y="3347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8" name="타원 17"/>
          <p:cNvSpPr/>
          <p:nvPr/>
        </p:nvSpPr>
        <p:spPr bwMode="ltGray">
          <a:xfrm>
            <a:off x="2160063" y="3455274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91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그룹 전표 생성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결재상신 선택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3-4.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전표번호 클릭하고</a:t>
            </a:r>
            <a:r>
              <a:rPr kumimoji="1" lang="en-US" altLang="ko-KR" sz="1000" dirty="0">
                <a:solidFill>
                  <a:srgbClr val="FF0000"/>
                </a:solidFill>
              </a:rPr>
              <a:t>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그룹전표생성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, 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결재상신 </a:t>
            </a:r>
            <a:r>
              <a:rPr kumimoji="1" lang="ko-KR" altLang="en-US" sz="1000" dirty="0" err="1" smtClean="0">
                <a:solidFill>
                  <a:srgbClr val="FF0000"/>
                </a:solidFill>
              </a:rPr>
              <a:t>해야됨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228" y="2471011"/>
            <a:ext cx="5241475" cy="2935730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741480" y="2591281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1129354" y="2603766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318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18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HISIS ID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HISIS PW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3-4. SAP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전표 대량 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Upload 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rgbClr val="FF0000"/>
                </a:solidFill>
              </a:rPr>
              <a:t>SAP ID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와 </a:t>
            </a:r>
            <a:r>
              <a:rPr kumimoji="1" lang="ko-KR" altLang="en-US" sz="1000" dirty="0" err="1" smtClean="0">
                <a:solidFill>
                  <a:srgbClr val="FF0000"/>
                </a:solidFill>
              </a:rPr>
              <a:t>매핑되어있는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 </a:t>
            </a:r>
            <a:r>
              <a:rPr kumimoji="1" lang="en-US" altLang="ko-KR" sz="1000" dirty="0" smtClean="0">
                <a:solidFill>
                  <a:srgbClr val="FF0000"/>
                </a:solidFill>
              </a:rPr>
              <a:t>HISIS </a:t>
            </a:r>
            <a:r>
              <a:rPr kumimoji="1" lang="ko-KR" altLang="en-US" sz="1000" dirty="0" err="1" smtClean="0">
                <a:solidFill>
                  <a:srgbClr val="FF0000"/>
                </a:solidFill>
              </a:rPr>
              <a:t>사번</a:t>
            </a:r>
            <a:r>
              <a:rPr kumimoji="1" lang="ko-KR" altLang="en-US" sz="1000" dirty="0" smtClean="0">
                <a:solidFill>
                  <a:srgbClr val="FF0000"/>
                </a:solidFill>
              </a:rPr>
              <a:t> 입력해야 로그인 가능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591" y="2413205"/>
            <a:ext cx="4902750" cy="3051341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758575" y="3205878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758575" y="3441527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712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19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 smtClean="0"/>
              <a:t>1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결재선 지정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(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사번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조회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상신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39702" y="218719"/>
            <a:ext cx="6862459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15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4</a:t>
            </a:r>
            <a:r>
              <a:rPr lang="en-US" altLang="ko-KR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. HICOSS </a:t>
            </a:r>
            <a:r>
              <a:rPr lang="ko-KR" altLang="en-US" sz="2215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결재 상신</a:t>
            </a: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rgbClr val="FF0000"/>
                </a:solidFill>
              </a:rPr>
              <a:t>결재선 관리 파일 </a:t>
            </a:r>
            <a:r>
              <a:rPr kumimoji="1" lang="en-US" altLang="ko-KR" sz="1000" dirty="0">
                <a:solidFill>
                  <a:srgbClr val="FF0000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rgbClr val="FF0000"/>
                </a:solidFill>
              </a:rPr>
              <a:t>경영지원팀</a:t>
            </a:r>
            <a:r>
              <a:rPr kumimoji="1" lang="en-US" altLang="ko-KR" sz="1000" dirty="0">
                <a:solidFill>
                  <a:srgbClr val="FF0000"/>
                </a:solidFill>
              </a:rPr>
              <a:t>\034_</a:t>
            </a:r>
            <a:r>
              <a:rPr kumimoji="1" lang="ko-KR" altLang="en-US" sz="1000" dirty="0">
                <a:solidFill>
                  <a:srgbClr val="FF0000"/>
                </a:solidFill>
              </a:rPr>
              <a:t>전기료 자동이체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고정입력</a:t>
            </a:r>
            <a:r>
              <a:rPr kumimoji="1" lang="en-US" altLang="ko-KR" sz="1000" dirty="0">
                <a:solidFill>
                  <a:srgbClr val="FF0000"/>
                </a:solidFill>
              </a:rPr>
              <a:t>\</a:t>
            </a:r>
            <a:r>
              <a:rPr kumimoji="1" lang="ko-KR" altLang="en-US" sz="1000" dirty="0">
                <a:solidFill>
                  <a:srgbClr val="FF0000"/>
                </a:solidFill>
              </a:rPr>
              <a:t>전표결재선</a:t>
            </a:r>
            <a:r>
              <a:rPr kumimoji="1" lang="en-US" altLang="ko-KR" sz="1000" dirty="0">
                <a:solidFill>
                  <a:srgbClr val="FF0000"/>
                </a:solidFill>
              </a:rPr>
              <a:t>.</a:t>
            </a:r>
            <a:r>
              <a:rPr kumimoji="1" lang="en-US" altLang="ko-KR" sz="1000" dirty="0" err="1">
                <a:solidFill>
                  <a:srgbClr val="FF0000"/>
                </a:solidFill>
              </a:rPr>
              <a:t>xlsx</a:t>
            </a:r>
            <a:endParaRPr kumimoji="1" lang="en-US" altLang="ko-KR" sz="1000" dirty="0" smtClean="0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16" y="1610186"/>
            <a:ext cx="4321123" cy="4515280"/>
          </a:xfrm>
          <a:prstGeom prst="rect">
            <a:avLst/>
          </a:prstGeom>
        </p:spPr>
      </p:pic>
      <p:sp>
        <p:nvSpPr>
          <p:cNvPr id="16" name="타원 15"/>
          <p:cNvSpPr/>
          <p:nvPr/>
        </p:nvSpPr>
        <p:spPr bwMode="ltGray">
          <a:xfrm>
            <a:off x="1773319" y="1911071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1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17" name="타원 16"/>
          <p:cNvSpPr/>
          <p:nvPr/>
        </p:nvSpPr>
        <p:spPr bwMode="ltGray">
          <a:xfrm>
            <a:off x="2055875" y="1902659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3253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- </a:t>
            </a:r>
            <a:fld id="{FDEBD689-CD72-46D1-AE0B-2BB7D6B163A0}" type="slidenum">
              <a:rPr lang="ko-KR" altLang="en-US" smtClean="0"/>
              <a:pPr/>
              <a:t>20</a:t>
            </a:fld>
            <a:r>
              <a:rPr lang="ko-KR" altLang="en-US" dirty="0"/>
              <a:t> </a:t>
            </a:r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44AC0454-9C8B-1E47-AA21-AF5351E09507}"/>
              </a:ext>
            </a:extLst>
          </p:cNvPr>
          <p:cNvSpPr/>
          <p:nvPr/>
        </p:nvSpPr>
        <p:spPr>
          <a:xfrm>
            <a:off x="689670" y="1196071"/>
            <a:ext cx="5328592" cy="50415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FAD4E150-A564-4B4B-9F44-563EDAEE04FE}"/>
              </a:ext>
            </a:extLst>
          </p:cNvPr>
          <p:cNvSpPr/>
          <p:nvPr/>
        </p:nvSpPr>
        <p:spPr>
          <a:xfrm>
            <a:off x="689670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Step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6</a:t>
            </a:r>
            <a:endParaRPr kumimoji="1" lang="ko-KR" altLang="en-US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3D70BE9B-8DEB-5543-94A6-2ECA05E2D9BF}"/>
              </a:ext>
            </a:extLst>
          </p:cNvPr>
          <p:cNvSpPr/>
          <p:nvPr/>
        </p:nvSpPr>
        <p:spPr>
          <a:xfrm>
            <a:off x="6162278" y="1171576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en-US" altLang="ko-KR" sz="1000" dirty="0" smtClean="0">
                <a:solidFill>
                  <a:schemeClr val="tx1"/>
                </a:solidFill>
              </a:rPr>
              <a:t>‘RPA_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완료수신자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.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xlsx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’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열고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사번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,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메일주소 조회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받는 사람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: 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사번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입력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참조 입력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(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필요 시 추가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제목 입력 </a:t>
            </a:r>
            <a:r>
              <a:rPr kumimoji="1" lang="en-US" altLang="ko-KR" sz="1000" dirty="0">
                <a:solidFill>
                  <a:schemeClr val="tx1"/>
                </a:solidFill>
              </a:rPr>
              <a:t>: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[RPA] </a:t>
            </a:r>
            <a:r>
              <a:rPr kumimoji="1" lang="en-US" altLang="ko-KR" sz="1000" dirty="0">
                <a:solidFill>
                  <a:schemeClr val="tx1"/>
                </a:solidFill>
              </a:rPr>
              <a:t>2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차 작업 샘플 증빙 추출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r>
              <a:rPr kumimoji="1" lang="en-US" altLang="ko-KR" sz="1000" dirty="0" smtClean="0">
                <a:solidFill>
                  <a:schemeClr val="tx1"/>
                </a:solidFill>
              </a:rPr>
              <a:t>                    %</a:t>
            </a:r>
            <a:r>
              <a:rPr kumimoji="1" lang="en-US" altLang="ko-KR" sz="1000" dirty="0" err="1" smtClean="0">
                <a:solidFill>
                  <a:schemeClr val="tx1"/>
                </a:solidFill>
              </a:rPr>
              <a:t>FDTyyyyMMdd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%_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결과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endParaRPr kumimoji="1" lang="en-US" altLang="ko-KR" sz="1000" dirty="0" smtClean="0">
              <a:solidFill>
                <a:schemeClr val="tx1"/>
              </a:solidFill>
            </a:endParaRPr>
          </a:p>
          <a:p>
            <a:r>
              <a:rPr kumimoji="1" lang="en-US" altLang="ko-KR" sz="1000" dirty="0" smtClean="0">
                <a:solidFill>
                  <a:schemeClr val="tx1"/>
                </a:solidFill>
              </a:rPr>
              <a:t>5.  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내용 입력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: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작업 완료 여부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(</a:t>
            </a:r>
            <a:r>
              <a:rPr kumimoji="1" lang="ko-KR" altLang="en-US" sz="1000" dirty="0" err="1" smtClean="0">
                <a:solidFill>
                  <a:schemeClr val="tx1"/>
                </a:solidFill>
              </a:rPr>
              <a:t>실패시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 사유 기재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)</a:t>
            </a:r>
          </a:p>
          <a:p>
            <a:endParaRPr kumimoji="1" lang="en-US" altLang="ko-KR" sz="1000" dirty="0" smtClean="0">
              <a:solidFill>
                <a:schemeClr val="tx1"/>
              </a:solidFill>
            </a:endParaRPr>
          </a:p>
          <a:p>
            <a:r>
              <a:rPr kumimoji="1" lang="en-US" altLang="ko-KR" sz="1000" dirty="0" smtClean="0">
                <a:solidFill>
                  <a:schemeClr val="tx1"/>
                </a:solidFill>
              </a:rPr>
              <a:t>6.  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쪽지 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&amp;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메일 보내기</a:t>
            </a:r>
            <a:endParaRPr kumimoji="1" lang="en-US" altLang="ko-KR" sz="1000" dirty="0" smtClean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0A0EE56E-5672-354E-8A0B-93D94A744300}"/>
              </a:ext>
            </a:extLst>
          </p:cNvPr>
          <p:cNvSpPr/>
          <p:nvPr/>
        </p:nvSpPr>
        <p:spPr>
          <a:xfrm>
            <a:off x="6162278" y="1045155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수행 업무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="" xmlns:a16="http://schemas.microsoft.com/office/drawing/2014/main" id="{EE435E86-A4BF-4BB8-AD22-83631078E9AF}"/>
              </a:ext>
            </a:extLst>
          </p:cNvPr>
          <p:cNvSpPr/>
          <p:nvPr/>
        </p:nvSpPr>
        <p:spPr>
          <a:xfrm>
            <a:off x="6162278" y="3813269"/>
            <a:ext cx="3085603" cy="2393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r>
              <a:rPr kumimoji="1" lang="ko-KR" altLang="en-US" sz="1000" dirty="0" smtClean="0">
                <a:solidFill>
                  <a:schemeClr val="tx1"/>
                </a:solidFill>
              </a:rPr>
              <a:t>경로 </a:t>
            </a:r>
            <a:r>
              <a:rPr kumimoji="1" lang="en-US" altLang="ko-KR" sz="1000" dirty="0">
                <a:solidFill>
                  <a:schemeClr val="tx1"/>
                </a:solidFill>
              </a:rPr>
              <a:t>: \\rpa-filesvr\RPA.</a:t>
            </a:r>
            <a:r>
              <a:rPr kumimoji="1" lang="ko-KR" altLang="en-US" sz="1000" dirty="0" err="1">
                <a:solidFill>
                  <a:schemeClr val="tx1"/>
                </a:solidFill>
              </a:rPr>
              <a:t>내부회계팀</a:t>
            </a:r>
            <a:r>
              <a:rPr kumimoji="1" lang="en-US" altLang="ko-KR" sz="1000" dirty="0">
                <a:solidFill>
                  <a:schemeClr val="tx1"/>
                </a:solidFill>
              </a:rPr>
              <a:t>\</a:t>
            </a:r>
            <a:r>
              <a:rPr kumimoji="1" lang="ko-KR" altLang="en-US" sz="1000" dirty="0">
                <a:solidFill>
                  <a:schemeClr val="tx1"/>
                </a:solidFill>
              </a:rPr>
              <a:t>모집단 </a:t>
            </a:r>
            <a:endParaRPr kumimoji="1" lang="en-US" altLang="ko-KR" sz="1000" dirty="0" smtClean="0">
              <a:solidFill>
                <a:schemeClr val="tx1"/>
              </a:solidFill>
            </a:endParaRPr>
          </a:p>
          <a:p>
            <a:r>
              <a:rPr kumimoji="1" lang="en-US" altLang="ko-KR" sz="1000" dirty="0" smtClean="0">
                <a:solidFill>
                  <a:schemeClr val="tx1"/>
                </a:solidFill>
              </a:rPr>
              <a:t>             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증빙추출</a:t>
            </a:r>
            <a:r>
              <a:rPr kumimoji="1" lang="en-US" altLang="ko-KR" sz="1000" dirty="0">
                <a:solidFill>
                  <a:schemeClr val="tx1"/>
                </a:solidFill>
              </a:rPr>
              <a:t>\</a:t>
            </a:r>
            <a:r>
              <a:rPr kumimoji="1" lang="ko-KR" altLang="en-US" sz="1000" dirty="0">
                <a:solidFill>
                  <a:schemeClr val="tx1"/>
                </a:solidFill>
              </a:rPr>
              <a:t>고정입력</a:t>
            </a:r>
            <a:r>
              <a:rPr kumimoji="1" lang="en-US" altLang="ko-KR" sz="1000" dirty="0" smtClean="0">
                <a:solidFill>
                  <a:schemeClr val="tx1"/>
                </a:solidFill>
              </a:rPr>
              <a:t>RPA</a:t>
            </a:r>
            <a:r>
              <a:rPr kumimoji="1" lang="en-US" altLang="ko-KR" sz="1000" dirty="0">
                <a:solidFill>
                  <a:schemeClr val="tx1"/>
                </a:solidFill>
              </a:rPr>
              <a:t>_</a:t>
            </a:r>
            <a:r>
              <a:rPr kumimoji="1" lang="ko-KR" altLang="en-US" sz="1000" dirty="0" smtClean="0">
                <a:solidFill>
                  <a:schemeClr val="tx1"/>
                </a:solidFill>
              </a:rPr>
              <a:t>완료수신자</a:t>
            </a:r>
            <a:r>
              <a:rPr kumimoji="1" lang="en-US" altLang="ko-KR" sz="1000" dirty="0">
                <a:solidFill>
                  <a:schemeClr val="tx1"/>
                </a:solidFill>
              </a:rPr>
              <a:t>.</a:t>
            </a:r>
            <a:r>
              <a:rPr kumimoji="1" lang="en-US" altLang="ko-KR" sz="1000" dirty="0" err="1">
                <a:solidFill>
                  <a:schemeClr val="tx1"/>
                </a:solidFill>
              </a:rPr>
              <a:t>xlsx</a:t>
            </a:r>
            <a:endParaRPr kumimoji="1"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9864DDAF-832D-4E97-AD5C-0A1EC223DF9E}"/>
              </a:ext>
            </a:extLst>
          </p:cNvPr>
          <p:cNvSpPr/>
          <p:nvPr/>
        </p:nvSpPr>
        <p:spPr>
          <a:xfrm>
            <a:off x="6162278" y="3686848"/>
            <a:ext cx="1366205" cy="504056"/>
          </a:xfrm>
          <a:prstGeom prst="rect">
            <a:avLst/>
          </a:prstGeom>
          <a:solidFill>
            <a:srgbClr val="A285C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고려 사항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="" xmlns:a16="http://schemas.microsoft.com/office/drawing/2014/main" id="{4D127449-C26E-47A8-A46E-8FAFF42C7BEF}"/>
              </a:ext>
            </a:extLst>
          </p:cNvPr>
          <p:cNvSpPr txBox="1"/>
          <p:nvPr/>
        </p:nvSpPr>
        <p:spPr>
          <a:xfrm>
            <a:off x="1287677" y="342286"/>
            <a:ext cx="1916172" cy="421330"/>
          </a:xfrm>
          <a:prstGeom prst="rect">
            <a:avLst/>
          </a:prstGeom>
          <a:ln>
            <a:noFill/>
          </a:ln>
        </p:spPr>
        <p:txBody>
          <a:bodyPr vert="horz" wrap="none" lIns="0" tIns="0" rIns="0" bIns="0" rtlCol="0">
            <a:noAutofit/>
          </a:bodyPr>
          <a:lstStyle>
            <a:lvl1pPr marL="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Tx/>
              <a:buFontTx/>
              <a:buNone/>
              <a:defRPr sz="1400" b="1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26924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•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-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◦"/>
              <a:defRPr sz="141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07759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Font typeface="Georgia" panose="02040502050405020303" pitchFamily="18" charset="0"/>
              <a:buChar char="›"/>
              <a:defRPr sz="141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269240" marR="0" indent="-269240" algn="l" defTabSz="89852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Clr>
                <a:schemeClr val="tx1"/>
              </a:buClr>
              <a:buSzPct val="100000"/>
              <a:buFont typeface="+mj-lt"/>
              <a:buAutoNum type="arabi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6pPr>
            <a:lvl7pPr marL="53911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alpha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7pPr>
            <a:lvl8pPr marL="808355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SzPct val="100000"/>
              <a:buFont typeface="+mj-lt"/>
              <a:buAutoNum type="romanLcPeriod"/>
              <a:defRPr sz="1940" kern="1200" baseline="0">
                <a:solidFill>
                  <a:schemeClr val="tx1"/>
                </a:solidFill>
                <a:latin typeface="Georgia" panose="02040502050405020303" pitchFamily="18" charset="0"/>
                <a:ea typeface="+mn-ea"/>
                <a:cs typeface="+mn-cs"/>
              </a:defRPr>
            </a:lvl8pPr>
            <a:lvl9pPr marL="0" indent="-269240" algn="l" defTabSz="898525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885"/>
              </a:spcAft>
              <a:buFont typeface="Arial" panose="020B0604020202020204" pitchFamily="34" charset="0"/>
              <a:buNone/>
              <a:defRPr sz="1940" b="1" kern="1200" baseline="0">
                <a:solidFill>
                  <a:schemeClr val="tx2"/>
                </a:solidFill>
                <a:latin typeface="Georgia" panose="02040502050405020303" pitchFamily="18" charset="0"/>
                <a:ea typeface="+mn-ea"/>
                <a:cs typeface="+mn-cs"/>
              </a:defRPr>
            </a:lvl9pPr>
          </a:lstStyle>
          <a:p>
            <a:pPr indent="0" algn="dist">
              <a:buClr>
                <a:srgbClr val="000000"/>
              </a:buClr>
            </a:pPr>
            <a:r>
              <a:rPr lang="en-US" altLang="ko-KR" sz="2220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HI-TOC</a:t>
            </a:r>
            <a:r>
              <a:rPr lang="ko-KR" altLang="en-US" sz="2220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실행결과 쪽지 </a:t>
            </a:r>
            <a:r>
              <a:rPr lang="en-US" altLang="ko-KR" sz="2220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&amp; </a:t>
            </a:r>
            <a:r>
              <a:rPr lang="ko-KR" altLang="en-US" sz="2220" kern="0" dirty="0" smtClean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메일 </a:t>
            </a:r>
            <a:r>
              <a:rPr lang="ko-KR" altLang="en-US" sz="2220" kern="0" dirty="0">
                <a:solidFill>
                  <a:schemeClr val="tx2">
                    <a:lumMod val="75000"/>
                  </a:schemeClr>
                </a:solidFill>
                <a:latin typeface="맑은 고딕 (Headings)"/>
              </a:rPr>
              <a:t>전송</a:t>
            </a:r>
            <a:endParaRPr lang="en-US" altLang="ko-KR" sz="2220" kern="0" dirty="0">
              <a:solidFill>
                <a:schemeClr val="tx2">
                  <a:lumMod val="75000"/>
                </a:schemeClr>
              </a:solidFill>
              <a:latin typeface="맑은 고딕 (Headings)"/>
            </a:endParaRPr>
          </a:p>
          <a:p>
            <a:pPr indent="0" algn="dist">
              <a:buClr>
                <a:srgbClr val="000000"/>
              </a:buClr>
            </a:pPr>
            <a:endParaRPr lang="ko-KR" altLang="en-US" sz="1662" dirty="0">
              <a:solidFill>
                <a:schemeClr val="tx2">
                  <a:lumMod val="75000"/>
                </a:schemeClr>
              </a:solidFill>
              <a:latin typeface="맑은 고딕 (Headings)"/>
              <a:ea typeface="맑은 고딕" panose="020B0503020000020004" pitchFamily="50" charset="-127"/>
            </a:endParaRP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806" y="1572180"/>
            <a:ext cx="4033112" cy="4482177"/>
          </a:xfrm>
          <a:prstGeom prst="rect">
            <a:avLst/>
          </a:prstGeom>
        </p:spPr>
      </p:pic>
      <p:sp>
        <p:nvSpPr>
          <p:cNvPr id="24" name="타원 23"/>
          <p:cNvSpPr/>
          <p:nvPr/>
        </p:nvSpPr>
        <p:spPr bwMode="ltGray">
          <a:xfrm>
            <a:off x="4737002" y="5572616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6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5" name="타원 24"/>
          <p:cNvSpPr/>
          <p:nvPr/>
        </p:nvSpPr>
        <p:spPr bwMode="ltGray">
          <a:xfrm>
            <a:off x="2311959" y="1763438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2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6" name="타원 25"/>
          <p:cNvSpPr/>
          <p:nvPr/>
        </p:nvSpPr>
        <p:spPr bwMode="ltGray">
          <a:xfrm>
            <a:off x="2311959" y="2015501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3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7" name="타원 26"/>
          <p:cNvSpPr/>
          <p:nvPr/>
        </p:nvSpPr>
        <p:spPr bwMode="ltGray">
          <a:xfrm>
            <a:off x="2311959" y="2337959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4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  <p:sp>
        <p:nvSpPr>
          <p:cNvPr id="28" name="타원 27"/>
          <p:cNvSpPr/>
          <p:nvPr/>
        </p:nvSpPr>
        <p:spPr bwMode="ltGray">
          <a:xfrm>
            <a:off x="3625362" y="3500843"/>
            <a:ext cx="216000" cy="216000"/>
          </a:xfrm>
          <a:prstGeom prst="ellipse">
            <a:avLst/>
          </a:prstGeom>
          <a:solidFill>
            <a:srgbClr val="FF000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040" tIns="41020" rIns="82040" bIns="41020" rtlCol="0" anchor="ctr"/>
          <a:lstStyle/>
          <a:p>
            <a:pPr algn="ctr"/>
            <a:r>
              <a:rPr lang="en-US" altLang="ko-KR" sz="1400" b="1" dirty="0" smtClean="0">
                <a:solidFill>
                  <a:schemeClr val="bg1"/>
                </a:solidFill>
              </a:rPr>
              <a:t>5</a:t>
            </a:r>
            <a:endParaRPr lang="ko-KR" altLang="en-US" sz="14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37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9606</TotalTime>
  <Words>881</Words>
  <Application>Microsoft Office PowerPoint</Application>
  <PresentationFormat>A4 용지(210x297mm)</PresentationFormat>
  <Paragraphs>266</Paragraphs>
  <Slides>20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굴림</vt:lpstr>
      <vt:lpstr>나눔바른고딕</vt:lpstr>
      <vt:lpstr>맑은 고딕</vt:lpstr>
      <vt:lpstr>맑은 고딕 (Headings)</vt:lpstr>
      <vt:lpstr>휴면명조</vt:lpstr>
      <vt:lpstr>Arial</vt:lpstr>
      <vt:lpstr>Office 테마</vt:lpstr>
      <vt:lpstr>PowerPoint 프레젠테이션</vt:lpstr>
      <vt:lpstr>문서 이력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HIT</dc:creator>
  <cp:lastModifiedBy>RPA ADMIN</cp:lastModifiedBy>
  <cp:revision>794</cp:revision>
  <cp:lastPrinted>2017-12-14T01:41:59Z</cp:lastPrinted>
  <dcterms:created xsi:type="dcterms:W3CDTF">2016-12-21T08:08:03Z</dcterms:created>
  <dcterms:modified xsi:type="dcterms:W3CDTF">2025-07-03T01:05:09Z</dcterms:modified>
</cp:coreProperties>
</file>