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9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60" r:id="rId3"/>
    <p:sldId id="261" r:id="rId4"/>
    <p:sldId id="257" r:id="rId5"/>
    <p:sldId id="291" r:id="rId6"/>
    <p:sldId id="292" r:id="rId7"/>
    <p:sldId id="293" r:id="rId8"/>
    <p:sldId id="294" r:id="rId9"/>
    <p:sldId id="295" r:id="rId10"/>
    <p:sldId id="296" r:id="rId11"/>
    <p:sldId id="297" r:id="rId12"/>
    <p:sldId id="298" r:id="rId13"/>
    <p:sldId id="299" r:id="rId14"/>
    <p:sldId id="302" r:id="rId15"/>
    <p:sldId id="300" r:id="rId16"/>
    <p:sldId id="301" r:id="rId1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CF182FFD-09BE-439C-888C-57832E1D2A8A}">
          <p14:sldIdLst>
            <p14:sldId id="256"/>
            <p14:sldId id="260"/>
            <p14:sldId id="261"/>
            <p14:sldId id="257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  <p14:sldId id="302"/>
            <p14:sldId id="300"/>
            <p14:sldId id="30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7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03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ustomXml" Target="../customXml/item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F9CCD8-1719-4DF9-87FD-2F5122CA41DD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32AB1D-E158-45F5-956A-4FB433D01C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8201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32AB1D-E158-45F5-956A-4FB433D01CB9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37046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71FA15-5C08-F85F-EB67-7646B37399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7CA9EA6-77B6-3474-2420-CADF881054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9F84077-738E-2F5A-5748-8B8FEF591B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DA633E2-B675-C6AC-6904-70F18DB970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32AB1D-E158-45F5-956A-4FB433D01CB9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47630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6951BC-5F53-3C3F-505F-E82B289D28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412004C-6B7D-F73E-4CE2-C28F036115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0BA45EE-F9C0-6AB3-8EF0-5F1C790F8D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7957096-C80E-FC6C-71E9-0640C82A39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32AB1D-E158-45F5-956A-4FB433D01CB9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0449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32AB1D-E158-45F5-956A-4FB433D01CB9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61888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2AACA1-A064-6C19-6CEA-3DB274B65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BF47DB8-E301-D50C-BE58-5AE3DEB2DD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CFA095A-AA47-A022-AE34-1C6F481AF1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FC74229-7C9B-A3D1-AB06-6CEC1219A7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32AB1D-E158-45F5-956A-4FB433D01CB9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8821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A07D8C-8BE0-29AB-2F5F-1E083DCC7E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99D3324-6A6D-861E-20E3-464F28B304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56278DD-A976-EA04-D0BE-ADE1347F6F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2DDCEF9-5172-B13B-C32F-2E7C2B00AD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32AB1D-E158-45F5-956A-4FB433D01CB9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65585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D62B3F-590D-3003-5B44-796A3931A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24ED0B1-EF2E-3358-94F7-7573B9B3D4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DAD0F74-2882-046B-01FB-714421BFB0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5377F68-D9E8-0853-65F9-CBEC3349B9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32AB1D-E158-45F5-956A-4FB433D01CB9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79235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C00CDA-BC73-AA06-5A09-F58ED06EF7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11ED33A-5AA7-C65F-2549-DFBEAD5460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6A49910-D6B4-EF4F-F70C-1AFE41EE14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5EC2D84-BF2A-7660-2831-B8E411CBB1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32AB1D-E158-45F5-956A-4FB433D01CB9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98280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B87D8B-F133-2ECF-0E89-4F1D8EC3E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6F69F47-F64E-6586-16BA-D55CCDEF08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5CE4535-E972-85D8-A524-CA0DDF6D26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075F90B-ACEF-F719-D83E-F76F29B9DF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32AB1D-E158-45F5-956A-4FB433D01CB9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15334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AB53D7-C476-59D2-494B-FA14ECD33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2613FE9-6859-0881-3A48-0F8FB9B500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FBAE515-DDD4-2E47-5E3D-1A19AD6B8E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6C9CD87-5C7B-2713-8C59-7F35428EC3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32AB1D-E158-45F5-956A-4FB433D01CB9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55690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D307F6-7906-3F1A-FF2C-9F860FB7F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C71F564-9B7E-1BF3-D8F3-A73FB5DC21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947AF9F-4599-C332-7EBE-6D5D2B5156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00E328E-A327-4737-7E9B-C42F81B653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32AB1D-E158-45F5-956A-4FB433D01CB9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527890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84301C-6633-CA14-7A9B-3FC0DD481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805DBF7-AAA6-4A7A-83F4-886BDD59DF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D180CF2-1044-01CA-BA36-21E5F702FC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92BBA03-B790-3685-7436-98B34C75CB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32AB1D-E158-45F5-956A-4FB433D01CB9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359297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AB8170-3BE7-9DE6-8F1E-8EB9090E62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B18A423-A44C-D8FE-7CEE-B8995C3F0B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08FD84D-4DD2-D58A-8087-FB3C5EC868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89EDDF5-E34E-6F49-4555-C5CAAC20B5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32AB1D-E158-45F5-956A-4FB433D01CB9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878537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4E7155-0630-BC41-2CB5-359B7DD281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01E12A4-69A5-EF94-71BE-B3072763BA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84EAAE4-0EA1-1728-44B3-B38BC9D95F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A18DB9F-F306-9749-9A1C-D743B78624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32AB1D-E158-45F5-956A-4FB433D01CB9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699264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6F1337-5EEC-6D2F-6C39-B3D3B7FF43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4F1487E-D6A4-25F4-1509-4CBA18857C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088DD91-3A9D-25A9-A23D-B00D475984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E30D51D-19D5-55CF-F3CC-731258739E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32AB1D-E158-45F5-956A-4FB433D01CB9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647871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DC1D7C-C988-ADC0-F186-C38CA0A360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BAE0348-FD0E-51EA-9D31-EF8D86EB0B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8CB33F7-2B73-EA6E-9D68-743F88015D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C26B2FE-DACD-19BF-C3AC-887CF77DE5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32AB1D-E158-45F5-956A-4FB433D01CB9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32404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EA3C6A-2304-4B3A-79C1-3FCCBDA7F4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9A96EBD-54B6-BD90-1ACE-F435AFC556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CD1251E-97BF-7A06-85E6-556C85D8A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20FF5-C322-4BDD-8F64-3EA47F12E988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AE32F2D-B72E-B711-D545-5E1DE8EB0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064512E-B0A4-3E85-509C-6D75608EB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57CF9-0B4E-4FBB-8416-FAFA02AEBD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53404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98BBE4-0B05-973F-F0AF-6D84A7C27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A716EAE-16A7-463B-B1ED-1C21D6212C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1072FA0-4B93-5E14-43D8-55E15E8EF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20FF5-C322-4BDD-8F64-3EA47F12E988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6EB9D25-25DA-2A2E-1FB5-963D45AD8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97C52E4-F5FA-7BCC-F523-174751839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57CF9-0B4E-4FBB-8416-FAFA02AEBD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15531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06237B-35ED-3F5A-1CFD-083B3BD79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B936650-C6D2-0E89-BAAF-992920665A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075B15B-21EA-7DAA-D89E-1403A40BA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20FF5-C322-4BDD-8F64-3EA47F12E988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1E93645-54E5-51CC-1059-F62A04D6B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4DE35D1-029E-61F7-9270-E805734F4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57CF9-0B4E-4FBB-8416-FAFA02AEBD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07399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B13594-F242-3D2D-F510-829E10948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D9C9469-E3F5-DB20-950D-1E1F8D782A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7368B5A-7479-7617-AFDC-B913C3CDEA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471A8BF-012E-DFD2-A8F0-17A4191E3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20FF5-C322-4BDD-8F64-3EA47F12E988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4396E4F-C2F3-C66A-BAFC-8A86935C1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59C0576-16E1-4956-29D9-10E03F3FA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57CF9-0B4E-4FBB-8416-FAFA02AEBD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042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BA3576-6376-88A0-2A74-D1231EF79D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E8DD258-0B70-8883-EFA5-9BDD33B0C4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D47F1AA-F430-5109-86ED-F7153F5CB2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F527174-B442-6D1C-107B-F3CD5FA6EF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98128B4-F359-0DCE-FF04-8012E276D0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A6032D3-7DC6-B8CE-DD50-52C8C38BD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20FF5-C322-4BDD-8F64-3EA47F12E988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79FC913-24D3-0EA6-8993-32F4A87B0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A3B0E26-CD0E-9FE8-B625-3F3C4E919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57CF9-0B4E-4FBB-8416-FAFA02AEBD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29321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F06DC2-1B28-A71C-DADE-DB9CD5A3E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946C800-82A2-8E1A-AF62-B033F3536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20FF5-C322-4BDD-8F64-3EA47F12E988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CAED38D-5BBC-C3A3-56EA-539C50ACD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E8B8719-1440-B4F4-F8E2-C947155BF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57CF9-0B4E-4FBB-8416-FAFA02AEBD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20190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825FB25-EC7A-5EE2-6AE6-0BBDB2D40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20FF5-C322-4BDD-8F64-3EA47F12E988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8B7DFDB-F578-677F-FF57-DC3DD473E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43D6DB0-E452-2F9B-823C-6A9C8EF93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57CF9-0B4E-4FBB-8416-FAFA02AEBD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15786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1C5DE0-900C-A91C-BF16-4C5B5AE3C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7EE366B-DBB2-9B48-E1E4-4FBD71C656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FB7AA27-92B9-8EFE-F827-163D4F60DB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C48CC9C-56FB-C71D-FD5C-10A77D6C0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20FF5-C322-4BDD-8F64-3EA47F12E988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AB0240E-3AE7-DA2E-0C4D-DC40644D9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24102CD-8617-071C-1145-7E0EF8934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57CF9-0B4E-4FBB-8416-FAFA02AEBD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78219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ACA1AB-6542-2432-B70B-50A7D3DAD9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871C0C6-2524-FE77-9AE9-25F4BBBB6E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7903356-14E8-A50D-1B32-2EE34726CE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5695A0F-5F19-A668-FF49-A6F74BCA3A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20FF5-C322-4BDD-8F64-3EA47F12E988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3917855-53FB-F92B-16A8-3D5B0EF453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9A1AD71-3B6A-5045-1959-307910EE8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57CF9-0B4E-4FBB-8416-FAFA02AEBD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76264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9C3591-693E-EA57-8553-6BED94F4A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E6AFE5E-FF0F-2E09-3D5F-4BD393BCB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21B2AA7-C2FB-AE64-37B1-BE4BC4A58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20FF5-C322-4BDD-8F64-3EA47F12E988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0AF3D80-ABCD-A2C4-989A-675E3844D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66E235-F964-2CE6-FBEE-00B6688CE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57CF9-0B4E-4FBB-8416-FAFA02AEBD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60769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EE74820-88A2-810D-F095-5C77ACE484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02A3726-A3F4-A100-C248-94410E75EA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2FF164-F3A9-6DC4-7B7B-43ED4C9DF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20FF5-C322-4BDD-8F64-3EA47F12E988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C71F2DC-4595-6D98-7636-846F9CCA9F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3023B8F-123D-8F68-DC57-3F96A21E5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57CF9-0B4E-4FBB-8416-FAFA02AEBD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63083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3D24FBE-9DEE-1C07-F16D-39CC8F774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5B65B3C-2272-34F7-24F7-CB64918E3C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44E6A1B-0CD4-C112-4F99-2858B9FB4A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E20FF5-C322-4BDD-8F64-3EA47F12E988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6A4C95-A0EF-FC07-1491-1E21DD15E6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1B1722A-073A-7EEF-0C7A-7E8CF73714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457CF9-0B4E-4FBB-8416-FAFA02AEBD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87599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1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13.png"/><Relationship Id="rId9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3" Type="http://schemas.openxmlformats.org/officeDocument/2006/relationships/image" Target="../media/image17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7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 descr="그림, 아동 미술, 디자인, 패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42D0344-7707-7A18-1639-08A2602D012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1AE4356A-E248-067F-E231-BD490B193B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969963"/>
            <a:ext cx="12192000" cy="1593944"/>
          </a:xfrm>
        </p:spPr>
        <p:txBody>
          <a:bodyPr>
            <a:normAutofit/>
          </a:bodyPr>
          <a:lstStyle/>
          <a:p>
            <a:r>
              <a:rPr lang="en-US" altLang="ko-KR" sz="4800" b="1" dirty="0"/>
              <a:t>RPA </a:t>
            </a:r>
            <a:r>
              <a:rPr lang="ko-KR" altLang="en-US" sz="4800" b="1" dirty="0"/>
              <a:t>프로세스 정의서</a:t>
            </a:r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A6321B1F-D99C-586A-DDBD-4D4C26DBE12C}"/>
              </a:ext>
            </a:extLst>
          </p:cNvPr>
          <p:cNvGrpSpPr/>
          <p:nvPr/>
        </p:nvGrpSpPr>
        <p:grpSpPr>
          <a:xfrm>
            <a:off x="3577070" y="3666847"/>
            <a:ext cx="5026602" cy="2088212"/>
            <a:chOff x="3577070" y="3666847"/>
            <a:chExt cx="5026602" cy="2088212"/>
          </a:xfrm>
        </p:grpSpPr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9E4F63BB-B8A1-BE1C-B705-CFA8CD73F734}"/>
                </a:ext>
              </a:extLst>
            </p:cNvPr>
            <p:cNvGrpSpPr/>
            <p:nvPr/>
          </p:nvGrpSpPr>
          <p:grpSpPr>
            <a:xfrm>
              <a:off x="3577070" y="3666847"/>
              <a:ext cx="5026602" cy="2088212"/>
              <a:chOff x="3577070" y="3666847"/>
              <a:chExt cx="5026602" cy="2088212"/>
            </a:xfrm>
          </p:grpSpPr>
          <p:cxnSp>
            <p:nvCxnSpPr>
              <p:cNvPr id="6" name="직선 연결선 5">
                <a:extLst>
                  <a:ext uri="{FF2B5EF4-FFF2-40B4-BE49-F238E27FC236}">
                    <a16:creationId xmlns:a16="http://schemas.microsoft.com/office/drawing/2014/main" id="{16BC356B-7E69-4722-CA70-F996CBA374F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77070" y="4395691"/>
                <a:ext cx="5026602" cy="0"/>
              </a:xfrm>
              <a:prstGeom prst="line">
                <a:avLst/>
              </a:prstGeom>
              <a:ln w="3810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직사각형 9">
                <a:extLst>
                  <a:ext uri="{FF2B5EF4-FFF2-40B4-BE49-F238E27FC236}">
                    <a16:creationId xmlns:a16="http://schemas.microsoft.com/office/drawing/2014/main" id="{42211740-18EB-D8AE-3127-3B3A4ACA2F21}"/>
                  </a:ext>
                </a:extLst>
              </p:cNvPr>
              <p:cNvSpPr/>
              <p:nvPr/>
            </p:nvSpPr>
            <p:spPr>
              <a:xfrm>
                <a:off x="3577070" y="3666847"/>
                <a:ext cx="5026602" cy="2088212"/>
              </a:xfrm>
              <a:prstGeom prst="rect">
                <a:avLst/>
              </a:prstGeom>
              <a:noFill/>
              <a:ln w="3810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cxnSp>
            <p:nvCxnSpPr>
              <p:cNvPr id="16" name="직선 연결선 15">
                <a:extLst>
                  <a:ext uri="{FF2B5EF4-FFF2-40B4-BE49-F238E27FC236}">
                    <a16:creationId xmlns:a16="http://schemas.microsoft.com/office/drawing/2014/main" id="{80E03131-F11A-E69B-D82E-3158725A120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77070" y="5102275"/>
                <a:ext cx="5026602" cy="0"/>
              </a:xfrm>
              <a:prstGeom prst="line">
                <a:avLst/>
              </a:prstGeom>
              <a:ln w="3810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5ABD055E-F2DD-0599-D379-8BDC3695E5B0}"/>
                </a:ext>
              </a:extLst>
            </p:cNvPr>
            <p:cNvCxnSpPr>
              <a:stCxn id="10" idx="0"/>
              <a:endCxn id="10" idx="2"/>
            </p:cNvCxnSpPr>
            <p:nvPr/>
          </p:nvCxnSpPr>
          <p:spPr>
            <a:xfrm>
              <a:off x="6090371" y="3666847"/>
              <a:ext cx="0" cy="2088212"/>
            </a:xfrm>
            <a:prstGeom prst="line">
              <a:avLst/>
            </a:prstGeom>
            <a:ln w="381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53C9B0CC-DBDF-F982-D261-20CD0A0F00B8}"/>
              </a:ext>
            </a:extLst>
          </p:cNvPr>
          <p:cNvSpPr txBox="1"/>
          <p:nvPr/>
        </p:nvSpPr>
        <p:spPr>
          <a:xfrm>
            <a:off x="3577070" y="3846600"/>
            <a:ext cx="2513301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dirty="0"/>
              <a:t>작성자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B090ED6-F476-7F40-4180-FA82B4C62057}"/>
              </a:ext>
            </a:extLst>
          </p:cNvPr>
          <p:cNvSpPr txBox="1"/>
          <p:nvPr/>
        </p:nvSpPr>
        <p:spPr>
          <a:xfrm>
            <a:off x="3577070" y="4563849"/>
            <a:ext cx="2513301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dirty="0"/>
              <a:t>부서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BEE8D43-8AE4-1E4C-167F-4ED5E59485B4}"/>
              </a:ext>
            </a:extLst>
          </p:cNvPr>
          <p:cNvSpPr txBox="1"/>
          <p:nvPr/>
        </p:nvSpPr>
        <p:spPr>
          <a:xfrm>
            <a:off x="3577069" y="5244001"/>
            <a:ext cx="2513301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dirty="0"/>
              <a:t>작성일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FADE706-AC47-2626-0D4D-C076A59FAA26}"/>
              </a:ext>
            </a:extLst>
          </p:cNvPr>
          <p:cNvSpPr txBox="1"/>
          <p:nvPr/>
        </p:nvSpPr>
        <p:spPr>
          <a:xfrm>
            <a:off x="6101630" y="3845782"/>
            <a:ext cx="2513301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dirty="0"/>
              <a:t>배태영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14FABB3-FF5F-6EA4-B21F-FF0A4C54F83D}"/>
              </a:ext>
            </a:extLst>
          </p:cNvPr>
          <p:cNvSpPr txBox="1"/>
          <p:nvPr/>
        </p:nvSpPr>
        <p:spPr>
          <a:xfrm>
            <a:off x="6096000" y="4562956"/>
            <a:ext cx="2513301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dirty="0"/>
              <a:t>정보관리팀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423FC10-0B8A-3B2B-8D87-A2FE442BA385}"/>
              </a:ext>
            </a:extLst>
          </p:cNvPr>
          <p:cNvSpPr txBox="1"/>
          <p:nvPr/>
        </p:nvSpPr>
        <p:spPr>
          <a:xfrm>
            <a:off x="6101630" y="5244001"/>
            <a:ext cx="2513301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dirty="0"/>
              <a:t>2025.12.09</a:t>
            </a: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88069F5C-43A7-38FE-5192-CCB87435E6BD}"/>
              </a:ext>
            </a:extLst>
          </p:cNvPr>
          <p:cNvSpPr txBox="1">
            <a:spLocks/>
          </p:cNvSpPr>
          <p:nvPr/>
        </p:nvSpPr>
        <p:spPr>
          <a:xfrm>
            <a:off x="5630" y="2789892"/>
            <a:ext cx="12192000" cy="4683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000" dirty="0"/>
              <a:t>R25006_</a:t>
            </a:r>
            <a:r>
              <a:rPr lang="ko-KR" altLang="en-US" sz="2000" dirty="0"/>
              <a:t>퇴사자 계정 초기화</a:t>
            </a:r>
          </a:p>
        </p:txBody>
      </p:sp>
    </p:spTree>
    <p:extLst>
      <p:ext uri="{BB962C8B-B14F-4D97-AF65-F5344CB8AC3E}">
        <p14:creationId xmlns:p14="http://schemas.microsoft.com/office/powerpoint/2010/main" val="18586433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CC9703-FC78-49EB-62D7-3502FDD5F5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 descr="그림, 아동 미술, 디자인, 패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789EAD4-95CB-7A20-870C-86C52B3AF52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E7272BF9-6343-B000-2403-38C84F39FE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5630" y="0"/>
            <a:ext cx="12192000" cy="877455"/>
          </a:xfrm>
        </p:spPr>
        <p:txBody>
          <a:bodyPr>
            <a:normAutofit/>
          </a:bodyPr>
          <a:lstStyle/>
          <a:p>
            <a:r>
              <a:rPr lang="ko-KR" altLang="en-US" sz="4000" b="1" dirty="0"/>
              <a:t>버전 기록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9765AF88-AB12-3E56-2899-75AA312B35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1214928"/>
              </p:ext>
            </p:extLst>
          </p:nvPr>
        </p:nvGraphicFramePr>
        <p:xfrm>
          <a:off x="239134" y="1043709"/>
          <a:ext cx="11760970" cy="54956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0502">
                  <a:extLst>
                    <a:ext uri="{9D8B030D-6E8A-4147-A177-3AD203B41FA5}">
                      <a16:colId xmlns:a16="http://schemas.microsoft.com/office/drawing/2014/main" val="1240431021"/>
                    </a:ext>
                  </a:extLst>
                </a:gridCol>
                <a:gridCol w="2576946">
                  <a:extLst>
                    <a:ext uri="{9D8B030D-6E8A-4147-A177-3AD203B41FA5}">
                      <a16:colId xmlns:a16="http://schemas.microsoft.com/office/drawing/2014/main" val="1100599717"/>
                    </a:ext>
                  </a:extLst>
                </a:gridCol>
                <a:gridCol w="5948218">
                  <a:extLst>
                    <a:ext uri="{9D8B030D-6E8A-4147-A177-3AD203B41FA5}">
                      <a16:colId xmlns:a16="http://schemas.microsoft.com/office/drawing/2014/main" val="3119710726"/>
                    </a:ext>
                  </a:extLst>
                </a:gridCol>
                <a:gridCol w="1535304">
                  <a:extLst>
                    <a:ext uri="{9D8B030D-6E8A-4147-A177-3AD203B41FA5}">
                      <a16:colId xmlns:a16="http://schemas.microsoft.com/office/drawing/2014/main" val="771615656"/>
                    </a:ext>
                  </a:extLst>
                </a:gridCol>
              </a:tblGrid>
              <a:tr h="39254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작성자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작성일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내용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버전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2183458"/>
                  </a:ext>
                </a:extLst>
              </a:tr>
              <a:tr h="39254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배태영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2025-12-09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최초 작성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V01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8920444"/>
                  </a:ext>
                </a:extLst>
              </a:tr>
              <a:tr h="39254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배태영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2025-12-10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로그인 차단 로직 추가로 인한 내용 추가 </a:t>
                      </a:r>
                      <a:r>
                        <a:rPr lang="en-US" altLang="ko-KR" dirty="0"/>
                        <a:t>[14 page]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V02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6030548"/>
                  </a:ext>
                </a:extLst>
              </a:tr>
              <a:tr h="392545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2405006"/>
                  </a:ext>
                </a:extLst>
              </a:tr>
              <a:tr h="392545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4128188"/>
                  </a:ext>
                </a:extLst>
              </a:tr>
              <a:tr h="392545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9926579"/>
                  </a:ext>
                </a:extLst>
              </a:tr>
              <a:tr h="392545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0633190"/>
                  </a:ext>
                </a:extLst>
              </a:tr>
              <a:tr h="392545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6447979"/>
                  </a:ext>
                </a:extLst>
              </a:tr>
              <a:tr h="392545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7523548"/>
                  </a:ext>
                </a:extLst>
              </a:tr>
              <a:tr h="392545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1299177"/>
                  </a:ext>
                </a:extLst>
              </a:tr>
              <a:tr h="392545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1372494"/>
                  </a:ext>
                </a:extLst>
              </a:tr>
              <a:tr h="392545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4990642"/>
                  </a:ext>
                </a:extLst>
              </a:tr>
              <a:tr h="392545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8069211"/>
                  </a:ext>
                </a:extLst>
              </a:tr>
              <a:tr h="392545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42184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18190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0D0475-F212-5364-8467-8134C3EBCB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 descr="그림, 아동 미술, 디자인, 패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6F93854-A5DF-8116-F918-69808D8F831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9B35512-F0E2-EEBF-202A-3EB524DEDF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5630" y="0"/>
            <a:ext cx="12192000" cy="877455"/>
          </a:xfrm>
        </p:spPr>
        <p:txBody>
          <a:bodyPr>
            <a:normAutofit/>
          </a:bodyPr>
          <a:lstStyle/>
          <a:p>
            <a:r>
              <a:rPr lang="ko-KR" altLang="en-US" sz="4000" b="1" dirty="0"/>
              <a:t>프로세스 흐름도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5E6E4E0F-FE4C-105A-8592-80C39B1F09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0901633"/>
              </p:ext>
            </p:extLst>
          </p:nvPr>
        </p:nvGraphicFramePr>
        <p:xfrm>
          <a:off x="2604657" y="2546965"/>
          <a:ext cx="1662545" cy="1768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2545">
                  <a:extLst>
                    <a:ext uri="{9D8B030D-6E8A-4147-A177-3AD203B41FA5}">
                      <a16:colId xmlns:a16="http://schemas.microsoft.com/office/drawing/2014/main" val="104862494"/>
                    </a:ext>
                  </a:extLst>
                </a:gridCol>
              </a:tblGrid>
              <a:tr h="4454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Step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4062168"/>
                  </a:ext>
                </a:extLst>
              </a:tr>
              <a:tr h="44542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Azure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8390603"/>
                  </a:ext>
                </a:extLst>
              </a:tr>
              <a:tr h="87783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M365</a:t>
                      </a:r>
                      <a:r>
                        <a:rPr lang="ko-KR" altLang="en-US" sz="1200" dirty="0"/>
                        <a:t>계정 </a:t>
                      </a:r>
                      <a:r>
                        <a:rPr lang="en-US" altLang="ko-KR" sz="1200" dirty="0"/>
                        <a:t>PW </a:t>
                      </a:r>
                      <a:r>
                        <a:rPr lang="ko-KR" altLang="en-US" sz="1200" dirty="0"/>
                        <a:t>초기화 및 </a:t>
                      </a:r>
                      <a:r>
                        <a:rPr lang="en-US" altLang="ko-KR" sz="1200" dirty="0"/>
                        <a:t>MFA </a:t>
                      </a:r>
                      <a:r>
                        <a:rPr lang="ko-KR" altLang="en-US" sz="1200" dirty="0"/>
                        <a:t>인증 해제 및 로그인 차단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7696369"/>
                  </a:ext>
                </a:extLst>
              </a:tr>
            </a:tbl>
          </a:graphicData>
        </a:graphic>
      </p:graphicFrame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12DF2BC7-CF03-0646-1F74-49ED81C95306}"/>
              </a:ext>
            </a:extLst>
          </p:cNvPr>
          <p:cNvCxnSpPr/>
          <p:nvPr/>
        </p:nvCxnSpPr>
        <p:spPr>
          <a:xfrm>
            <a:off x="4285674" y="3440508"/>
            <a:ext cx="75738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4BE60B5D-3F42-4C73-417D-F400472B00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4009265"/>
              </p:ext>
            </p:extLst>
          </p:nvPr>
        </p:nvGraphicFramePr>
        <p:xfrm>
          <a:off x="5043056" y="2544656"/>
          <a:ext cx="1662545" cy="1768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2545">
                  <a:extLst>
                    <a:ext uri="{9D8B030D-6E8A-4147-A177-3AD203B41FA5}">
                      <a16:colId xmlns:a16="http://schemas.microsoft.com/office/drawing/2014/main" val="104862494"/>
                    </a:ext>
                  </a:extLst>
                </a:gridCol>
              </a:tblGrid>
              <a:tr h="4454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Step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4062168"/>
                  </a:ext>
                </a:extLst>
              </a:tr>
              <a:tr h="44542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Excel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8390603"/>
                  </a:ext>
                </a:extLst>
              </a:tr>
              <a:tr h="87783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완료된 건 작성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7696369"/>
                  </a:ext>
                </a:extLst>
              </a:tr>
            </a:tbl>
          </a:graphicData>
        </a:graphic>
      </p:graphicFrame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BD65DB30-11A4-C615-688A-80940BED97FC}"/>
              </a:ext>
            </a:extLst>
          </p:cNvPr>
          <p:cNvCxnSpPr/>
          <p:nvPr/>
        </p:nvCxnSpPr>
        <p:spPr>
          <a:xfrm>
            <a:off x="6705601" y="3440508"/>
            <a:ext cx="75738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24DE8FFB-101D-8F81-EFDF-3F6AD0E4FC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6578788"/>
              </p:ext>
            </p:extLst>
          </p:nvPr>
        </p:nvGraphicFramePr>
        <p:xfrm>
          <a:off x="7462983" y="2544656"/>
          <a:ext cx="1662545" cy="1768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2545">
                  <a:extLst>
                    <a:ext uri="{9D8B030D-6E8A-4147-A177-3AD203B41FA5}">
                      <a16:colId xmlns:a16="http://schemas.microsoft.com/office/drawing/2014/main" val="104862494"/>
                    </a:ext>
                  </a:extLst>
                </a:gridCol>
              </a:tblGrid>
              <a:tr h="4454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Step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4062168"/>
                  </a:ext>
                </a:extLst>
              </a:tr>
              <a:tr h="44542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Teams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8390603"/>
                  </a:ext>
                </a:extLst>
              </a:tr>
              <a:tr h="87783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완료된 계정 알림 발송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76963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32567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소프트웨어, 컴퓨터 아이콘, 웹 페이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2470E2F-6AB0-C702-1ECD-24E0740389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562" y="1051932"/>
            <a:ext cx="6360195" cy="3017611"/>
          </a:xfrm>
          <a:prstGeom prst="rect">
            <a:avLst/>
          </a:prstGeom>
        </p:spPr>
      </p:pic>
      <p:pic>
        <p:nvPicPr>
          <p:cNvPr id="16" name="그림 15" descr="텍스트, 스크린샷, 소프트웨어, 웹 페이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A2CA755-AA58-0D97-950D-13E710B7CA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8258" y="3517031"/>
            <a:ext cx="6374508" cy="3033571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F2C5C234-3FDE-13D4-70E5-78FEE7F0E9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31273"/>
          </a:xfrm>
          <a:solidFill>
            <a:schemeClr val="bg2"/>
          </a:solidFill>
        </p:spPr>
        <p:txBody>
          <a:bodyPr>
            <a:normAutofit/>
          </a:bodyPr>
          <a:lstStyle/>
          <a:p>
            <a:r>
              <a:rPr lang="en-US" altLang="ko-KR" sz="2400" dirty="0">
                <a:latin typeface="+mn-ea"/>
                <a:ea typeface="+mn-ea"/>
              </a:rPr>
              <a:t>1-1) Azure</a:t>
            </a:r>
            <a:r>
              <a:rPr lang="ko-KR" altLang="en-US" sz="2400" dirty="0">
                <a:latin typeface="+mn-ea"/>
                <a:ea typeface="+mn-ea"/>
              </a:rPr>
              <a:t> 애플리케이션 권한 설정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4A326F9-B86F-5D7C-1D37-AD642A38D241}"/>
              </a:ext>
            </a:extLst>
          </p:cNvPr>
          <p:cNvSpPr/>
          <p:nvPr/>
        </p:nvSpPr>
        <p:spPr>
          <a:xfrm>
            <a:off x="83127" y="905164"/>
            <a:ext cx="7767782" cy="588356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E2609662-C7C0-9186-74D0-0A59963EECB0}"/>
              </a:ext>
            </a:extLst>
          </p:cNvPr>
          <p:cNvGrpSpPr/>
          <p:nvPr/>
        </p:nvGrpSpPr>
        <p:grpSpPr>
          <a:xfrm>
            <a:off x="7924799" y="905164"/>
            <a:ext cx="4184075" cy="3676072"/>
            <a:chOff x="7924799" y="905164"/>
            <a:chExt cx="4184075" cy="3676072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CFCF9DA9-772A-7C0A-EE81-3E804BCCDDC2}"/>
                </a:ext>
              </a:extLst>
            </p:cNvPr>
            <p:cNvSpPr/>
            <p:nvPr/>
          </p:nvSpPr>
          <p:spPr>
            <a:xfrm>
              <a:off x="7924800" y="1274618"/>
              <a:ext cx="4184074" cy="3306618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228600" indent="-228600">
                <a:lnSpc>
                  <a:spcPct val="150000"/>
                </a:lnSpc>
                <a:buAutoNum type="arabicPeriod"/>
              </a:pPr>
              <a:r>
                <a:rPr lang="en-US" altLang="ko-KR" sz="1000" dirty="0">
                  <a:solidFill>
                    <a:schemeClr val="tx1"/>
                  </a:solidFill>
                </a:rPr>
                <a:t>Azure </a:t>
              </a:r>
              <a:r>
                <a:rPr lang="ko-KR" altLang="en-US" sz="1000" dirty="0">
                  <a:solidFill>
                    <a:schemeClr val="tx1"/>
                  </a:solidFill>
                </a:rPr>
                <a:t>접속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r>
                <a:rPr lang="ko-KR" altLang="en-US" sz="1000" dirty="0">
                  <a:solidFill>
                    <a:schemeClr val="tx1"/>
                  </a:solidFill>
                </a:rPr>
                <a:t>앱 등록 접속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r>
                <a:rPr lang="ko-KR" altLang="en-US" sz="1000" dirty="0">
                  <a:solidFill>
                    <a:schemeClr val="tx1"/>
                  </a:solidFill>
                </a:rPr>
                <a:t>애플리케이션 선택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6926ADD9-A055-DEFA-20C9-39CEC4422A24}"/>
                </a:ext>
              </a:extLst>
            </p:cNvPr>
            <p:cNvSpPr/>
            <p:nvPr/>
          </p:nvSpPr>
          <p:spPr>
            <a:xfrm>
              <a:off x="7924799" y="905164"/>
              <a:ext cx="4184074" cy="369454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내용</a:t>
              </a: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BDC95AA5-7812-AA2A-BAE8-55A83489351E}"/>
              </a:ext>
            </a:extLst>
          </p:cNvPr>
          <p:cNvGrpSpPr/>
          <p:nvPr/>
        </p:nvGrpSpPr>
        <p:grpSpPr>
          <a:xfrm>
            <a:off x="7924799" y="4664363"/>
            <a:ext cx="4184075" cy="2124363"/>
            <a:chOff x="7924799" y="4664363"/>
            <a:chExt cx="4184075" cy="2124363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D1373E1E-3952-19E0-015E-753FA3D8FEFC}"/>
                </a:ext>
              </a:extLst>
            </p:cNvPr>
            <p:cNvSpPr/>
            <p:nvPr/>
          </p:nvSpPr>
          <p:spPr>
            <a:xfrm>
              <a:off x="7924800" y="5033817"/>
              <a:ext cx="4184074" cy="1754909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228600" indent="-228600">
                <a:lnSpc>
                  <a:spcPct val="150000"/>
                </a:lnSpc>
                <a:buAutoNum type="arabicPeriod"/>
              </a:pPr>
              <a:r>
                <a:rPr lang="en-US" altLang="ko-KR" sz="1000" dirty="0">
                  <a:solidFill>
                    <a:schemeClr val="tx1"/>
                  </a:solidFill>
                </a:rPr>
                <a:t>URL : https://portal.azure.com/</a:t>
              </a: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6CEDC6A2-C733-2659-4C4F-0FA5583F337C}"/>
                </a:ext>
              </a:extLst>
            </p:cNvPr>
            <p:cNvSpPr/>
            <p:nvPr/>
          </p:nvSpPr>
          <p:spPr>
            <a:xfrm>
              <a:off x="7924799" y="4664363"/>
              <a:ext cx="4184074" cy="369454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참고사항</a:t>
              </a:r>
              <a:endParaRPr lang="en-US" altLang="ko-KR" sz="16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26" name="그래픽 25" descr="배지 윤곽선">
            <a:extLst>
              <a:ext uri="{FF2B5EF4-FFF2-40B4-BE49-F238E27FC236}">
                <a16:creationId xmlns:a16="http://schemas.microsoft.com/office/drawing/2014/main" id="{E2AA8006-F987-1914-947C-64A94DBDA56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797071" y="1348448"/>
            <a:ext cx="498764" cy="498764"/>
          </a:xfrm>
          <a:prstGeom prst="rect">
            <a:avLst/>
          </a:prstGeom>
        </p:spPr>
      </p:pic>
      <p:pic>
        <p:nvPicPr>
          <p:cNvPr id="28" name="그래픽 27" descr="배지 1 윤곽선">
            <a:extLst>
              <a:ext uri="{FF2B5EF4-FFF2-40B4-BE49-F238E27FC236}">
                <a16:creationId xmlns:a16="http://schemas.microsoft.com/office/drawing/2014/main" id="{58A20243-5305-AD80-8414-E4814C3B1E9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20623" y="1999811"/>
            <a:ext cx="429853" cy="429853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47CDD466-C8FF-E71C-80F0-B52867290234}"/>
              </a:ext>
            </a:extLst>
          </p:cNvPr>
          <p:cNvSpPr/>
          <p:nvPr/>
        </p:nvSpPr>
        <p:spPr>
          <a:xfrm>
            <a:off x="2031999" y="1342403"/>
            <a:ext cx="341746" cy="33861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3" name="그래픽 12" descr="배지 3 윤곽선">
            <a:extLst>
              <a:ext uri="{FF2B5EF4-FFF2-40B4-BE49-F238E27FC236}">
                <a16:creationId xmlns:a16="http://schemas.microsoft.com/office/drawing/2014/main" id="{F0372807-1FF9-8E7A-F31B-8A577E41109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844767" y="4616310"/>
            <a:ext cx="485277" cy="485277"/>
          </a:xfrm>
          <a:prstGeom prst="rect">
            <a:avLst/>
          </a:prstGeom>
        </p:spPr>
      </p:pic>
      <p:pic>
        <p:nvPicPr>
          <p:cNvPr id="19" name="그림 18" descr="직사각형, 스크린샷, 사각형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6D7DDCB-73FB-D387-827A-0279D076DE6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560997" y="1828935"/>
            <a:ext cx="1047896" cy="1076475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03E13338-E5BF-F155-160E-77F71911E097}"/>
              </a:ext>
            </a:extLst>
          </p:cNvPr>
          <p:cNvSpPr/>
          <p:nvPr/>
        </p:nvSpPr>
        <p:spPr>
          <a:xfrm>
            <a:off x="2575213" y="1884157"/>
            <a:ext cx="1005971" cy="96987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71EB6B51-81CC-049F-A0B7-C2A8E281EDFE}"/>
              </a:ext>
            </a:extLst>
          </p:cNvPr>
          <p:cNvCxnSpPr/>
          <p:nvPr/>
        </p:nvCxnSpPr>
        <p:spPr>
          <a:xfrm>
            <a:off x="2373745" y="1681017"/>
            <a:ext cx="201468" cy="20314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4" name="그림 23">
            <a:extLst>
              <a:ext uri="{FF2B5EF4-FFF2-40B4-BE49-F238E27FC236}">
                <a16:creationId xmlns:a16="http://schemas.microsoft.com/office/drawing/2014/main" id="{CB17D2AA-1963-DB22-6FCA-C723F523C5F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560997" y="5080867"/>
            <a:ext cx="2972215" cy="428685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601A04EF-80F7-8E97-AD5B-EB106BBA9197}"/>
              </a:ext>
            </a:extLst>
          </p:cNvPr>
          <p:cNvSpPr/>
          <p:nvPr/>
        </p:nvSpPr>
        <p:spPr>
          <a:xfrm>
            <a:off x="2641601" y="5105280"/>
            <a:ext cx="2891611" cy="42868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674657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283B0C-C1C2-619F-CE7D-E1EA93FD5F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 descr="텍스트, 소프트웨어, 웹 페이지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493830F-9E5D-C96E-F98C-45C105C37F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431" y="1131997"/>
            <a:ext cx="7365174" cy="3336624"/>
          </a:xfrm>
          <a:prstGeom prst="rect">
            <a:avLst/>
          </a:prstGeom>
        </p:spPr>
      </p:pic>
      <p:pic>
        <p:nvPicPr>
          <p:cNvPr id="27" name="그림 26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F17DF77-63C3-AF45-5D42-80C5C3E696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2055" y="3603938"/>
            <a:ext cx="4291157" cy="2909259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83BF1F31-BCEA-3DD6-B8C8-CF086643E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31273"/>
          </a:xfrm>
          <a:solidFill>
            <a:schemeClr val="bg2"/>
          </a:solidFill>
        </p:spPr>
        <p:txBody>
          <a:bodyPr>
            <a:normAutofit/>
          </a:bodyPr>
          <a:lstStyle/>
          <a:p>
            <a:r>
              <a:rPr lang="en-US" altLang="ko-KR" sz="2400" dirty="0">
                <a:latin typeface="+mn-ea"/>
                <a:ea typeface="+mn-ea"/>
              </a:rPr>
              <a:t>1-2) Azure</a:t>
            </a:r>
            <a:r>
              <a:rPr lang="ko-KR" altLang="en-US" sz="2400" dirty="0">
                <a:latin typeface="+mn-ea"/>
                <a:ea typeface="+mn-ea"/>
              </a:rPr>
              <a:t> 애플리케이션 권한 설정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195651B-B079-C8D4-B087-278370B93E84}"/>
              </a:ext>
            </a:extLst>
          </p:cNvPr>
          <p:cNvSpPr/>
          <p:nvPr/>
        </p:nvSpPr>
        <p:spPr>
          <a:xfrm>
            <a:off x="83127" y="905164"/>
            <a:ext cx="7767782" cy="588356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23C5E2B3-DD67-A882-7E87-A22A7BF0A48A}"/>
              </a:ext>
            </a:extLst>
          </p:cNvPr>
          <p:cNvGrpSpPr/>
          <p:nvPr/>
        </p:nvGrpSpPr>
        <p:grpSpPr>
          <a:xfrm>
            <a:off x="7924799" y="905164"/>
            <a:ext cx="4184075" cy="3676072"/>
            <a:chOff x="7924799" y="905164"/>
            <a:chExt cx="4184075" cy="3676072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71C49F6A-1535-A051-9782-0958C9F21100}"/>
                </a:ext>
              </a:extLst>
            </p:cNvPr>
            <p:cNvSpPr/>
            <p:nvPr/>
          </p:nvSpPr>
          <p:spPr>
            <a:xfrm>
              <a:off x="7924800" y="1274618"/>
              <a:ext cx="4184074" cy="3306618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228600" indent="-228600">
                <a:lnSpc>
                  <a:spcPct val="150000"/>
                </a:lnSpc>
                <a:buAutoNum type="arabicPeriod"/>
              </a:pPr>
              <a:r>
                <a:rPr lang="en-US" altLang="ko-KR" sz="1000" dirty="0">
                  <a:solidFill>
                    <a:schemeClr val="tx1"/>
                  </a:solidFill>
                </a:rPr>
                <a:t>API </a:t>
              </a:r>
              <a:r>
                <a:rPr lang="ko-KR" altLang="en-US" sz="1000" dirty="0">
                  <a:solidFill>
                    <a:schemeClr val="tx1"/>
                  </a:solidFill>
                </a:rPr>
                <a:t>사용 권한 선택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r>
                <a:rPr lang="ko-KR" altLang="en-US" sz="1000" dirty="0">
                  <a:solidFill>
                    <a:schemeClr val="tx1"/>
                  </a:solidFill>
                </a:rPr>
                <a:t>권한 설정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1000" dirty="0">
                  <a:solidFill>
                    <a:schemeClr val="tx1"/>
                  </a:solidFill>
                </a:rPr>
                <a:t>필요한 권한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lvl="1">
                <a:lnSpc>
                  <a:spcPct val="150000"/>
                </a:lnSpc>
              </a:pPr>
              <a:r>
                <a:rPr lang="en-US" altLang="ko-KR" sz="1000" dirty="0">
                  <a:solidFill>
                    <a:schemeClr val="tx1"/>
                  </a:solidFill>
                </a:rPr>
                <a:t>1. </a:t>
              </a:r>
              <a:r>
                <a:rPr lang="en-US" altLang="ko-KR" sz="1000" dirty="0" err="1">
                  <a:solidFill>
                    <a:schemeClr val="tx1"/>
                  </a:solidFill>
                </a:rPr>
                <a:t>User.ReadWriteAll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lvl="1">
                <a:lnSpc>
                  <a:spcPct val="150000"/>
                </a:lnSpc>
              </a:pPr>
              <a:r>
                <a:rPr lang="en-US" altLang="ko-KR" sz="1000" dirty="0">
                  <a:solidFill>
                    <a:schemeClr val="tx1"/>
                  </a:solidFill>
                </a:rPr>
                <a:t>2. </a:t>
              </a:r>
              <a:r>
                <a:rPr lang="en-US" altLang="ko-KR" sz="1000" dirty="0" err="1">
                  <a:solidFill>
                    <a:schemeClr val="tx1"/>
                  </a:solidFill>
                </a:rPr>
                <a:t>Directory.AccessAsUser.All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lvl="1">
                <a:lnSpc>
                  <a:spcPct val="150000"/>
                </a:lnSpc>
              </a:pPr>
              <a:r>
                <a:rPr lang="en-US" altLang="ko-KR" sz="1000" dirty="0">
                  <a:solidFill>
                    <a:schemeClr val="tx1"/>
                  </a:solidFill>
                </a:rPr>
                <a:t>3. </a:t>
              </a:r>
              <a:r>
                <a:rPr lang="en-US" altLang="ko-KR" sz="1000" dirty="0" err="1">
                  <a:solidFill>
                    <a:schemeClr val="tx1"/>
                  </a:solidFill>
                </a:rPr>
                <a:t>UserAuthenticationMethod.ReadWrite.All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lvl="1">
                <a:lnSpc>
                  <a:spcPct val="150000"/>
                </a:lnSpc>
              </a:pPr>
              <a:r>
                <a:rPr lang="en-US" altLang="ko-KR" sz="1000" dirty="0">
                  <a:solidFill>
                    <a:schemeClr val="tx1"/>
                  </a:solidFill>
                </a:rPr>
                <a:t>4. </a:t>
              </a:r>
              <a:r>
                <a:rPr lang="en-US" altLang="ko-KR" sz="1000" dirty="0" err="1">
                  <a:solidFill>
                    <a:schemeClr val="tx1"/>
                  </a:solidFill>
                </a:rPr>
                <a:t>Policy.ReadWrite.AuthenticationMethod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>
                <a:lnSpc>
                  <a:spcPct val="150000"/>
                </a:lnSpc>
              </a:pPr>
              <a:endParaRPr lang="en-US" altLang="ko-KR" sz="1000" dirty="0">
                <a:solidFill>
                  <a:schemeClr val="tx1"/>
                </a:solidFill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9D53D76-F39A-1D8D-2C4F-B80417AE4E65}"/>
                </a:ext>
              </a:extLst>
            </p:cNvPr>
            <p:cNvSpPr/>
            <p:nvPr/>
          </p:nvSpPr>
          <p:spPr>
            <a:xfrm>
              <a:off x="7924799" y="905164"/>
              <a:ext cx="4184074" cy="369454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내용</a:t>
              </a: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D1D9EC22-AE64-0342-46A7-56C0A74957A1}"/>
              </a:ext>
            </a:extLst>
          </p:cNvPr>
          <p:cNvGrpSpPr/>
          <p:nvPr/>
        </p:nvGrpSpPr>
        <p:grpSpPr>
          <a:xfrm>
            <a:off x="7924799" y="4664363"/>
            <a:ext cx="4184075" cy="2124363"/>
            <a:chOff x="7924799" y="4664363"/>
            <a:chExt cx="4184075" cy="2124363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1C3E91BC-095E-9304-FFA5-D2D36035DD55}"/>
                </a:ext>
              </a:extLst>
            </p:cNvPr>
            <p:cNvSpPr/>
            <p:nvPr/>
          </p:nvSpPr>
          <p:spPr>
            <a:xfrm>
              <a:off x="7924800" y="5033817"/>
              <a:ext cx="4184074" cy="1754909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228600" indent="-228600">
                <a:lnSpc>
                  <a:spcPct val="150000"/>
                </a:lnSpc>
                <a:buAutoNum type="arabicPeriod"/>
              </a:pPr>
              <a:r>
                <a:rPr lang="ko-KR" altLang="en-US" sz="1000" dirty="0">
                  <a:solidFill>
                    <a:schemeClr val="tx1"/>
                  </a:solidFill>
                </a:rPr>
                <a:t>권한 추가 후 </a:t>
              </a:r>
              <a:r>
                <a:rPr lang="en-US" altLang="ko-KR" sz="1000" dirty="0">
                  <a:solidFill>
                    <a:schemeClr val="tx1"/>
                  </a:solidFill>
                </a:rPr>
                <a:t>[</a:t>
              </a:r>
              <a:r>
                <a:rPr lang="ko-KR" altLang="en-US" sz="1000" dirty="0" err="1">
                  <a:solidFill>
                    <a:schemeClr val="tx1"/>
                  </a:solidFill>
                </a:rPr>
                <a:t>로얄앤컴퍼니주식회사에</a:t>
              </a:r>
              <a:r>
                <a:rPr lang="ko-KR" altLang="en-US" sz="1000" dirty="0">
                  <a:solidFill>
                    <a:schemeClr val="tx1"/>
                  </a:solidFill>
                </a:rPr>
                <a:t> 대한 관리자 동의 허용</a:t>
              </a:r>
              <a:r>
                <a:rPr lang="en-US" altLang="ko-KR" sz="1000" dirty="0">
                  <a:solidFill>
                    <a:schemeClr val="tx1"/>
                  </a:solidFill>
                </a:rPr>
                <a:t>] </a:t>
              </a:r>
              <a:r>
                <a:rPr lang="ko-KR" altLang="en-US" sz="1000" dirty="0" err="1">
                  <a:solidFill>
                    <a:schemeClr val="tx1"/>
                  </a:solidFill>
                </a:rPr>
                <a:t>클릭해야된다</a:t>
              </a:r>
              <a:r>
                <a:rPr lang="en-US" altLang="ko-KR" sz="1000" dirty="0">
                  <a:solidFill>
                    <a:schemeClr val="tx1"/>
                  </a:solidFill>
                </a:rPr>
                <a:t>.</a:t>
              </a: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825F7A43-42E3-9998-AEA1-6713E09FED0F}"/>
                </a:ext>
              </a:extLst>
            </p:cNvPr>
            <p:cNvSpPr/>
            <p:nvPr/>
          </p:nvSpPr>
          <p:spPr>
            <a:xfrm>
              <a:off x="7924799" y="4664363"/>
              <a:ext cx="4184074" cy="369454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참고사항</a:t>
              </a:r>
              <a:endParaRPr lang="en-US" altLang="ko-KR" sz="16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26" name="그래픽 25" descr="배지 윤곽선">
            <a:extLst>
              <a:ext uri="{FF2B5EF4-FFF2-40B4-BE49-F238E27FC236}">
                <a16:creationId xmlns:a16="http://schemas.microsoft.com/office/drawing/2014/main" id="{E317067E-0BBB-8D77-5A79-4CE8C4A46E3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165605" y="4082472"/>
            <a:ext cx="498764" cy="498764"/>
          </a:xfrm>
          <a:prstGeom prst="rect">
            <a:avLst/>
          </a:prstGeom>
        </p:spPr>
      </p:pic>
      <p:pic>
        <p:nvPicPr>
          <p:cNvPr id="28" name="그래픽 27" descr="배지 1 윤곽선">
            <a:extLst>
              <a:ext uri="{FF2B5EF4-FFF2-40B4-BE49-F238E27FC236}">
                <a16:creationId xmlns:a16="http://schemas.microsoft.com/office/drawing/2014/main" id="{B379C5F4-D5D9-1CA1-E3A8-A9A0627D7EC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628296" y="1943016"/>
            <a:ext cx="429853" cy="429853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60C6E7EF-DFAF-4864-EA92-CC62F827139E}"/>
              </a:ext>
            </a:extLst>
          </p:cNvPr>
          <p:cNvSpPr/>
          <p:nvPr/>
        </p:nvSpPr>
        <p:spPr>
          <a:xfrm>
            <a:off x="415635" y="2687781"/>
            <a:ext cx="563420" cy="22934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82DE285E-8931-B5B2-C87F-883B92A30343}"/>
              </a:ext>
            </a:extLst>
          </p:cNvPr>
          <p:cNvCxnSpPr>
            <a:cxnSpLocks/>
          </p:cNvCxnSpPr>
          <p:nvPr/>
        </p:nvCxnSpPr>
        <p:spPr>
          <a:xfrm flipV="1">
            <a:off x="979055" y="2576945"/>
            <a:ext cx="1458479" cy="22336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7A64695-F0BD-F33D-FF6C-624B7344CE3D}"/>
              </a:ext>
            </a:extLst>
          </p:cNvPr>
          <p:cNvSpPr/>
          <p:nvPr/>
        </p:nvSpPr>
        <p:spPr>
          <a:xfrm>
            <a:off x="1195793" y="4656093"/>
            <a:ext cx="4438389" cy="185710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0167204C-6A71-2FE4-B0FA-96E6FB572CE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6196" y="2391299"/>
            <a:ext cx="2581635" cy="390580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E57B1774-D818-0A34-3B7B-11A54708A932}"/>
              </a:ext>
            </a:extLst>
          </p:cNvPr>
          <p:cNvSpPr/>
          <p:nvPr/>
        </p:nvSpPr>
        <p:spPr>
          <a:xfrm>
            <a:off x="2456196" y="2391299"/>
            <a:ext cx="2581635" cy="40901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06553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6DFA6D-684D-CFE5-37B5-9082E9BB4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 descr="텍스트, 소프트웨어, 컴퓨터 아이콘, 운영 체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0678622-D3A8-BADE-5D45-C461455454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669" y="2197602"/>
            <a:ext cx="7620698" cy="3619434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30BA8A6-54D1-A720-3D41-9FCBAF3B94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31273"/>
          </a:xfrm>
          <a:solidFill>
            <a:schemeClr val="bg2"/>
          </a:solidFill>
        </p:spPr>
        <p:txBody>
          <a:bodyPr>
            <a:normAutofit/>
          </a:bodyPr>
          <a:lstStyle/>
          <a:p>
            <a:r>
              <a:rPr lang="en-US" altLang="ko-KR" sz="2400" dirty="0">
                <a:latin typeface="+mn-ea"/>
                <a:ea typeface="+mn-ea"/>
              </a:rPr>
              <a:t>1-3) Azure</a:t>
            </a:r>
            <a:r>
              <a:rPr lang="ko-KR" altLang="en-US" sz="2400" dirty="0">
                <a:latin typeface="+mn-ea"/>
                <a:ea typeface="+mn-ea"/>
              </a:rPr>
              <a:t> 역할 권한 설정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4B64BB2-9BB6-D687-395E-3B7313D1B3F4}"/>
              </a:ext>
            </a:extLst>
          </p:cNvPr>
          <p:cNvSpPr/>
          <p:nvPr/>
        </p:nvSpPr>
        <p:spPr>
          <a:xfrm>
            <a:off x="83127" y="905164"/>
            <a:ext cx="7767782" cy="588356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E0422559-406C-AAB7-4E83-FF3FF39D5F24}"/>
              </a:ext>
            </a:extLst>
          </p:cNvPr>
          <p:cNvGrpSpPr/>
          <p:nvPr/>
        </p:nvGrpSpPr>
        <p:grpSpPr>
          <a:xfrm>
            <a:off x="7924799" y="905164"/>
            <a:ext cx="4184075" cy="3676072"/>
            <a:chOff x="7924799" y="905164"/>
            <a:chExt cx="4184075" cy="3676072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E89F1392-071A-3D30-27E4-2E82587D5377}"/>
                </a:ext>
              </a:extLst>
            </p:cNvPr>
            <p:cNvSpPr/>
            <p:nvPr/>
          </p:nvSpPr>
          <p:spPr>
            <a:xfrm>
              <a:off x="7924800" y="1274618"/>
              <a:ext cx="4184074" cy="3306618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228600" indent="-228600">
                <a:lnSpc>
                  <a:spcPct val="150000"/>
                </a:lnSpc>
                <a:buAutoNum type="arabicPeriod"/>
              </a:pPr>
              <a:r>
                <a:rPr lang="en-US" altLang="ko-KR" sz="1000" dirty="0">
                  <a:solidFill>
                    <a:schemeClr val="tx1"/>
                  </a:solidFill>
                </a:rPr>
                <a:t>Microsoft Entra </a:t>
              </a:r>
              <a:r>
                <a:rPr lang="ko-KR" altLang="en-US" sz="1000" dirty="0">
                  <a:solidFill>
                    <a:schemeClr val="tx1"/>
                  </a:solidFill>
                </a:rPr>
                <a:t>역할 및 관리자 접속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C1957F44-2F3D-8F92-F8B9-9CFA6995BA63}"/>
                </a:ext>
              </a:extLst>
            </p:cNvPr>
            <p:cNvSpPr/>
            <p:nvPr/>
          </p:nvSpPr>
          <p:spPr>
            <a:xfrm>
              <a:off x="7924799" y="905164"/>
              <a:ext cx="4184074" cy="369454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내용</a:t>
              </a: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2C5F39ED-6B2F-89BC-39D6-356E5E6896AD}"/>
              </a:ext>
            </a:extLst>
          </p:cNvPr>
          <p:cNvGrpSpPr/>
          <p:nvPr/>
        </p:nvGrpSpPr>
        <p:grpSpPr>
          <a:xfrm>
            <a:off x="7924799" y="4664363"/>
            <a:ext cx="4184075" cy="2124363"/>
            <a:chOff x="7924799" y="4664363"/>
            <a:chExt cx="4184075" cy="2124363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EA2551A2-02B7-7CCF-D033-9CDEFCB69C62}"/>
                </a:ext>
              </a:extLst>
            </p:cNvPr>
            <p:cNvSpPr/>
            <p:nvPr/>
          </p:nvSpPr>
          <p:spPr>
            <a:xfrm>
              <a:off x="7924800" y="5033817"/>
              <a:ext cx="4184074" cy="1754909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228600" indent="-228600">
                <a:lnSpc>
                  <a:spcPct val="150000"/>
                </a:lnSpc>
                <a:buAutoNum type="arabicPeriod"/>
              </a:pPr>
              <a:r>
                <a:rPr lang="en-US" altLang="ko-KR" sz="1000" dirty="0">
                  <a:solidFill>
                    <a:schemeClr val="tx1"/>
                  </a:solidFill>
                </a:rPr>
                <a:t>URL : https://portal.azure.com/</a:t>
              </a: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9DBE3FEB-2C9F-B0B6-81C1-E0F27939614D}"/>
                </a:ext>
              </a:extLst>
            </p:cNvPr>
            <p:cNvSpPr/>
            <p:nvPr/>
          </p:nvSpPr>
          <p:spPr>
            <a:xfrm>
              <a:off x="7924799" y="4664363"/>
              <a:ext cx="4184074" cy="369454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참고사항</a:t>
              </a:r>
              <a:endParaRPr lang="en-US" altLang="ko-KR" sz="16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28" name="그래픽 27" descr="배지 1 윤곽선">
            <a:extLst>
              <a:ext uri="{FF2B5EF4-FFF2-40B4-BE49-F238E27FC236}">
                <a16:creationId xmlns:a16="http://schemas.microsoft.com/office/drawing/2014/main" id="{0E8A3A0A-7F3F-E021-C6E8-A0EAC4BF651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36505" y="2542374"/>
            <a:ext cx="429853" cy="429853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7A927335-C028-3B86-7F66-D56E35CA219D}"/>
              </a:ext>
            </a:extLst>
          </p:cNvPr>
          <p:cNvSpPr/>
          <p:nvPr/>
        </p:nvSpPr>
        <p:spPr>
          <a:xfrm>
            <a:off x="2875579" y="2179166"/>
            <a:ext cx="2222893" cy="191253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D54DCCBE-F9DC-E41D-F608-35E4C3E2BC2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62944" y="3020258"/>
            <a:ext cx="2048161" cy="371527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146308BB-2CA3-B948-6E8A-9C9B2B60E1E0}"/>
              </a:ext>
            </a:extLst>
          </p:cNvPr>
          <p:cNvSpPr/>
          <p:nvPr/>
        </p:nvSpPr>
        <p:spPr>
          <a:xfrm>
            <a:off x="2981053" y="3020258"/>
            <a:ext cx="2048161" cy="37152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25839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16DCF6-0D79-F77A-887D-6A601AF3E9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소프트웨어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1856973-0DFB-9AB5-D98A-640C18FF7F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509" y="1026822"/>
            <a:ext cx="6770255" cy="3215340"/>
          </a:xfrm>
          <a:prstGeom prst="rect">
            <a:avLst/>
          </a:prstGeom>
        </p:spPr>
      </p:pic>
      <p:pic>
        <p:nvPicPr>
          <p:cNvPr id="13" name="그림 12" descr="텍스트, 스크린샷, 소프트웨어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446EE30-DC8C-A87E-B7A4-A30E737FC2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052" y="3796144"/>
            <a:ext cx="5731165" cy="2727699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29137384-3C03-E7A9-8EF8-723194FFE1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31273"/>
          </a:xfrm>
          <a:solidFill>
            <a:schemeClr val="bg2"/>
          </a:solidFill>
        </p:spPr>
        <p:txBody>
          <a:bodyPr>
            <a:normAutofit/>
          </a:bodyPr>
          <a:lstStyle/>
          <a:p>
            <a:r>
              <a:rPr lang="en-US" altLang="ko-KR" sz="2400" dirty="0">
                <a:latin typeface="+mn-ea"/>
                <a:ea typeface="+mn-ea"/>
              </a:rPr>
              <a:t>1-4) Azure</a:t>
            </a:r>
            <a:r>
              <a:rPr lang="ko-KR" altLang="en-US" sz="2400" dirty="0">
                <a:latin typeface="+mn-ea"/>
                <a:ea typeface="+mn-ea"/>
              </a:rPr>
              <a:t> 역할 권한 설정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89F7364-47FB-ADD5-88CD-B748E8FBA6D0}"/>
              </a:ext>
            </a:extLst>
          </p:cNvPr>
          <p:cNvSpPr/>
          <p:nvPr/>
        </p:nvSpPr>
        <p:spPr>
          <a:xfrm>
            <a:off x="83127" y="905164"/>
            <a:ext cx="7767782" cy="588356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6CD0EE24-C787-2C86-FC08-32A167A33945}"/>
              </a:ext>
            </a:extLst>
          </p:cNvPr>
          <p:cNvGrpSpPr/>
          <p:nvPr/>
        </p:nvGrpSpPr>
        <p:grpSpPr>
          <a:xfrm>
            <a:off x="7924799" y="905164"/>
            <a:ext cx="4184075" cy="3676072"/>
            <a:chOff x="7924799" y="905164"/>
            <a:chExt cx="4184075" cy="3676072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1F8F93EF-B2DF-157C-9C68-6500CDE64619}"/>
                </a:ext>
              </a:extLst>
            </p:cNvPr>
            <p:cNvSpPr/>
            <p:nvPr/>
          </p:nvSpPr>
          <p:spPr>
            <a:xfrm>
              <a:off x="7924800" y="1274618"/>
              <a:ext cx="4184074" cy="3306618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228600" indent="-228600">
                <a:lnSpc>
                  <a:spcPct val="150000"/>
                </a:lnSpc>
                <a:buAutoNum type="arabicPeriod"/>
              </a:pPr>
              <a:r>
                <a:rPr lang="ko-KR" altLang="en-US" sz="1000" dirty="0">
                  <a:solidFill>
                    <a:schemeClr val="tx1"/>
                  </a:solidFill>
                </a:rPr>
                <a:t>부여할 권한 검색 후 권한 클릭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r>
                <a:rPr lang="ko-KR" altLang="en-US" sz="1000" dirty="0">
                  <a:solidFill>
                    <a:schemeClr val="tx1"/>
                  </a:solidFill>
                </a:rPr>
                <a:t>부여할 계정 검색 후 추가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1000" dirty="0">
                  <a:solidFill>
                    <a:schemeClr val="tx1"/>
                  </a:solidFill>
                </a:rPr>
                <a:t>필요한 권한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marL="685800" lvl="1" indent="-228600">
                <a:lnSpc>
                  <a:spcPct val="150000"/>
                </a:lnSpc>
                <a:buAutoNum type="arabicPeriod"/>
              </a:pPr>
              <a:r>
                <a:rPr lang="ko-KR" altLang="en-US" sz="1000" dirty="0">
                  <a:solidFill>
                    <a:schemeClr val="tx1"/>
                  </a:solidFill>
                </a:rPr>
                <a:t>권한 있는 인증 관리자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marL="685800" lvl="1" indent="-228600">
                <a:lnSpc>
                  <a:spcPct val="150000"/>
                </a:lnSpc>
                <a:buAutoNum type="arabicPeriod"/>
              </a:pPr>
              <a:r>
                <a:rPr lang="ko-KR" altLang="en-US" sz="1000" dirty="0">
                  <a:solidFill>
                    <a:schemeClr val="tx1"/>
                  </a:solidFill>
                </a:rPr>
                <a:t>사용자 관리자</a:t>
              </a:r>
              <a:endParaRPr lang="en-US" altLang="ko-KR" sz="1000" dirty="0">
                <a:solidFill>
                  <a:schemeClr val="tx1"/>
                </a:solidFill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1B6CA990-57B3-1F26-6D4A-A49528C5FDFC}"/>
                </a:ext>
              </a:extLst>
            </p:cNvPr>
            <p:cNvSpPr/>
            <p:nvPr/>
          </p:nvSpPr>
          <p:spPr>
            <a:xfrm>
              <a:off x="7924799" y="905164"/>
              <a:ext cx="4184074" cy="369454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내용</a:t>
              </a: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BF850C46-5946-0E9C-2371-9C79B785CF3E}"/>
              </a:ext>
            </a:extLst>
          </p:cNvPr>
          <p:cNvGrpSpPr/>
          <p:nvPr/>
        </p:nvGrpSpPr>
        <p:grpSpPr>
          <a:xfrm>
            <a:off x="7924799" y="4664363"/>
            <a:ext cx="4184075" cy="2124363"/>
            <a:chOff x="7924799" y="4664363"/>
            <a:chExt cx="4184075" cy="2124363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C752A0C7-FD64-C8B7-4599-D84A304387DA}"/>
                </a:ext>
              </a:extLst>
            </p:cNvPr>
            <p:cNvSpPr/>
            <p:nvPr/>
          </p:nvSpPr>
          <p:spPr>
            <a:xfrm>
              <a:off x="7924800" y="5033817"/>
              <a:ext cx="4184074" cy="1754909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228600" indent="-228600">
                <a:lnSpc>
                  <a:spcPct val="150000"/>
                </a:lnSpc>
                <a:buAutoNum type="arabicPeriod"/>
              </a:pPr>
              <a:r>
                <a:rPr lang="ko-KR" altLang="en-US" sz="1000" dirty="0">
                  <a:solidFill>
                    <a:schemeClr val="tx1"/>
                  </a:solidFill>
                </a:rPr>
                <a:t>권한 부여 후 적용까지 약 </a:t>
              </a:r>
              <a:r>
                <a:rPr lang="en-US" altLang="ko-KR" sz="1000" dirty="0">
                  <a:solidFill>
                    <a:schemeClr val="tx1"/>
                  </a:solidFill>
                </a:rPr>
                <a:t>3~5</a:t>
              </a:r>
              <a:r>
                <a:rPr lang="ko-KR" altLang="en-US" sz="1000" dirty="0">
                  <a:solidFill>
                    <a:schemeClr val="tx1"/>
                  </a:solidFill>
                </a:rPr>
                <a:t>분 정도 소요</a:t>
              </a:r>
              <a:endParaRPr lang="en-US" altLang="ko-KR" sz="1000" dirty="0">
                <a:solidFill>
                  <a:schemeClr val="tx1"/>
                </a:solidFill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1082E43A-285D-6279-981D-2AF49F7ECCD7}"/>
                </a:ext>
              </a:extLst>
            </p:cNvPr>
            <p:cNvSpPr/>
            <p:nvPr/>
          </p:nvSpPr>
          <p:spPr>
            <a:xfrm>
              <a:off x="7924799" y="4664363"/>
              <a:ext cx="4184074" cy="369454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참고사항</a:t>
              </a:r>
              <a:endParaRPr lang="en-US" altLang="ko-KR" sz="16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28" name="그래픽 27" descr="배지 1 윤곽선">
            <a:extLst>
              <a:ext uri="{FF2B5EF4-FFF2-40B4-BE49-F238E27FC236}">
                <a16:creationId xmlns:a16="http://schemas.microsoft.com/office/drawing/2014/main" id="{26AB6621-CA21-5B2C-8FFE-AFC7958205A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752091" y="2112520"/>
            <a:ext cx="429853" cy="429853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13C7F3BA-C61C-9C72-0422-C42C0C26BBC9}"/>
              </a:ext>
            </a:extLst>
          </p:cNvPr>
          <p:cNvSpPr/>
          <p:nvPr/>
        </p:nvSpPr>
        <p:spPr>
          <a:xfrm>
            <a:off x="332508" y="2542373"/>
            <a:ext cx="6770255" cy="114293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64C210D0-9955-F1D2-F483-DC65E1486D07}"/>
              </a:ext>
            </a:extLst>
          </p:cNvPr>
          <p:cNvSpPr/>
          <p:nvPr/>
        </p:nvSpPr>
        <p:spPr>
          <a:xfrm>
            <a:off x="332507" y="2872508"/>
            <a:ext cx="2096657" cy="18472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8" name="그래픽 17" descr="배지 윤곽선">
            <a:extLst>
              <a:ext uri="{FF2B5EF4-FFF2-40B4-BE49-F238E27FC236}">
                <a16:creationId xmlns:a16="http://schemas.microsoft.com/office/drawing/2014/main" id="{0A12B45A-5B98-ADA1-7F50-F8E09EA5FF7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090317" y="3808542"/>
            <a:ext cx="498764" cy="498764"/>
          </a:xfrm>
          <a:prstGeom prst="rect">
            <a:avLst/>
          </a:prstGeom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456CA732-E1DD-5E2E-F744-54F84D9B97D0}"/>
              </a:ext>
            </a:extLst>
          </p:cNvPr>
          <p:cNvSpPr/>
          <p:nvPr/>
        </p:nvSpPr>
        <p:spPr>
          <a:xfrm>
            <a:off x="3229944" y="4325290"/>
            <a:ext cx="2219511" cy="27098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988444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7ECDFE-73BC-C9CB-7158-EDBB195752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 descr="텍스트, 스크린샷, 번호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478316D-049E-05CE-7FC8-6E910D7FA8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5189" y="988787"/>
            <a:ext cx="5050256" cy="5716316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329A6028-54B0-6D8A-B509-2A54B16B72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31273"/>
          </a:xfrm>
          <a:solidFill>
            <a:schemeClr val="bg2"/>
          </a:solidFill>
        </p:spPr>
        <p:txBody>
          <a:bodyPr>
            <a:normAutofit/>
          </a:bodyPr>
          <a:lstStyle/>
          <a:p>
            <a:r>
              <a:rPr lang="en-US" altLang="ko-KR" sz="2400" dirty="0">
                <a:latin typeface="+mn-ea"/>
                <a:ea typeface="+mn-ea"/>
              </a:rPr>
              <a:t>2) Power Automate </a:t>
            </a:r>
            <a:r>
              <a:rPr lang="ko-KR" altLang="en-US" sz="2400" dirty="0">
                <a:latin typeface="+mn-ea"/>
                <a:ea typeface="+mn-ea"/>
              </a:rPr>
              <a:t>토큰 발급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D93D42F-5E11-81DB-C2E9-34A3C319EE29}"/>
              </a:ext>
            </a:extLst>
          </p:cNvPr>
          <p:cNvSpPr/>
          <p:nvPr/>
        </p:nvSpPr>
        <p:spPr>
          <a:xfrm>
            <a:off x="83127" y="905164"/>
            <a:ext cx="7767782" cy="588356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080E45DB-C447-7392-5D2B-800387F4DD56}"/>
              </a:ext>
            </a:extLst>
          </p:cNvPr>
          <p:cNvGrpSpPr/>
          <p:nvPr/>
        </p:nvGrpSpPr>
        <p:grpSpPr>
          <a:xfrm>
            <a:off x="7924799" y="905164"/>
            <a:ext cx="4184075" cy="3676072"/>
            <a:chOff x="7924799" y="905164"/>
            <a:chExt cx="4184075" cy="3676072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00057455-2121-74F3-B0D0-4ADF8ED20678}"/>
                </a:ext>
              </a:extLst>
            </p:cNvPr>
            <p:cNvSpPr/>
            <p:nvPr/>
          </p:nvSpPr>
          <p:spPr>
            <a:xfrm>
              <a:off x="7924800" y="1274618"/>
              <a:ext cx="4184074" cy="3306618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228600" indent="-228600">
                <a:lnSpc>
                  <a:spcPct val="150000"/>
                </a:lnSpc>
                <a:buAutoNum type="arabicPeriod"/>
              </a:pPr>
              <a:r>
                <a:rPr lang="en-US" altLang="ko-KR" sz="1000" dirty="0">
                  <a:solidFill>
                    <a:schemeClr val="tx1"/>
                  </a:solidFill>
                </a:rPr>
                <a:t>HTTP</a:t>
              </a:r>
              <a:r>
                <a:rPr lang="ko-KR" altLang="en-US" sz="1000" dirty="0">
                  <a:solidFill>
                    <a:schemeClr val="tx1"/>
                  </a:solidFill>
                </a:rPr>
                <a:t>를 사용하여 </a:t>
              </a:r>
              <a:r>
                <a:rPr lang="en-US" altLang="ko-KR" sz="1000" dirty="0">
                  <a:solidFill>
                    <a:schemeClr val="tx1"/>
                  </a:solidFill>
                </a:rPr>
                <a:t>Graph API</a:t>
              </a:r>
              <a:r>
                <a:rPr lang="ko-KR" altLang="en-US" sz="1000" dirty="0">
                  <a:solidFill>
                    <a:schemeClr val="tx1"/>
                  </a:solidFill>
                </a:rPr>
                <a:t>를 호출해서 토큰 값을 발급 받는다</a:t>
              </a:r>
              <a:r>
                <a:rPr lang="en-US" altLang="ko-KR" sz="1000" dirty="0">
                  <a:solidFill>
                    <a:schemeClr val="tx1"/>
                  </a:solidFill>
                </a:rPr>
                <a:t>.</a:t>
              </a: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66EA2115-9282-E692-E866-156CCA4F7EFF}"/>
                </a:ext>
              </a:extLst>
            </p:cNvPr>
            <p:cNvSpPr/>
            <p:nvPr/>
          </p:nvSpPr>
          <p:spPr>
            <a:xfrm>
              <a:off x="7924799" y="905164"/>
              <a:ext cx="4184074" cy="369454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내용</a:t>
              </a: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11893EC5-5640-C60F-86DE-363E666B9C8B}"/>
              </a:ext>
            </a:extLst>
          </p:cNvPr>
          <p:cNvGrpSpPr/>
          <p:nvPr/>
        </p:nvGrpSpPr>
        <p:grpSpPr>
          <a:xfrm>
            <a:off x="7924799" y="4664363"/>
            <a:ext cx="4184075" cy="2124363"/>
            <a:chOff x="7924799" y="4664363"/>
            <a:chExt cx="4184075" cy="2124363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E6CDC3F9-E451-15D7-9885-4EC40DA3101D}"/>
                </a:ext>
              </a:extLst>
            </p:cNvPr>
            <p:cNvSpPr/>
            <p:nvPr/>
          </p:nvSpPr>
          <p:spPr>
            <a:xfrm>
              <a:off x="7924800" y="5033817"/>
              <a:ext cx="4184074" cy="1754909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228600" indent="-228600">
                <a:lnSpc>
                  <a:spcPct val="150000"/>
                </a:lnSpc>
                <a:buAutoNum type="arabicPeriod"/>
              </a:pPr>
              <a:r>
                <a:rPr lang="en-US" altLang="ko-KR" sz="1000" dirty="0">
                  <a:solidFill>
                    <a:schemeClr val="tx1"/>
                  </a:solidFill>
                </a:rPr>
                <a:t>Client ID, Tenant ID, Client Secret</a:t>
              </a:r>
              <a:r>
                <a:rPr lang="ko-KR" altLang="en-US" sz="1000" dirty="0">
                  <a:solidFill>
                    <a:schemeClr val="tx1"/>
                  </a:solidFill>
                </a:rPr>
                <a:t>은 </a:t>
              </a:r>
              <a:r>
                <a:rPr lang="en-US" altLang="ko-KR" sz="1000" dirty="0">
                  <a:solidFill>
                    <a:schemeClr val="tx1"/>
                  </a:solidFill>
                </a:rPr>
                <a:t>Azure</a:t>
              </a:r>
              <a:r>
                <a:rPr lang="ko-KR" altLang="en-US" sz="1000" dirty="0">
                  <a:solidFill>
                    <a:schemeClr val="tx1"/>
                  </a:solidFill>
                </a:rPr>
                <a:t>에서 생성한 앱의 정보이다</a:t>
              </a:r>
              <a:r>
                <a:rPr lang="en-US" altLang="ko-KR" sz="1000" dirty="0">
                  <a:solidFill>
                    <a:schemeClr val="tx1"/>
                  </a:solidFill>
                </a:rPr>
                <a:t>.</a:t>
              </a: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9F85A4B2-5973-ADAB-673E-1E48B075CD27}"/>
                </a:ext>
              </a:extLst>
            </p:cNvPr>
            <p:cNvSpPr/>
            <p:nvPr/>
          </p:nvSpPr>
          <p:spPr>
            <a:xfrm>
              <a:off x="7924799" y="4664363"/>
              <a:ext cx="4184074" cy="369454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참고사항</a:t>
              </a:r>
              <a:endParaRPr lang="en-US" altLang="ko-KR" sz="16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28" name="그래픽 27" descr="배지 1 윤곽선">
            <a:extLst>
              <a:ext uri="{FF2B5EF4-FFF2-40B4-BE49-F238E27FC236}">
                <a16:creationId xmlns:a16="http://schemas.microsoft.com/office/drawing/2014/main" id="{870D319A-575A-24B2-2119-AA62D734478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13728" y="2648230"/>
            <a:ext cx="429853" cy="429853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4A25F1EB-06DC-FEB4-523C-09E7218C1997}"/>
              </a:ext>
            </a:extLst>
          </p:cNvPr>
          <p:cNvSpPr/>
          <p:nvPr/>
        </p:nvSpPr>
        <p:spPr>
          <a:xfrm>
            <a:off x="1782618" y="3078083"/>
            <a:ext cx="4692074" cy="353515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32109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9E8FFF-DD9A-CB40-33DF-B3DB18E735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번호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F04805D-0867-2B5B-55B6-B62729F1FC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3920" y="1275305"/>
            <a:ext cx="4639322" cy="5353797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E65F675B-70A0-0B08-AA60-6B67BFCD5C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31273"/>
          </a:xfrm>
          <a:solidFill>
            <a:schemeClr val="bg2"/>
          </a:solidFill>
        </p:spPr>
        <p:txBody>
          <a:bodyPr>
            <a:normAutofit/>
          </a:bodyPr>
          <a:lstStyle/>
          <a:p>
            <a:r>
              <a:rPr lang="en-US" altLang="ko-KR" sz="2400" dirty="0">
                <a:latin typeface="+mn-ea"/>
                <a:ea typeface="+mn-ea"/>
              </a:rPr>
              <a:t>3) Power Automate PW</a:t>
            </a:r>
            <a:r>
              <a:rPr lang="ko-KR" altLang="en-US" sz="2400" dirty="0">
                <a:latin typeface="+mn-ea"/>
                <a:ea typeface="+mn-ea"/>
              </a:rPr>
              <a:t> 초기화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757E045-8CA4-899D-CD62-B59AA4F5AC67}"/>
              </a:ext>
            </a:extLst>
          </p:cNvPr>
          <p:cNvSpPr/>
          <p:nvPr/>
        </p:nvSpPr>
        <p:spPr>
          <a:xfrm>
            <a:off x="83127" y="905164"/>
            <a:ext cx="7767782" cy="588356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3088C7A3-7EA5-D59F-268C-21C27321BA04}"/>
              </a:ext>
            </a:extLst>
          </p:cNvPr>
          <p:cNvGrpSpPr/>
          <p:nvPr/>
        </p:nvGrpSpPr>
        <p:grpSpPr>
          <a:xfrm>
            <a:off x="7924799" y="905164"/>
            <a:ext cx="4184075" cy="3676072"/>
            <a:chOff x="7924799" y="905164"/>
            <a:chExt cx="4184075" cy="3676072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F8531E39-CA2E-8D2E-AAAA-356BD8491173}"/>
                </a:ext>
              </a:extLst>
            </p:cNvPr>
            <p:cNvSpPr/>
            <p:nvPr/>
          </p:nvSpPr>
          <p:spPr>
            <a:xfrm>
              <a:off x="7924800" y="1274618"/>
              <a:ext cx="4184074" cy="3306618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228600" indent="-228600">
                <a:lnSpc>
                  <a:spcPct val="150000"/>
                </a:lnSpc>
                <a:buAutoNum type="arabicPeriod"/>
              </a:pPr>
              <a:r>
                <a:rPr lang="ko-KR" altLang="en-US" sz="1000" dirty="0">
                  <a:solidFill>
                    <a:schemeClr val="tx1"/>
                  </a:solidFill>
                </a:rPr>
                <a:t>계정 패스워드 값 변수 지정</a:t>
              </a:r>
              <a:r>
                <a:rPr lang="en-US" altLang="ko-KR" sz="1000" dirty="0">
                  <a:solidFill>
                    <a:schemeClr val="tx1"/>
                  </a:solidFill>
                </a:rPr>
                <a:t>(</a:t>
              </a:r>
              <a:r>
                <a:rPr lang="ko-KR" altLang="en-US" sz="1000" dirty="0">
                  <a:solidFill>
                    <a:schemeClr val="tx1"/>
                  </a:solidFill>
                </a:rPr>
                <a:t>임의의 알파벳 대문자</a:t>
              </a:r>
              <a:r>
                <a:rPr lang="en-US" altLang="ko-KR" sz="1000" dirty="0">
                  <a:solidFill>
                    <a:schemeClr val="tx1"/>
                  </a:solidFill>
                </a:rPr>
                <a:t>,</a:t>
              </a:r>
              <a:r>
                <a:rPr lang="ko-KR" altLang="en-US" sz="1000" dirty="0">
                  <a:solidFill>
                    <a:schemeClr val="tx1"/>
                  </a:solidFill>
                </a:rPr>
                <a:t>소문자</a:t>
              </a:r>
              <a:r>
                <a:rPr lang="en-US" altLang="ko-KR" sz="1000" dirty="0">
                  <a:solidFill>
                    <a:schemeClr val="tx1"/>
                  </a:solidFill>
                </a:rPr>
                <a:t>,</a:t>
              </a:r>
              <a:r>
                <a:rPr lang="ko-KR" altLang="en-US" sz="1000" dirty="0">
                  <a:solidFill>
                    <a:schemeClr val="tx1"/>
                  </a:solidFill>
                </a:rPr>
                <a:t>특수기호 랜덤 조합</a:t>
              </a:r>
              <a:r>
                <a:rPr lang="en-US" altLang="ko-KR" sz="1000" dirty="0">
                  <a:solidFill>
                    <a:schemeClr val="tx1"/>
                  </a:solidFill>
                </a:rPr>
                <a:t>)</a:t>
              </a: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r>
                <a:rPr lang="en-US" altLang="ko-KR" sz="1000" dirty="0">
                  <a:solidFill>
                    <a:schemeClr val="tx1"/>
                  </a:solidFill>
                </a:rPr>
                <a:t>Graph API</a:t>
              </a:r>
              <a:r>
                <a:rPr lang="ko-KR" altLang="en-US" sz="1000" dirty="0">
                  <a:solidFill>
                    <a:schemeClr val="tx1"/>
                  </a:solidFill>
                </a:rPr>
                <a:t>를 통해 계정 </a:t>
              </a:r>
              <a:r>
                <a:rPr lang="en-US" altLang="ko-KR" sz="1000" dirty="0">
                  <a:solidFill>
                    <a:schemeClr val="tx1"/>
                  </a:solidFill>
                </a:rPr>
                <a:t>PW</a:t>
              </a:r>
              <a:r>
                <a:rPr lang="ko-KR" altLang="en-US" sz="1000" dirty="0">
                  <a:solidFill>
                    <a:schemeClr val="tx1"/>
                  </a:solidFill>
                </a:rPr>
                <a:t>를 변경한다</a:t>
              </a:r>
              <a:r>
                <a:rPr lang="en-US" altLang="ko-KR" sz="1000" dirty="0">
                  <a:solidFill>
                    <a:schemeClr val="tx1"/>
                  </a:solidFill>
                </a:rPr>
                <a:t>.</a:t>
              </a: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75EC9C65-61D6-55B2-3BD7-E74D820C9A1E}"/>
                </a:ext>
              </a:extLst>
            </p:cNvPr>
            <p:cNvSpPr/>
            <p:nvPr/>
          </p:nvSpPr>
          <p:spPr>
            <a:xfrm>
              <a:off x="7924799" y="905164"/>
              <a:ext cx="4184074" cy="369454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내용</a:t>
              </a: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44810EDF-629E-24DA-49FB-12BD14C521E9}"/>
              </a:ext>
            </a:extLst>
          </p:cNvPr>
          <p:cNvGrpSpPr/>
          <p:nvPr/>
        </p:nvGrpSpPr>
        <p:grpSpPr>
          <a:xfrm>
            <a:off x="7924799" y="4664363"/>
            <a:ext cx="4184075" cy="2124363"/>
            <a:chOff x="7924799" y="4664363"/>
            <a:chExt cx="4184075" cy="2124363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CA309421-2DBC-CE53-540C-E91CF55060BA}"/>
                </a:ext>
              </a:extLst>
            </p:cNvPr>
            <p:cNvSpPr/>
            <p:nvPr/>
          </p:nvSpPr>
          <p:spPr>
            <a:xfrm>
              <a:off x="7924800" y="5033817"/>
              <a:ext cx="4184074" cy="1754909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228600" indent="-228600">
                <a:lnSpc>
                  <a:spcPct val="150000"/>
                </a:lnSpc>
                <a:buAutoNum type="arabicPeriod"/>
              </a:pPr>
              <a:r>
                <a:rPr lang="en-US" altLang="ko-KR" sz="1000" dirty="0" err="1">
                  <a:solidFill>
                    <a:schemeClr val="tx1"/>
                  </a:solidFill>
                </a:rPr>
                <a:t>forceChangePasswordNextSignIn</a:t>
              </a:r>
              <a:r>
                <a:rPr lang="en-US" altLang="ko-KR" sz="1000" dirty="0">
                  <a:solidFill>
                    <a:schemeClr val="tx1"/>
                  </a:solidFill>
                </a:rPr>
                <a:t>: true </a:t>
              </a:r>
              <a:r>
                <a:rPr lang="ko-KR" altLang="en-US" sz="1000" dirty="0">
                  <a:solidFill>
                    <a:schemeClr val="tx1"/>
                  </a:solidFill>
                </a:rPr>
                <a:t>는 로그인 시 패스워드를 재설정하도록 한다</a:t>
              </a:r>
              <a:r>
                <a:rPr lang="en-US" altLang="ko-KR" sz="1000" dirty="0">
                  <a:solidFill>
                    <a:schemeClr val="tx1"/>
                  </a:solidFill>
                </a:rPr>
                <a:t>.</a:t>
              </a: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C7EC7C07-9661-71BD-3312-9DFE54C261E4}"/>
                </a:ext>
              </a:extLst>
            </p:cNvPr>
            <p:cNvSpPr/>
            <p:nvPr/>
          </p:nvSpPr>
          <p:spPr>
            <a:xfrm>
              <a:off x="7924799" y="4664363"/>
              <a:ext cx="4184074" cy="369454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참고사항</a:t>
              </a:r>
              <a:endParaRPr lang="en-US" altLang="ko-KR" sz="16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28" name="그래픽 27" descr="배지 1 윤곽선">
            <a:extLst>
              <a:ext uri="{FF2B5EF4-FFF2-40B4-BE49-F238E27FC236}">
                <a16:creationId xmlns:a16="http://schemas.microsoft.com/office/drawing/2014/main" id="{F8E8CD51-0A45-02BE-F06E-08DAAFDE4E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74455" y="1752303"/>
            <a:ext cx="429853" cy="429853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63FB9C9D-A7D2-8045-08CB-063F9E2E58F8}"/>
              </a:ext>
            </a:extLst>
          </p:cNvPr>
          <p:cNvSpPr/>
          <p:nvPr/>
        </p:nvSpPr>
        <p:spPr>
          <a:xfrm>
            <a:off x="1998878" y="1313937"/>
            <a:ext cx="4692074" cy="113369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" name="그래픽 10" descr="배지 윤곽선">
            <a:extLst>
              <a:ext uri="{FF2B5EF4-FFF2-40B4-BE49-F238E27FC236}">
                <a16:creationId xmlns:a16="http://schemas.microsoft.com/office/drawing/2014/main" id="{F3B199C9-528C-D536-DB05-95E6B1AD335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574455" y="4164264"/>
            <a:ext cx="498764" cy="498764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8CE20F80-CF39-60A8-5CBB-2C5F15DFE7AF}"/>
              </a:ext>
            </a:extLst>
          </p:cNvPr>
          <p:cNvSpPr/>
          <p:nvPr/>
        </p:nvSpPr>
        <p:spPr>
          <a:xfrm>
            <a:off x="1996210" y="2696956"/>
            <a:ext cx="4692074" cy="393214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83815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354FA1-3F01-45E9-86AD-AD13B0F6A0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번호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55A788F-4466-016D-44E0-5EF31AD4F7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3920" y="1275305"/>
            <a:ext cx="4639322" cy="5353797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6ED2DF55-45E6-DEC8-156A-57A426CEB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31273"/>
          </a:xfrm>
          <a:solidFill>
            <a:schemeClr val="bg2"/>
          </a:solidFill>
        </p:spPr>
        <p:txBody>
          <a:bodyPr>
            <a:normAutofit/>
          </a:bodyPr>
          <a:lstStyle/>
          <a:p>
            <a:r>
              <a:rPr lang="en-US" altLang="ko-KR" sz="2400" dirty="0">
                <a:latin typeface="+mn-ea"/>
                <a:ea typeface="+mn-ea"/>
              </a:rPr>
              <a:t>4-1) Power Automate PW</a:t>
            </a:r>
            <a:r>
              <a:rPr lang="ko-KR" altLang="en-US" sz="2400" dirty="0">
                <a:latin typeface="+mn-ea"/>
                <a:ea typeface="+mn-ea"/>
              </a:rPr>
              <a:t> 초기화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DB940A5-8DEE-9447-517E-5D41E4036F85}"/>
              </a:ext>
            </a:extLst>
          </p:cNvPr>
          <p:cNvSpPr/>
          <p:nvPr/>
        </p:nvSpPr>
        <p:spPr>
          <a:xfrm>
            <a:off x="83127" y="905164"/>
            <a:ext cx="7767782" cy="588356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BB0BE0E2-2257-3600-79C8-4073D85C796D}"/>
              </a:ext>
            </a:extLst>
          </p:cNvPr>
          <p:cNvGrpSpPr/>
          <p:nvPr/>
        </p:nvGrpSpPr>
        <p:grpSpPr>
          <a:xfrm>
            <a:off x="7924799" y="905164"/>
            <a:ext cx="4184075" cy="3676072"/>
            <a:chOff x="7924799" y="905164"/>
            <a:chExt cx="4184075" cy="3676072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21CF9047-BE54-6A26-DA19-EF9213510CCA}"/>
                </a:ext>
              </a:extLst>
            </p:cNvPr>
            <p:cNvSpPr/>
            <p:nvPr/>
          </p:nvSpPr>
          <p:spPr>
            <a:xfrm>
              <a:off x="7924800" y="1274618"/>
              <a:ext cx="4184074" cy="3306618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228600" indent="-228600">
                <a:lnSpc>
                  <a:spcPct val="150000"/>
                </a:lnSpc>
                <a:buAutoNum type="arabicPeriod"/>
              </a:pPr>
              <a:r>
                <a:rPr lang="ko-KR" altLang="en-US" sz="1000" dirty="0">
                  <a:solidFill>
                    <a:schemeClr val="tx1"/>
                  </a:solidFill>
                </a:rPr>
                <a:t>계정 패스워드 값 변수 지정</a:t>
              </a:r>
              <a:r>
                <a:rPr lang="en-US" altLang="ko-KR" sz="1000" dirty="0">
                  <a:solidFill>
                    <a:schemeClr val="tx1"/>
                  </a:solidFill>
                </a:rPr>
                <a:t>(</a:t>
              </a:r>
              <a:r>
                <a:rPr lang="ko-KR" altLang="en-US" sz="1000" dirty="0">
                  <a:solidFill>
                    <a:schemeClr val="tx1"/>
                  </a:solidFill>
                </a:rPr>
                <a:t>임의의 알파벳 대문자</a:t>
              </a:r>
              <a:r>
                <a:rPr lang="en-US" altLang="ko-KR" sz="1000" dirty="0">
                  <a:solidFill>
                    <a:schemeClr val="tx1"/>
                  </a:solidFill>
                </a:rPr>
                <a:t>,</a:t>
              </a:r>
              <a:r>
                <a:rPr lang="ko-KR" altLang="en-US" sz="1000" dirty="0">
                  <a:solidFill>
                    <a:schemeClr val="tx1"/>
                  </a:solidFill>
                </a:rPr>
                <a:t>소문자</a:t>
              </a:r>
              <a:r>
                <a:rPr lang="en-US" altLang="ko-KR" sz="1000" dirty="0">
                  <a:solidFill>
                    <a:schemeClr val="tx1"/>
                  </a:solidFill>
                </a:rPr>
                <a:t>,</a:t>
              </a:r>
              <a:r>
                <a:rPr lang="ko-KR" altLang="en-US" sz="1000" dirty="0">
                  <a:solidFill>
                    <a:schemeClr val="tx1"/>
                  </a:solidFill>
                </a:rPr>
                <a:t>특수기호 랜덤 조합</a:t>
              </a:r>
              <a:r>
                <a:rPr lang="en-US" altLang="ko-KR" sz="1000" dirty="0">
                  <a:solidFill>
                    <a:schemeClr val="tx1"/>
                  </a:solidFill>
                </a:rPr>
                <a:t>)</a:t>
              </a: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r>
                <a:rPr lang="en-US" altLang="ko-KR" sz="1000" dirty="0">
                  <a:solidFill>
                    <a:schemeClr val="tx1"/>
                  </a:solidFill>
                </a:rPr>
                <a:t>Graph API</a:t>
              </a:r>
              <a:r>
                <a:rPr lang="ko-KR" altLang="en-US" sz="1000" dirty="0">
                  <a:solidFill>
                    <a:schemeClr val="tx1"/>
                  </a:solidFill>
                </a:rPr>
                <a:t>를 통해 계정 </a:t>
              </a:r>
              <a:r>
                <a:rPr lang="en-US" altLang="ko-KR" sz="1000" dirty="0">
                  <a:solidFill>
                    <a:schemeClr val="tx1"/>
                  </a:solidFill>
                </a:rPr>
                <a:t>PW</a:t>
              </a:r>
              <a:r>
                <a:rPr lang="ko-KR" altLang="en-US" sz="1000" dirty="0">
                  <a:solidFill>
                    <a:schemeClr val="tx1"/>
                  </a:solidFill>
                </a:rPr>
                <a:t>를 변경한다</a:t>
              </a:r>
              <a:r>
                <a:rPr lang="en-US" altLang="ko-KR" sz="1000" dirty="0">
                  <a:solidFill>
                    <a:schemeClr val="tx1"/>
                  </a:solidFill>
                </a:rPr>
                <a:t>.</a:t>
              </a: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B8ADB566-7137-CACC-B765-184B029C134D}"/>
                </a:ext>
              </a:extLst>
            </p:cNvPr>
            <p:cNvSpPr/>
            <p:nvPr/>
          </p:nvSpPr>
          <p:spPr>
            <a:xfrm>
              <a:off x="7924799" y="905164"/>
              <a:ext cx="4184074" cy="369454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내용</a:t>
              </a: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0EBEA98E-A73E-D273-1590-4384C5C2EF24}"/>
              </a:ext>
            </a:extLst>
          </p:cNvPr>
          <p:cNvGrpSpPr/>
          <p:nvPr/>
        </p:nvGrpSpPr>
        <p:grpSpPr>
          <a:xfrm>
            <a:off x="7924799" y="4664363"/>
            <a:ext cx="4184075" cy="2124363"/>
            <a:chOff x="7924799" y="4664363"/>
            <a:chExt cx="4184075" cy="2124363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A887D03D-F3D9-F574-8152-F8A10E0F5F0E}"/>
                </a:ext>
              </a:extLst>
            </p:cNvPr>
            <p:cNvSpPr/>
            <p:nvPr/>
          </p:nvSpPr>
          <p:spPr>
            <a:xfrm>
              <a:off x="7924800" y="5033817"/>
              <a:ext cx="4184074" cy="1754909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228600" indent="-228600">
                <a:lnSpc>
                  <a:spcPct val="150000"/>
                </a:lnSpc>
                <a:buAutoNum type="arabicPeriod"/>
              </a:pPr>
              <a:r>
                <a:rPr lang="en-US" altLang="ko-KR" sz="1000" dirty="0" err="1">
                  <a:solidFill>
                    <a:schemeClr val="tx1"/>
                  </a:solidFill>
                </a:rPr>
                <a:t>forceChangePasswordNextSignIn</a:t>
              </a:r>
              <a:r>
                <a:rPr lang="en-US" altLang="ko-KR" sz="1000" dirty="0">
                  <a:solidFill>
                    <a:schemeClr val="tx1"/>
                  </a:solidFill>
                </a:rPr>
                <a:t>: true </a:t>
              </a:r>
              <a:r>
                <a:rPr lang="ko-KR" altLang="en-US" sz="1000" dirty="0">
                  <a:solidFill>
                    <a:schemeClr val="tx1"/>
                  </a:solidFill>
                </a:rPr>
                <a:t>는 로그인 시 패스워드를 재설정하도록 한다</a:t>
              </a:r>
              <a:r>
                <a:rPr lang="en-US" altLang="ko-KR" sz="1000" dirty="0">
                  <a:solidFill>
                    <a:schemeClr val="tx1"/>
                  </a:solidFill>
                </a:rPr>
                <a:t>.</a:t>
              </a: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B3928D13-53A8-2824-5F50-863379769400}"/>
                </a:ext>
              </a:extLst>
            </p:cNvPr>
            <p:cNvSpPr/>
            <p:nvPr/>
          </p:nvSpPr>
          <p:spPr>
            <a:xfrm>
              <a:off x="7924799" y="4664363"/>
              <a:ext cx="4184074" cy="369454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참고사항</a:t>
              </a:r>
              <a:endParaRPr lang="en-US" altLang="ko-KR" sz="16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28" name="그래픽 27" descr="배지 1 윤곽선">
            <a:extLst>
              <a:ext uri="{FF2B5EF4-FFF2-40B4-BE49-F238E27FC236}">
                <a16:creationId xmlns:a16="http://schemas.microsoft.com/office/drawing/2014/main" id="{65095FDF-1B1A-2587-A849-D03E7102C54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74455" y="1752303"/>
            <a:ext cx="429853" cy="429853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38F2E091-6388-21D6-E944-F813D6847800}"/>
              </a:ext>
            </a:extLst>
          </p:cNvPr>
          <p:cNvSpPr/>
          <p:nvPr/>
        </p:nvSpPr>
        <p:spPr>
          <a:xfrm>
            <a:off x="1998878" y="1313937"/>
            <a:ext cx="4692074" cy="113369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" name="그래픽 10" descr="배지 윤곽선">
            <a:extLst>
              <a:ext uri="{FF2B5EF4-FFF2-40B4-BE49-F238E27FC236}">
                <a16:creationId xmlns:a16="http://schemas.microsoft.com/office/drawing/2014/main" id="{4E8364FE-BDD1-FE60-CDAF-CC9042D1898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574455" y="4164264"/>
            <a:ext cx="498764" cy="498764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5224699D-88FD-D924-4ED7-4ABD5CEE91E4}"/>
              </a:ext>
            </a:extLst>
          </p:cNvPr>
          <p:cNvSpPr/>
          <p:nvPr/>
        </p:nvSpPr>
        <p:spPr>
          <a:xfrm>
            <a:off x="1996210" y="2696956"/>
            <a:ext cx="4692074" cy="393214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89542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978AF6-1807-A55B-6C9D-2667E881B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 descr="텍스트, 스크린샷, 소프트웨어, 디스플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9F2735A-5C12-C004-BD79-E69FF2914E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5466" y="1037891"/>
            <a:ext cx="5446418" cy="559121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442D1973-BF75-12F7-DB5C-BE30563E68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31273"/>
          </a:xfrm>
          <a:solidFill>
            <a:schemeClr val="bg2"/>
          </a:solidFill>
        </p:spPr>
        <p:txBody>
          <a:bodyPr>
            <a:normAutofit/>
          </a:bodyPr>
          <a:lstStyle/>
          <a:p>
            <a:r>
              <a:rPr lang="en-US" altLang="ko-KR" sz="2400" dirty="0">
                <a:latin typeface="+mn-ea"/>
                <a:ea typeface="+mn-ea"/>
              </a:rPr>
              <a:t>4-3) Power Automate PW</a:t>
            </a:r>
            <a:r>
              <a:rPr lang="ko-KR" altLang="en-US" sz="2400" dirty="0">
                <a:latin typeface="+mn-ea"/>
                <a:ea typeface="+mn-ea"/>
              </a:rPr>
              <a:t> 초기화 확인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EB1B54B-E2CD-5437-D849-D376C7251EDC}"/>
              </a:ext>
            </a:extLst>
          </p:cNvPr>
          <p:cNvSpPr/>
          <p:nvPr/>
        </p:nvSpPr>
        <p:spPr>
          <a:xfrm>
            <a:off x="83127" y="905164"/>
            <a:ext cx="7767782" cy="588356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AA43BD1A-C365-F309-8C04-BB372CA92949}"/>
              </a:ext>
            </a:extLst>
          </p:cNvPr>
          <p:cNvGrpSpPr/>
          <p:nvPr/>
        </p:nvGrpSpPr>
        <p:grpSpPr>
          <a:xfrm>
            <a:off x="7924799" y="905164"/>
            <a:ext cx="4184075" cy="3676072"/>
            <a:chOff x="7924799" y="905164"/>
            <a:chExt cx="4184075" cy="3676072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6524994D-E3D6-A073-AC64-6B16400EEC32}"/>
                </a:ext>
              </a:extLst>
            </p:cNvPr>
            <p:cNvSpPr/>
            <p:nvPr/>
          </p:nvSpPr>
          <p:spPr>
            <a:xfrm>
              <a:off x="7924800" y="1274618"/>
              <a:ext cx="4184074" cy="3306618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228600" indent="-228600">
                <a:lnSpc>
                  <a:spcPct val="150000"/>
                </a:lnSpc>
                <a:buAutoNum type="arabicPeriod"/>
              </a:pPr>
              <a:r>
                <a:rPr lang="en-US" altLang="ko-KR" sz="1000" dirty="0">
                  <a:solidFill>
                    <a:schemeClr val="tx1"/>
                  </a:solidFill>
                </a:rPr>
                <a:t>PW</a:t>
              </a:r>
              <a:r>
                <a:rPr lang="ko-KR" altLang="en-US" sz="1000" dirty="0">
                  <a:solidFill>
                    <a:schemeClr val="tx1"/>
                  </a:solidFill>
                </a:rPr>
                <a:t>가 정상적으로 변경되었는지 </a:t>
              </a:r>
              <a:r>
                <a:rPr lang="en-US" altLang="ko-KR" sz="1000" dirty="0" err="1">
                  <a:solidFill>
                    <a:schemeClr val="tx1"/>
                  </a:solidFill>
                </a:rPr>
                <a:t>GraphAPI</a:t>
              </a:r>
              <a:r>
                <a:rPr lang="ko-KR" altLang="en-US" sz="1000" dirty="0">
                  <a:solidFill>
                    <a:schemeClr val="tx1"/>
                  </a:solidFill>
                </a:rPr>
                <a:t>를 사용해서 확인한다</a:t>
              </a:r>
              <a:r>
                <a:rPr lang="en-US" altLang="ko-KR" sz="1000" dirty="0">
                  <a:solidFill>
                    <a:schemeClr val="tx1"/>
                  </a:solidFill>
                </a:rPr>
                <a:t>.</a:t>
              </a:r>
            </a:p>
            <a:p>
              <a:pPr lvl="1">
                <a:lnSpc>
                  <a:spcPct val="150000"/>
                </a:lnSpc>
              </a:pPr>
              <a:r>
                <a:rPr lang="en-US" altLang="ko-KR" sz="1000" dirty="0" err="1">
                  <a:solidFill>
                    <a:schemeClr val="tx1"/>
                  </a:solidFill>
                </a:rPr>
                <a:t>forceChangePasswordNextSignIn</a:t>
              </a:r>
              <a:r>
                <a:rPr lang="en-US" altLang="ko-KR" sz="1000" dirty="0">
                  <a:solidFill>
                    <a:schemeClr val="tx1"/>
                  </a:solidFill>
                </a:rPr>
                <a:t>: true</a:t>
              </a:r>
              <a:r>
                <a:rPr lang="ko-KR" altLang="en-US" sz="1000" dirty="0">
                  <a:solidFill>
                    <a:schemeClr val="tx1"/>
                  </a:solidFill>
                </a:rPr>
                <a:t>이면 정상 변경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r>
                <a:rPr lang="ko-KR" altLang="en-US" sz="1000" dirty="0">
                  <a:solidFill>
                    <a:schemeClr val="tx1"/>
                  </a:solidFill>
                </a:rPr>
                <a:t>정상 변경이 되었으면 다음 과정 진행하기 위한 조건</a:t>
              </a:r>
              <a:endParaRPr lang="en-US" altLang="ko-KR" sz="1000" dirty="0">
                <a:solidFill>
                  <a:schemeClr val="tx1"/>
                </a:solidFill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9964B444-FA83-B524-1DF4-702B77A54D57}"/>
                </a:ext>
              </a:extLst>
            </p:cNvPr>
            <p:cNvSpPr/>
            <p:nvPr/>
          </p:nvSpPr>
          <p:spPr>
            <a:xfrm>
              <a:off x="7924799" y="905164"/>
              <a:ext cx="4184074" cy="369454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내용</a:t>
              </a: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3FA825E6-20F5-BF90-A5A8-0A15E4340477}"/>
              </a:ext>
            </a:extLst>
          </p:cNvPr>
          <p:cNvGrpSpPr/>
          <p:nvPr/>
        </p:nvGrpSpPr>
        <p:grpSpPr>
          <a:xfrm>
            <a:off x="7924799" y="4664363"/>
            <a:ext cx="4184075" cy="2124363"/>
            <a:chOff x="7924799" y="4664363"/>
            <a:chExt cx="4184075" cy="2124363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A17089D2-6EB1-8987-DDFF-0C0FE319AE8E}"/>
                </a:ext>
              </a:extLst>
            </p:cNvPr>
            <p:cNvSpPr/>
            <p:nvPr/>
          </p:nvSpPr>
          <p:spPr>
            <a:xfrm>
              <a:off x="7924800" y="5033817"/>
              <a:ext cx="4184074" cy="1754909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228600" indent="-228600">
                <a:lnSpc>
                  <a:spcPct val="150000"/>
                </a:lnSpc>
                <a:buAutoNum type="arabicPeriod"/>
              </a:pPr>
              <a:r>
                <a:rPr lang="ko-KR" altLang="en-US" sz="1000" dirty="0">
                  <a:solidFill>
                    <a:schemeClr val="tx1"/>
                  </a:solidFill>
                </a:rPr>
                <a:t>조건문 식 </a:t>
              </a:r>
              <a:r>
                <a:rPr lang="en-US" altLang="ko-KR" sz="1000" dirty="0">
                  <a:solidFill>
                    <a:schemeClr val="tx1"/>
                  </a:solidFill>
                </a:rPr>
                <a:t>: equals(coalesce(body('HTTP_PW_</a:t>
              </a:r>
              <a:r>
                <a:rPr lang="ko-KR" altLang="en-US" sz="1000" dirty="0">
                  <a:solidFill>
                    <a:schemeClr val="tx1"/>
                  </a:solidFill>
                </a:rPr>
                <a:t>변경</a:t>
              </a:r>
              <a:r>
                <a:rPr lang="en-US" altLang="ko-KR" sz="1000" dirty="0">
                  <a:solidFill>
                    <a:schemeClr val="tx1"/>
                  </a:solidFill>
                </a:rPr>
                <a:t>_</a:t>
              </a:r>
              <a:r>
                <a:rPr lang="ko-KR" altLang="en-US" sz="1000" dirty="0">
                  <a:solidFill>
                    <a:schemeClr val="tx1"/>
                  </a:solidFill>
                </a:rPr>
                <a:t>확인</a:t>
              </a:r>
              <a:r>
                <a:rPr lang="en-US" altLang="ko-KR" sz="1000" dirty="0">
                  <a:solidFill>
                    <a:schemeClr val="tx1"/>
                  </a:solidFill>
                </a:rPr>
                <a:t>')?['</a:t>
              </a:r>
              <a:r>
                <a:rPr lang="en-US" altLang="ko-KR" sz="1000" dirty="0" err="1">
                  <a:solidFill>
                    <a:schemeClr val="tx1"/>
                  </a:solidFill>
                </a:rPr>
                <a:t>passwordProfile</a:t>
              </a:r>
              <a:r>
                <a:rPr lang="en-US" altLang="ko-KR" sz="1000" dirty="0">
                  <a:solidFill>
                    <a:schemeClr val="tx1"/>
                  </a:solidFill>
                </a:rPr>
                <a:t>']?['</a:t>
              </a:r>
              <a:r>
                <a:rPr lang="en-US" altLang="ko-KR" sz="1000" dirty="0" err="1">
                  <a:solidFill>
                    <a:schemeClr val="tx1"/>
                  </a:solidFill>
                </a:rPr>
                <a:t>forceChangePasswordNextSignIn</a:t>
              </a:r>
              <a:r>
                <a:rPr lang="en-US" altLang="ko-KR" sz="1000" dirty="0">
                  <a:solidFill>
                    <a:schemeClr val="tx1"/>
                  </a:solidFill>
                </a:rPr>
                <a:t>'], false), true)</a:t>
              </a: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B9BA1273-06CA-E97B-E02A-1731ED947C2E}"/>
                </a:ext>
              </a:extLst>
            </p:cNvPr>
            <p:cNvSpPr/>
            <p:nvPr/>
          </p:nvSpPr>
          <p:spPr>
            <a:xfrm>
              <a:off x="7924799" y="4664363"/>
              <a:ext cx="4184074" cy="369454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참고사항</a:t>
              </a:r>
              <a:endParaRPr lang="en-US" altLang="ko-KR" sz="16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28" name="그래픽 27" descr="배지 1 윤곽선">
            <a:extLst>
              <a:ext uri="{FF2B5EF4-FFF2-40B4-BE49-F238E27FC236}">
                <a16:creationId xmlns:a16="http://schemas.microsoft.com/office/drawing/2014/main" id="{DB1334FE-4B8B-748B-B47B-245FED1BCF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32709" y="2611285"/>
            <a:ext cx="429853" cy="429853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08C24E91-CF95-4662-6DF9-DFE1C44F91EC}"/>
              </a:ext>
            </a:extLst>
          </p:cNvPr>
          <p:cNvSpPr/>
          <p:nvPr/>
        </p:nvSpPr>
        <p:spPr>
          <a:xfrm>
            <a:off x="1545464" y="1047269"/>
            <a:ext cx="5446417" cy="379258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" name="그래픽 10" descr="배지 윤곽선">
            <a:extLst>
              <a:ext uri="{FF2B5EF4-FFF2-40B4-BE49-F238E27FC236}">
                <a16:creationId xmlns:a16="http://schemas.microsoft.com/office/drawing/2014/main" id="{6D475FCD-97BE-D36B-70F8-A1EA49A41F6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67018" y="5204691"/>
            <a:ext cx="498764" cy="498764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C1231959-F5B1-DD57-951E-7359C1264FD7}"/>
              </a:ext>
            </a:extLst>
          </p:cNvPr>
          <p:cNvSpPr/>
          <p:nvPr/>
        </p:nvSpPr>
        <p:spPr>
          <a:xfrm>
            <a:off x="1545464" y="5136604"/>
            <a:ext cx="5446417" cy="149249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247031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46A0DC-63C2-15B2-827C-3E6506CC17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번호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E689E35-40C6-FE68-E5B0-619BDBDCE6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5923" y="977784"/>
            <a:ext cx="3830077" cy="5651317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C965366A-91AF-FE57-0172-F8C418EEB2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31273"/>
          </a:xfrm>
          <a:solidFill>
            <a:schemeClr val="bg2"/>
          </a:solidFill>
        </p:spPr>
        <p:txBody>
          <a:bodyPr>
            <a:normAutofit/>
          </a:bodyPr>
          <a:lstStyle/>
          <a:p>
            <a:r>
              <a:rPr lang="en-US" altLang="ko-KR" sz="2400" dirty="0">
                <a:latin typeface="+mn-ea"/>
                <a:ea typeface="+mn-ea"/>
              </a:rPr>
              <a:t>5) Power Automate MFA </a:t>
            </a:r>
            <a:r>
              <a:rPr lang="ko-KR" altLang="en-US" sz="2400" dirty="0">
                <a:latin typeface="+mn-ea"/>
                <a:ea typeface="+mn-ea"/>
              </a:rPr>
              <a:t>인증 해제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E3450C5-25C0-F3C8-D326-C18A63E5E349}"/>
              </a:ext>
            </a:extLst>
          </p:cNvPr>
          <p:cNvSpPr/>
          <p:nvPr/>
        </p:nvSpPr>
        <p:spPr>
          <a:xfrm>
            <a:off x="83127" y="905164"/>
            <a:ext cx="7767782" cy="588356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6C2C06E1-BD6D-15B7-1AFE-0DDADEA94F0A}"/>
              </a:ext>
            </a:extLst>
          </p:cNvPr>
          <p:cNvGrpSpPr/>
          <p:nvPr/>
        </p:nvGrpSpPr>
        <p:grpSpPr>
          <a:xfrm>
            <a:off x="7924799" y="905164"/>
            <a:ext cx="4184075" cy="3676072"/>
            <a:chOff x="7924799" y="905164"/>
            <a:chExt cx="4184075" cy="3676072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03ECE77A-1576-9184-5510-0AB70C018E98}"/>
                </a:ext>
              </a:extLst>
            </p:cNvPr>
            <p:cNvSpPr/>
            <p:nvPr/>
          </p:nvSpPr>
          <p:spPr>
            <a:xfrm>
              <a:off x="7924800" y="1274618"/>
              <a:ext cx="4184074" cy="3306618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228600" indent="-228600">
                <a:lnSpc>
                  <a:spcPct val="150000"/>
                </a:lnSpc>
                <a:buAutoNum type="arabicPeriod"/>
              </a:pPr>
              <a:r>
                <a:rPr lang="en-US" altLang="ko-KR" sz="1000" dirty="0">
                  <a:solidFill>
                    <a:schemeClr val="tx1"/>
                  </a:solidFill>
                </a:rPr>
                <a:t>MFA </a:t>
              </a:r>
              <a:r>
                <a:rPr lang="ko-KR" altLang="en-US" sz="1000" dirty="0">
                  <a:solidFill>
                    <a:schemeClr val="tx1"/>
                  </a:solidFill>
                </a:rPr>
                <a:t>인증 해제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marL="228600" indent="-228600">
                <a:lnSpc>
                  <a:spcPct val="150000"/>
                </a:lnSpc>
                <a:buAutoNum type="arabicPeriod"/>
              </a:pPr>
              <a:r>
                <a:rPr lang="ko-KR" altLang="en-US" sz="1000" dirty="0">
                  <a:solidFill>
                    <a:schemeClr val="tx1"/>
                  </a:solidFill>
                </a:rPr>
                <a:t>등록된 디바이스 데이터를 삭제하기 위해 </a:t>
              </a:r>
              <a:r>
                <a:rPr lang="en-US" altLang="ko-KR" sz="1000" dirty="0">
                  <a:solidFill>
                    <a:schemeClr val="tx1"/>
                  </a:solidFill>
                </a:rPr>
                <a:t>MFA </a:t>
              </a:r>
              <a:r>
                <a:rPr lang="ko-KR" altLang="en-US" sz="1000" dirty="0">
                  <a:solidFill>
                    <a:schemeClr val="tx1"/>
                  </a:solidFill>
                </a:rPr>
                <a:t>메소드 </a:t>
              </a:r>
              <a:r>
                <a:rPr lang="en-US" altLang="ko-KR" sz="1000" dirty="0">
                  <a:solidFill>
                    <a:schemeClr val="tx1"/>
                  </a:solidFill>
                </a:rPr>
                <a:t>ID</a:t>
              </a:r>
              <a:r>
                <a:rPr lang="ko-KR" altLang="en-US" sz="1000" dirty="0">
                  <a:solidFill>
                    <a:schemeClr val="tx1"/>
                  </a:solidFill>
                </a:rPr>
                <a:t>를 추출한다</a:t>
              </a:r>
              <a:r>
                <a:rPr lang="en-US" altLang="ko-KR" sz="1000" dirty="0">
                  <a:solidFill>
                    <a:schemeClr val="tx1"/>
                  </a:solidFill>
                </a:rPr>
                <a:t>.</a:t>
              </a: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E8E02576-79D2-B6E7-E393-E7C75FCE9AB1}"/>
                </a:ext>
              </a:extLst>
            </p:cNvPr>
            <p:cNvSpPr/>
            <p:nvPr/>
          </p:nvSpPr>
          <p:spPr>
            <a:xfrm>
              <a:off x="7924799" y="905164"/>
              <a:ext cx="4184074" cy="369454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내용</a:t>
              </a: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BF6DE227-C911-1F67-5FFF-AC46E2BE6FDB}"/>
              </a:ext>
            </a:extLst>
          </p:cNvPr>
          <p:cNvGrpSpPr/>
          <p:nvPr/>
        </p:nvGrpSpPr>
        <p:grpSpPr>
          <a:xfrm>
            <a:off x="7924799" y="4664363"/>
            <a:ext cx="4184075" cy="2124363"/>
            <a:chOff x="7924799" y="4664363"/>
            <a:chExt cx="4184075" cy="2124363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C503338F-05F4-491A-2294-FFD3CC32A001}"/>
                </a:ext>
              </a:extLst>
            </p:cNvPr>
            <p:cNvSpPr/>
            <p:nvPr/>
          </p:nvSpPr>
          <p:spPr>
            <a:xfrm>
              <a:off x="7924800" y="5033817"/>
              <a:ext cx="4184074" cy="1754909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FB7B6FF7-2EF0-39C6-CB2C-62B554E5CBB7}"/>
                </a:ext>
              </a:extLst>
            </p:cNvPr>
            <p:cNvSpPr/>
            <p:nvPr/>
          </p:nvSpPr>
          <p:spPr>
            <a:xfrm>
              <a:off x="7924799" y="4664363"/>
              <a:ext cx="4184074" cy="369454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참고사항</a:t>
              </a:r>
              <a:endParaRPr lang="en-US" altLang="ko-KR" sz="16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28" name="그래픽 27" descr="배지 1 윤곽선">
            <a:extLst>
              <a:ext uri="{FF2B5EF4-FFF2-40B4-BE49-F238E27FC236}">
                <a16:creationId xmlns:a16="http://schemas.microsoft.com/office/drawing/2014/main" id="{D0C79C6D-CED6-8C2B-E5AB-6BA3F2CCB20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685290" y="2261359"/>
            <a:ext cx="429853" cy="429853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1E68545A-FDAF-BE39-3E19-5D3A82DC2FC2}"/>
              </a:ext>
            </a:extLst>
          </p:cNvPr>
          <p:cNvSpPr/>
          <p:nvPr/>
        </p:nvSpPr>
        <p:spPr>
          <a:xfrm>
            <a:off x="2265923" y="1020035"/>
            <a:ext cx="3830078" cy="293312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" name="그래픽 10" descr="배지 윤곽선">
            <a:extLst>
              <a:ext uri="{FF2B5EF4-FFF2-40B4-BE49-F238E27FC236}">
                <a16:creationId xmlns:a16="http://schemas.microsoft.com/office/drawing/2014/main" id="{B8FD05FB-138F-64A1-03E9-8506E406655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650834" y="5121563"/>
            <a:ext cx="498764" cy="498764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FB8BEA25-338A-4F35-9186-FAE7A7F7E8EE}"/>
              </a:ext>
            </a:extLst>
          </p:cNvPr>
          <p:cNvSpPr/>
          <p:nvPr/>
        </p:nvSpPr>
        <p:spPr>
          <a:xfrm>
            <a:off x="2265923" y="4166788"/>
            <a:ext cx="3830077" cy="246231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459466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976700-1F7D-2772-11DB-70340E9BD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 descr="텍스트, 스크린샷, 디스플레이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8AE2DF8-5111-3C31-A185-F5C01809C4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7066" y="2438399"/>
            <a:ext cx="4658375" cy="3019846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C3C9D661-9C20-4157-9BF1-B4EBBE037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31273"/>
          </a:xfrm>
          <a:solidFill>
            <a:schemeClr val="bg2"/>
          </a:solidFill>
        </p:spPr>
        <p:txBody>
          <a:bodyPr>
            <a:normAutofit/>
          </a:bodyPr>
          <a:lstStyle/>
          <a:p>
            <a:r>
              <a:rPr lang="en-US" altLang="ko-KR" sz="2400" dirty="0">
                <a:latin typeface="+mn-ea"/>
                <a:ea typeface="+mn-ea"/>
              </a:rPr>
              <a:t>5) Power Automate MFA </a:t>
            </a:r>
            <a:r>
              <a:rPr lang="ko-KR" altLang="en-US" sz="2400" dirty="0">
                <a:latin typeface="+mn-ea"/>
                <a:ea typeface="+mn-ea"/>
              </a:rPr>
              <a:t>디바이스 삭제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0A67D34-9FC1-58AA-3A63-61AF1ED5957E}"/>
              </a:ext>
            </a:extLst>
          </p:cNvPr>
          <p:cNvSpPr/>
          <p:nvPr/>
        </p:nvSpPr>
        <p:spPr>
          <a:xfrm>
            <a:off x="83127" y="905164"/>
            <a:ext cx="7767782" cy="588356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B3B62E41-531B-D637-D235-65146F80BD20}"/>
              </a:ext>
            </a:extLst>
          </p:cNvPr>
          <p:cNvGrpSpPr/>
          <p:nvPr/>
        </p:nvGrpSpPr>
        <p:grpSpPr>
          <a:xfrm>
            <a:off x="7924799" y="905164"/>
            <a:ext cx="4184075" cy="3676072"/>
            <a:chOff x="7924799" y="905164"/>
            <a:chExt cx="4184075" cy="3676072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4335A6A9-BCFF-0B65-60B2-35519B16010D}"/>
                </a:ext>
              </a:extLst>
            </p:cNvPr>
            <p:cNvSpPr/>
            <p:nvPr/>
          </p:nvSpPr>
          <p:spPr>
            <a:xfrm>
              <a:off x="7924800" y="1274618"/>
              <a:ext cx="4184074" cy="3306618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228600" indent="-228600">
                <a:lnSpc>
                  <a:spcPct val="150000"/>
                </a:lnSpc>
                <a:buAutoNum type="arabicPeriod"/>
              </a:pPr>
              <a:r>
                <a:rPr lang="en-US" altLang="ko-KR" sz="1000" dirty="0">
                  <a:solidFill>
                    <a:schemeClr val="tx1"/>
                  </a:solidFill>
                </a:rPr>
                <a:t>MFA </a:t>
              </a:r>
              <a:r>
                <a:rPr lang="ko-KR" altLang="en-US" sz="1000" dirty="0">
                  <a:solidFill>
                    <a:schemeClr val="tx1"/>
                  </a:solidFill>
                </a:rPr>
                <a:t>디바이스 삭제</a:t>
              </a:r>
              <a:endParaRPr lang="en-US" altLang="ko-KR" sz="1000" dirty="0">
                <a:solidFill>
                  <a:schemeClr val="tx1"/>
                </a:solidFill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A14D7F79-1850-C74E-3F7D-5B891A8DC002}"/>
                </a:ext>
              </a:extLst>
            </p:cNvPr>
            <p:cNvSpPr/>
            <p:nvPr/>
          </p:nvSpPr>
          <p:spPr>
            <a:xfrm>
              <a:off x="7924799" y="905164"/>
              <a:ext cx="4184074" cy="369454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내용</a:t>
              </a: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1C78DBBA-7ABF-268A-649A-E6FC065C1D3F}"/>
              </a:ext>
            </a:extLst>
          </p:cNvPr>
          <p:cNvGrpSpPr/>
          <p:nvPr/>
        </p:nvGrpSpPr>
        <p:grpSpPr>
          <a:xfrm>
            <a:off x="7924799" y="4664363"/>
            <a:ext cx="4184075" cy="2124363"/>
            <a:chOff x="7924799" y="4664363"/>
            <a:chExt cx="4184075" cy="2124363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5976E3BC-5B95-724D-8CA0-5A0FD4D8062D}"/>
                </a:ext>
              </a:extLst>
            </p:cNvPr>
            <p:cNvSpPr/>
            <p:nvPr/>
          </p:nvSpPr>
          <p:spPr>
            <a:xfrm>
              <a:off x="7924800" y="5033817"/>
              <a:ext cx="4184074" cy="1754909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4874A970-9C6C-05F7-BEFF-89D7D16931F7}"/>
                </a:ext>
              </a:extLst>
            </p:cNvPr>
            <p:cNvSpPr/>
            <p:nvPr/>
          </p:nvSpPr>
          <p:spPr>
            <a:xfrm>
              <a:off x="7924799" y="4664363"/>
              <a:ext cx="4184074" cy="369454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참고사항</a:t>
              </a:r>
              <a:endParaRPr lang="en-US" altLang="ko-KR" sz="16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28" name="그래픽 27" descr="배지 1 윤곽선">
            <a:extLst>
              <a:ext uri="{FF2B5EF4-FFF2-40B4-BE49-F238E27FC236}">
                <a16:creationId xmlns:a16="http://schemas.microsoft.com/office/drawing/2014/main" id="{00C2F82F-88F9-59E8-C48C-E4CBBB26BF7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51180" y="3632018"/>
            <a:ext cx="429853" cy="429853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4D54D32A-8874-38F2-CF8D-8C66DA25D0F7}"/>
              </a:ext>
            </a:extLst>
          </p:cNvPr>
          <p:cNvSpPr/>
          <p:nvPr/>
        </p:nvSpPr>
        <p:spPr>
          <a:xfrm>
            <a:off x="1656301" y="2445411"/>
            <a:ext cx="4649140" cy="301984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35077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50DF77-2C70-8540-C15C-BFAC3171F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번호, 디스플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B26D892-DDF4-A051-2082-7A9AEFFA79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33" y="1048768"/>
            <a:ext cx="4692076" cy="3423535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75754873-788C-A850-BA76-9402992D90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31273"/>
          </a:xfrm>
          <a:solidFill>
            <a:schemeClr val="bg2"/>
          </a:solidFill>
        </p:spPr>
        <p:txBody>
          <a:bodyPr>
            <a:normAutofit/>
          </a:bodyPr>
          <a:lstStyle/>
          <a:p>
            <a:r>
              <a:rPr lang="en-US" altLang="ko-KR" sz="2400" dirty="0">
                <a:latin typeface="+mn-ea"/>
                <a:ea typeface="+mn-ea"/>
              </a:rPr>
              <a:t>6) Power Automate </a:t>
            </a:r>
            <a:r>
              <a:rPr lang="ko-KR" altLang="en-US" sz="2400" dirty="0">
                <a:latin typeface="+mn-ea"/>
                <a:ea typeface="+mn-ea"/>
              </a:rPr>
              <a:t>로그인 차단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E05D706-C4D0-D0C5-0F2C-142C47FA2CFA}"/>
              </a:ext>
            </a:extLst>
          </p:cNvPr>
          <p:cNvSpPr/>
          <p:nvPr/>
        </p:nvSpPr>
        <p:spPr>
          <a:xfrm>
            <a:off x="83127" y="905164"/>
            <a:ext cx="7767782" cy="588356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006DBC97-E3DA-8F54-A1D6-D2C65D89F733}"/>
              </a:ext>
            </a:extLst>
          </p:cNvPr>
          <p:cNvGrpSpPr/>
          <p:nvPr/>
        </p:nvGrpSpPr>
        <p:grpSpPr>
          <a:xfrm>
            <a:off x="7924799" y="905164"/>
            <a:ext cx="4184075" cy="3676072"/>
            <a:chOff x="7924799" y="905164"/>
            <a:chExt cx="4184075" cy="3676072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57939CBA-8187-8F6A-BD7B-FB745125AD0B}"/>
                </a:ext>
              </a:extLst>
            </p:cNvPr>
            <p:cNvSpPr/>
            <p:nvPr/>
          </p:nvSpPr>
          <p:spPr>
            <a:xfrm>
              <a:off x="7924800" y="1274618"/>
              <a:ext cx="4184074" cy="3306618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228600" indent="-228600">
                <a:lnSpc>
                  <a:spcPct val="150000"/>
                </a:lnSpc>
                <a:buAutoNum type="arabicPeriod"/>
              </a:pPr>
              <a:r>
                <a:rPr lang="ko-KR" altLang="en-US" sz="1000" dirty="0">
                  <a:solidFill>
                    <a:schemeClr val="tx1"/>
                  </a:solidFill>
                </a:rPr>
                <a:t>로그인 차단</a:t>
              </a:r>
              <a:endParaRPr lang="en-US" altLang="ko-KR" sz="1000" dirty="0">
                <a:solidFill>
                  <a:schemeClr val="tx1"/>
                </a:solidFill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9C08F05F-54D8-A3BE-9595-33A3782D7D55}"/>
                </a:ext>
              </a:extLst>
            </p:cNvPr>
            <p:cNvSpPr/>
            <p:nvPr/>
          </p:nvSpPr>
          <p:spPr>
            <a:xfrm>
              <a:off x="7924799" y="905164"/>
              <a:ext cx="4184074" cy="369454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내용</a:t>
              </a: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EADB9C23-4CBA-5314-38D7-42EFCCBC8BB4}"/>
              </a:ext>
            </a:extLst>
          </p:cNvPr>
          <p:cNvGrpSpPr/>
          <p:nvPr/>
        </p:nvGrpSpPr>
        <p:grpSpPr>
          <a:xfrm>
            <a:off x="7924799" y="4664363"/>
            <a:ext cx="4184075" cy="2124363"/>
            <a:chOff x="7924799" y="4664363"/>
            <a:chExt cx="4184075" cy="2124363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F3B52E00-D86D-16BC-44AD-21905919C214}"/>
                </a:ext>
              </a:extLst>
            </p:cNvPr>
            <p:cNvSpPr/>
            <p:nvPr/>
          </p:nvSpPr>
          <p:spPr>
            <a:xfrm>
              <a:off x="7924800" y="5033817"/>
              <a:ext cx="4184074" cy="1754909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228600" indent="-228600">
                <a:lnSpc>
                  <a:spcPct val="150000"/>
                </a:lnSpc>
                <a:buAutoNum type="arabicPeriod"/>
              </a:pPr>
              <a:endParaRPr lang="en-US" altLang="ko-KR" sz="1000" dirty="0">
                <a:solidFill>
                  <a:schemeClr val="tx1"/>
                </a:solidFill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DD97F5FE-2AEF-65FF-63AE-E625D548A758}"/>
                </a:ext>
              </a:extLst>
            </p:cNvPr>
            <p:cNvSpPr/>
            <p:nvPr/>
          </p:nvSpPr>
          <p:spPr>
            <a:xfrm>
              <a:off x="7924799" y="4664363"/>
              <a:ext cx="4184074" cy="369454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참고사항</a:t>
              </a:r>
              <a:endParaRPr lang="en-US" altLang="ko-KR" sz="16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28" name="그래픽 27" descr="배지 1 윤곽선">
            <a:extLst>
              <a:ext uri="{FF2B5EF4-FFF2-40B4-BE49-F238E27FC236}">
                <a16:creationId xmlns:a16="http://schemas.microsoft.com/office/drawing/2014/main" id="{13C7B0A7-755B-84AD-3833-E125DABE6D5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29586" y="1148753"/>
            <a:ext cx="429853" cy="429853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43B81B79-760A-4DDE-9465-C744667F7E4D}"/>
              </a:ext>
            </a:extLst>
          </p:cNvPr>
          <p:cNvSpPr/>
          <p:nvPr/>
        </p:nvSpPr>
        <p:spPr>
          <a:xfrm>
            <a:off x="169244" y="1089890"/>
            <a:ext cx="4550538" cy="338241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3" name="그림 12" descr="텍스트, 소프트웨어, 컴퓨터 아이콘, 운영 체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3B97C8F-DA49-C5C8-FDAA-F1C687A9341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79025" y="3895030"/>
            <a:ext cx="5703180" cy="2721769"/>
          </a:xfrm>
          <a:prstGeom prst="rect">
            <a:avLst/>
          </a:prstGeom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B800D770-F2C1-FFC1-F496-83506F94D5E5}"/>
              </a:ext>
            </a:extLst>
          </p:cNvPr>
          <p:cNvSpPr/>
          <p:nvPr/>
        </p:nvSpPr>
        <p:spPr>
          <a:xfrm>
            <a:off x="1969783" y="3895030"/>
            <a:ext cx="5712421" cy="272176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71998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70FA4B-5344-8105-55C3-45CE17BEF9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3E0F77-FEC5-9FFA-5A63-B4172AEB91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31273"/>
          </a:xfrm>
          <a:solidFill>
            <a:schemeClr val="bg2"/>
          </a:solidFill>
        </p:spPr>
        <p:txBody>
          <a:bodyPr>
            <a:normAutofit/>
          </a:bodyPr>
          <a:lstStyle/>
          <a:p>
            <a:r>
              <a:rPr lang="en-US" altLang="ko-KR" sz="2400" dirty="0">
                <a:latin typeface="+mn-ea"/>
                <a:ea typeface="+mn-ea"/>
              </a:rPr>
              <a:t>6) Excel </a:t>
            </a:r>
            <a:r>
              <a:rPr lang="ko-KR" altLang="en-US" sz="2400" dirty="0">
                <a:latin typeface="+mn-ea"/>
                <a:ea typeface="+mn-ea"/>
              </a:rPr>
              <a:t>입력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9123914-07A0-985E-AC97-52386276C955}"/>
              </a:ext>
            </a:extLst>
          </p:cNvPr>
          <p:cNvSpPr/>
          <p:nvPr/>
        </p:nvSpPr>
        <p:spPr>
          <a:xfrm>
            <a:off x="83127" y="905164"/>
            <a:ext cx="7767782" cy="588356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83AAB61B-B769-BC9A-7DB9-5957EA68EA6A}"/>
              </a:ext>
            </a:extLst>
          </p:cNvPr>
          <p:cNvGrpSpPr/>
          <p:nvPr/>
        </p:nvGrpSpPr>
        <p:grpSpPr>
          <a:xfrm>
            <a:off x="7924799" y="905164"/>
            <a:ext cx="4184075" cy="3676072"/>
            <a:chOff x="7924799" y="905164"/>
            <a:chExt cx="4184075" cy="3676072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D7FE8512-E574-F55E-8DA6-1B6228929FB7}"/>
                </a:ext>
              </a:extLst>
            </p:cNvPr>
            <p:cNvSpPr/>
            <p:nvPr/>
          </p:nvSpPr>
          <p:spPr>
            <a:xfrm>
              <a:off x="7924800" y="1274618"/>
              <a:ext cx="4184074" cy="3306618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228600" indent="-228600">
                <a:lnSpc>
                  <a:spcPct val="150000"/>
                </a:lnSpc>
                <a:buAutoNum type="arabicPeriod"/>
              </a:pPr>
              <a:r>
                <a:rPr lang="ko-KR" altLang="en-US" sz="1000" dirty="0">
                  <a:solidFill>
                    <a:schemeClr val="tx1"/>
                  </a:solidFill>
                </a:rPr>
                <a:t>작업한 데이터의 </a:t>
              </a:r>
              <a:r>
                <a:rPr lang="en-US" altLang="ko-KR" sz="1000" dirty="0">
                  <a:solidFill>
                    <a:schemeClr val="tx1"/>
                  </a:solidFill>
                </a:rPr>
                <a:t>[RPA </a:t>
              </a:r>
              <a:r>
                <a:rPr lang="ko-KR" altLang="en-US" sz="1000" dirty="0">
                  <a:solidFill>
                    <a:schemeClr val="tx1"/>
                  </a:solidFill>
                </a:rPr>
                <a:t>수행 여부</a:t>
              </a:r>
              <a:r>
                <a:rPr lang="en-US" altLang="ko-KR" sz="1000" dirty="0">
                  <a:solidFill>
                    <a:schemeClr val="tx1"/>
                  </a:solidFill>
                </a:rPr>
                <a:t>] </a:t>
              </a:r>
              <a:r>
                <a:rPr lang="ko-KR" altLang="en-US" sz="1000" dirty="0">
                  <a:solidFill>
                    <a:schemeClr val="tx1"/>
                  </a:solidFill>
                </a:rPr>
                <a:t>칼럼에 </a:t>
              </a:r>
              <a:r>
                <a:rPr lang="en-US" altLang="ko-KR" sz="1000" dirty="0">
                  <a:solidFill>
                    <a:schemeClr val="tx1"/>
                  </a:solidFill>
                </a:rPr>
                <a:t>O, [</a:t>
              </a:r>
              <a:r>
                <a:rPr lang="en-US" altLang="ko-KR" sz="1000" dirty="0" err="1">
                  <a:solidFill>
                    <a:schemeClr val="tx1"/>
                  </a:solidFill>
                </a:rPr>
                <a:t>PassWord</a:t>
              </a:r>
              <a:r>
                <a:rPr lang="en-US" altLang="ko-KR" sz="1000" dirty="0">
                  <a:solidFill>
                    <a:schemeClr val="tx1"/>
                  </a:solidFill>
                </a:rPr>
                <a:t> Log], [MFA Log] </a:t>
              </a:r>
              <a:r>
                <a:rPr lang="ko-KR" altLang="en-US" sz="1000" dirty="0">
                  <a:solidFill>
                    <a:schemeClr val="tx1"/>
                  </a:solidFill>
                </a:rPr>
                <a:t>입력</a:t>
              </a:r>
              <a:endParaRPr lang="en-US" altLang="ko-KR" sz="1000" dirty="0">
                <a:solidFill>
                  <a:schemeClr val="tx1"/>
                </a:solidFill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1A811348-99AD-9EC6-AA1E-B7C1AD151D4B}"/>
                </a:ext>
              </a:extLst>
            </p:cNvPr>
            <p:cNvSpPr/>
            <p:nvPr/>
          </p:nvSpPr>
          <p:spPr>
            <a:xfrm>
              <a:off x="7924799" y="905164"/>
              <a:ext cx="4184074" cy="369454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내용</a:t>
              </a:r>
            </a:p>
          </p:txBody>
        </p:sp>
      </p:grpSp>
      <p:pic>
        <p:nvPicPr>
          <p:cNvPr id="28" name="그래픽 27" descr="배지 1 윤곽선">
            <a:extLst>
              <a:ext uri="{FF2B5EF4-FFF2-40B4-BE49-F238E27FC236}">
                <a16:creationId xmlns:a16="http://schemas.microsoft.com/office/drawing/2014/main" id="{47F0005E-54AC-F1A1-5302-1701F0C262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65943" y="2616835"/>
            <a:ext cx="429853" cy="429853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59B01653-0A54-FC6D-8518-C17C775C35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4725" y="3120579"/>
            <a:ext cx="7592291" cy="834755"/>
          </a:xfrm>
          <a:prstGeom prst="rect">
            <a:avLst/>
          </a:prstGeom>
        </p:spPr>
      </p:pic>
      <p:grpSp>
        <p:nvGrpSpPr>
          <p:cNvPr id="16" name="그룹 15">
            <a:extLst>
              <a:ext uri="{FF2B5EF4-FFF2-40B4-BE49-F238E27FC236}">
                <a16:creationId xmlns:a16="http://schemas.microsoft.com/office/drawing/2014/main" id="{D85787BD-23CE-1E52-E457-A26C18C0F4BB}"/>
              </a:ext>
            </a:extLst>
          </p:cNvPr>
          <p:cNvGrpSpPr/>
          <p:nvPr/>
        </p:nvGrpSpPr>
        <p:grpSpPr>
          <a:xfrm>
            <a:off x="7924798" y="4664363"/>
            <a:ext cx="4184075" cy="2124363"/>
            <a:chOff x="7924799" y="4664363"/>
            <a:chExt cx="4184075" cy="2124363"/>
          </a:xfrm>
        </p:grpSpPr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3E8FC9AA-9B1C-D15B-2D8F-EAC00BCF0419}"/>
                </a:ext>
              </a:extLst>
            </p:cNvPr>
            <p:cNvSpPr/>
            <p:nvPr/>
          </p:nvSpPr>
          <p:spPr>
            <a:xfrm>
              <a:off x="7924800" y="5033817"/>
              <a:ext cx="4184074" cy="1754909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228600" indent="-228600">
                <a:lnSpc>
                  <a:spcPct val="150000"/>
                </a:lnSpc>
                <a:buAutoNum type="arabicPeriod"/>
              </a:pPr>
              <a:r>
                <a:rPr lang="ko-KR" altLang="en-US" sz="1000" dirty="0">
                  <a:solidFill>
                    <a:schemeClr val="tx1"/>
                  </a:solidFill>
                </a:rPr>
                <a:t>경로 </a:t>
              </a:r>
              <a:r>
                <a:rPr lang="en-US" altLang="ko-KR" sz="1000" dirty="0">
                  <a:solidFill>
                    <a:schemeClr val="tx1"/>
                  </a:solidFill>
                </a:rPr>
                <a:t>: Teams -&gt; [RPA]</a:t>
              </a:r>
              <a:r>
                <a:rPr lang="ko-KR" altLang="en-US" sz="1000" dirty="0">
                  <a:solidFill>
                    <a:schemeClr val="tx1"/>
                  </a:solidFill>
                </a:rPr>
                <a:t>업무자동화 </a:t>
              </a:r>
              <a:r>
                <a:rPr lang="en-US" altLang="ko-KR" sz="1000" dirty="0">
                  <a:solidFill>
                    <a:schemeClr val="tx1"/>
                  </a:solidFill>
                </a:rPr>
                <a:t>-&gt; R25006_</a:t>
              </a:r>
              <a:r>
                <a:rPr lang="ko-KR" altLang="en-US" sz="1000" dirty="0">
                  <a:solidFill>
                    <a:schemeClr val="tx1"/>
                  </a:solidFill>
                </a:rPr>
                <a:t>퇴사자 계정 초기화</a:t>
              </a:r>
              <a:r>
                <a:rPr lang="en-US" altLang="ko-KR" sz="1000" dirty="0">
                  <a:solidFill>
                    <a:schemeClr val="tx1"/>
                  </a:solidFill>
                </a:rPr>
                <a:t>-&gt; </a:t>
              </a:r>
              <a:r>
                <a:rPr lang="ko-KR" altLang="en-US" sz="1000" dirty="0">
                  <a:solidFill>
                    <a:schemeClr val="tx1"/>
                  </a:solidFill>
                </a:rPr>
                <a:t>파일 </a:t>
              </a:r>
              <a:r>
                <a:rPr lang="en-US" altLang="ko-KR" sz="1000" dirty="0">
                  <a:solidFill>
                    <a:schemeClr val="tx1"/>
                  </a:solidFill>
                </a:rPr>
                <a:t>-&gt; </a:t>
              </a:r>
              <a:r>
                <a:rPr lang="ko-KR" altLang="en-US" sz="1000" dirty="0">
                  <a:solidFill>
                    <a:schemeClr val="tx1"/>
                  </a:solidFill>
                </a:rPr>
                <a:t>퇴사자</a:t>
              </a:r>
              <a:r>
                <a:rPr lang="en-US" altLang="ko-KR" sz="1000" dirty="0">
                  <a:solidFill>
                    <a:schemeClr val="tx1"/>
                  </a:solidFill>
                </a:rPr>
                <a:t>_</a:t>
              </a:r>
              <a:r>
                <a:rPr lang="ko-KR" altLang="en-US" sz="1000" dirty="0">
                  <a:solidFill>
                    <a:schemeClr val="tx1"/>
                  </a:solidFill>
                </a:rPr>
                <a:t>관리</a:t>
              </a:r>
              <a:r>
                <a:rPr lang="en-US" altLang="ko-KR" sz="1000" dirty="0">
                  <a:solidFill>
                    <a:schemeClr val="tx1"/>
                  </a:solidFill>
                </a:rPr>
                <a:t>.xlsx</a:t>
              </a: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22D3B502-4A2F-4EEE-8F05-1E005C4EDD56}"/>
                </a:ext>
              </a:extLst>
            </p:cNvPr>
            <p:cNvSpPr/>
            <p:nvPr/>
          </p:nvSpPr>
          <p:spPr>
            <a:xfrm>
              <a:off x="7924799" y="4664363"/>
              <a:ext cx="4184074" cy="369454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참고사항</a:t>
              </a:r>
              <a:endParaRPr lang="en-US" altLang="ko-KR" sz="1600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735970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1CEEC7-E730-9EA4-3810-BE2648FEB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 descr="텍스트, 스크린샷, 번호, 평행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EEF0C54-0D5D-88C5-0D2A-6BF57019E1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069" y="1089891"/>
            <a:ext cx="3210053" cy="4318000"/>
          </a:xfrm>
          <a:prstGeom prst="rect">
            <a:avLst/>
          </a:prstGeom>
        </p:spPr>
      </p:pic>
      <p:pic>
        <p:nvPicPr>
          <p:cNvPr id="7" name="그림 6" descr="텍스트, 스크린샷, 소프트웨어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992246B-4640-C0B2-8FDE-A92F0A0D26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5943" y="2616835"/>
            <a:ext cx="3752727" cy="3934545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A04D321-914F-30D8-6423-0D49CC46C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31273"/>
          </a:xfrm>
          <a:solidFill>
            <a:schemeClr val="bg2"/>
          </a:solidFill>
        </p:spPr>
        <p:txBody>
          <a:bodyPr>
            <a:normAutofit/>
          </a:bodyPr>
          <a:lstStyle/>
          <a:p>
            <a:r>
              <a:rPr lang="en-US" altLang="ko-KR" sz="2400" dirty="0">
                <a:latin typeface="+mn-ea"/>
                <a:ea typeface="+mn-ea"/>
              </a:rPr>
              <a:t>7) Teams </a:t>
            </a:r>
            <a:r>
              <a:rPr lang="ko-KR" altLang="en-US" sz="2400" dirty="0">
                <a:latin typeface="+mn-ea"/>
                <a:ea typeface="+mn-ea"/>
              </a:rPr>
              <a:t>알림 발송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765E285-1D30-A672-446D-AC1F890A1A8E}"/>
              </a:ext>
            </a:extLst>
          </p:cNvPr>
          <p:cNvSpPr/>
          <p:nvPr/>
        </p:nvSpPr>
        <p:spPr>
          <a:xfrm>
            <a:off x="83127" y="905164"/>
            <a:ext cx="7767782" cy="588356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D531D2C6-1906-A3B1-D6B7-98FD41C4A1F0}"/>
              </a:ext>
            </a:extLst>
          </p:cNvPr>
          <p:cNvGrpSpPr/>
          <p:nvPr/>
        </p:nvGrpSpPr>
        <p:grpSpPr>
          <a:xfrm>
            <a:off x="7924799" y="905164"/>
            <a:ext cx="4184075" cy="3676072"/>
            <a:chOff x="7924799" y="905164"/>
            <a:chExt cx="4184075" cy="3676072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1100537A-AB11-9FD9-20DC-56BB42E09669}"/>
                </a:ext>
              </a:extLst>
            </p:cNvPr>
            <p:cNvSpPr/>
            <p:nvPr/>
          </p:nvSpPr>
          <p:spPr>
            <a:xfrm>
              <a:off x="7924800" y="1274618"/>
              <a:ext cx="4184074" cy="3306618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228600" indent="-228600">
                <a:lnSpc>
                  <a:spcPct val="150000"/>
                </a:lnSpc>
                <a:buAutoNum type="arabicPeriod"/>
              </a:pPr>
              <a:r>
                <a:rPr lang="en-US" altLang="ko-KR" sz="1000" dirty="0">
                  <a:solidFill>
                    <a:schemeClr val="tx1"/>
                  </a:solidFill>
                </a:rPr>
                <a:t>Teams </a:t>
              </a:r>
              <a:r>
                <a:rPr lang="ko-KR" altLang="en-US" sz="1000" dirty="0">
                  <a:solidFill>
                    <a:schemeClr val="tx1"/>
                  </a:solidFill>
                </a:rPr>
                <a:t>알림 발송</a:t>
              </a:r>
              <a:endParaRPr lang="en-US" altLang="ko-KR" sz="1000" dirty="0">
                <a:solidFill>
                  <a:schemeClr val="tx1"/>
                </a:solidFill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F086DE93-C346-3740-D4FC-A7A22D4FBFF2}"/>
                </a:ext>
              </a:extLst>
            </p:cNvPr>
            <p:cNvSpPr/>
            <p:nvPr/>
          </p:nvSpPr>
          <p:spPr>
            <a:xfrm>
              <a:off x="7924799" y="905164"/>
              <a:ext cx="4184074" cy="369454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내용</a:t>
              </a:r>
            </a:p>
          </p:txBody>
        </p:sp>
      </p:grpSp>
      <p:pic>
        <p:nvPicPr>
          <p:cNvPr id="28" name="그래픽 27" descr="배지 1 윤곽선">
            <a:extLst>
              <a:ext uri="{FF2B5EF4-FFF2-40B4-BE49-F238E27FC236}">
                <a16:creationId xmlns:a16="http://schemas.microsoft.com/office/drawing/2014/main" id="{3DCA5154-8D6A-B657-640C-7C5B0FF002C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765943" y="2616835"/>
            <a:ext cx="429853" cy="429853"/>
          </a:xfrm>
          <a:prstGeom prst="rect">
            <a:avLst/>
          </a:prstGeom>
        </p:spPr>
      </p:pic>
      <p:grpSp>
        <p:nvGrpSpPr>
          <p:cNvPr id="16" name="그룹 15">
            <a:extLst>
              <a:ext uri="{FF2B5EF4-FFF2-40B4-BE49-F238E27FC236}">
                <a16:creationId xmlns:a16="http://schemas.microsoft.com/office/drawing/2014/main" id="{869C0574-D1E4-0484-CFEA-A7744A7E79AF}"/>
              </a:ext>
            </a:extLst>
          </p:cNvPr>
          <p:cNvGrpSpPr/>
          <p:nvPr/>
        </p:nvGrpSpPr>
        <p:grpSpPr>
          <a:xfrm>
            <a:off x="7924798" y="4664363"/>
            <a:ext cx="4184075" cy="2124363"/>
            <a:chOff x="7924799" y="4664363"/>
            <a:chExt cx="4184075" cy="2124363"/>
          </a:xfrm>
        </p:grpSpPr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0090A76C-9E59-91D2-75FD-C9F9EFE814D4}"/>
                </a:ext>
              </a:extLst>
            </p:cNvPr>
            <p:cNvSpPr/>
            <p:nvPr/>
          </p:nvSpPr>
          <p:spPr>
            <a:xfrm>
              <a:off x="7924800" y="5033817"/>
              <a:ext cx="4184074" cy="1754909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150000"/>
                </a:lnSpc>
              </a:pPr>
              <a:endParaRPr lang="en-US" altLang="ko-KR" sz="1000" dirty="0">
                <a:solidFill>
                  <a:schemeClr val="tx1"/>
                </a:solidFill>
              </a:endParaRP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A44CC545-8C72-3C1C-9054-CA3512EDCEE8}"/>
                </a:ext>
              </a:extLst>
            </p:cNvPr>
            <p:cNvSpPr/>
            <p:nvPr/>
          </p:nvSpPr>
          <p:spPr>
            <a:xfrm>
              <a:off x="7924799" y="4664363"/>
              <a:ext cx="4184074" cy="369454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참고사항</a:t>
              </a:r>
              <a:endParaRPr lang="en-US" altLang="ko-KR" sz="1600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674216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8312A9107921E1429D852BD502521657" ma:contentTypeVersion="12" ma:contentTypeDescription="새 문서를 만듭니다." ma:contentTypeScope="" ma:versionID="ce7000b827746b4bdca1212a6e837dee">
  <xsd:schema xmlns:xsd="http://www.w3.org/2001/XMLSchema" xmlns:xs="http://www.w3.org/2001/XMLSchema" xmlns:p="http://schemas.microsoft.com/office/2006/metadata/properties" xmlns:ns2="15cf5ba3-e289-48a8-8cfc-3b31467b0c08" targetNamespace="http://schemas.microsoft.com/office/2006/metadata/properties" ma:root="true" ma:fieldsID="e653c486b962d618c119001c4c664c55" ns2:_="">
    <xsd:import namespace="15cf5ba3-e289-48a8-8cfc-3b31467b0c0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_Flow_SignoffStatus" minOccurs="0"/>
                <xsd:element ref="ns2:MediaServiceDateTaken" minOccurs="0"/>
                <xsd:element ref="ns2:lcf76f155ced4ddcb4097134ff3c332f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cf5ba3-e289-48a8-8cfc-3b31467b0c0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Flow_SignoffStatus" ma:index="11" nillable="true" ma:displayName="사인 오프 상태" ma:internalName="_x0024_Resources_x003a_core_x002c_Signoff_Status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이미지 태그" ma:readOnly="false" ma:fieldId="{5cf76f15-5ced-4ddc-b409-7134ff3c332f}" ma:taxonomyMulti="true" ma:sspId="21ab711a-717f-49c8-940c-67352eb55ea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Flow_SignoffStatus xmlns="15cf5ba3-e289-48a8-8cfc-3b31467b0c08" xsi:nil="true"/>
    <lcf76f155ced4ddcb4097134ff3c332f xmlns="15cf5ba3-e289-48a8-8cfc-3b31467b0c08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40200CBC-06DC-4AD9-971E-5C58D3F895F7}"/>
</file>

<file path=customXml/itemProps2.xml><?xml version="1.0" encoding="utf-8"?>
<ds:datastoreItem xmlns:ds="http://schemas.openxmlformats.org/officeDocument/2006/customXml" ds:itemID="{93DD0B0B-C2C0-4905-9073-AAC6D9DDE1CF}"/>
</file>

<file path=customXml/itemProps3.xml><?xml version="1.0" encoding="utf-8"?>
<ds:datastoreItem xmlns:ds="http://schemas.openxmlformats.org/officeDocument/2006/customXml" ds:itemID="{8EAEC237-FEC0-4705-839B-0C2B59140506}"/>
</file>

<file path=docProps/app.xml><?xml version="1.0" encoding="utf-8"?>
<Properties xmlns="http://schemas.openxmlformats.org/officeDocument/2006/extended-properties" xmlns:vt="http://schemas.openxmlformats.org/officeDocument/2006/docPropsVTypes">
  <TotalTime>562</TotalTime>
  <Words>503</Words>
  <Application>Microsoft Office PowerPoint</Application>
  <PresentationFormat>와이드스크린</PresentationFormat>
  <Paragraphs>125</Paragraphs>
  <Slides>16</Slides>
  <Notes>16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19" baseType="lpstr">
      <vt:lpstr>맑은 고딕</vt:lpstr>
      <vt:lpstr>Arial</vt:lpstr>
      <vt:lpstr>Office 테마</vt:lpstr>
      <vt:lpstr>RPA 프로세스 정의서</vt:lpstr>
      <vt:lpstr>버전 기록</vt:lpstr>
      <vt:lpstr>프로세스 흐름도</vt:lpstr>
      <vt:lpstr>1-1) Azure 애플리케이션 권한 설정</vt:lpstr>
      <vt:lpstr>1-2) Azure 애플리케이션 권한 설정</vt:lpstr>
      <vt:lpstr>1-3) Azure 역할 권한 설정</vt:lpstr>
      <vt:lpstr>1-4) Azure 역할 권한 설정</vt:lpstr>
      <vt:lpstr>2) Power Automate 토큰 발급</vt:lpstr>
      <vt:lpstr>3) Power Automate PW 초기화</vt:lpstr>
      <vt:lpstr>4-1) Power Automate PW 초기화</vt:lpstr>
      <vt:lpstr>4-3) Power Automate PW 초기화 확인</vt:lpstr>
      <vt:lpstr>5) Power Automate MFA 인증 해제</vt:lpstr>
      <vt:lpstr>5) Power Automate MFA 디바이스 삭제</vt:lpstr>
      <vt:lpstr>6) Power Automate 로그인 차단</vt:lpstr>
      <vt:lpstr>6) Excel 입력</vt:lpstr>
      <vt:lpstr>7) Teams 알림 발송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배태영</dc:creator>
  <cp:lastModifiedBy>배태영</cp:lastModifiedBy>
  <cp:revision>36</cp:revision>
  <dcterms:created xsi:type="dcterms:W3CDTF">2025-10-31T04:16:53Z</dcterms:created>
  <dcterms:modified xsi:type="dcterms:W3CDTF">2025-12-10T04:31:23Z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0x0101008312A9107921E1429D852BD502521657</vt:lpwstr>
  </property>
</Properties>
</file>