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4"/>
  </p:notesMasterIdLst>
  <p:sldIdLst>
    <p:sldId id="256" r:id="rId5"/>
    <p:sldId id="266" r:id="rId6"/>
    <p:sldId id="257" r:id="rId7"/>
    <p:sldId id="267" r:id="rId8"/>
    <p:sldId id="268" r:id="rId9"/>
    <p:sldId id="315" r:id="rId10"/>
    <p:sldId id="269" r:id="rId11"/>
    <p:sldId id="270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316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5" r:id="rId41"/>
    <p:sldId id="301" r:id="rId42"/>
    <p:sldId id="302" r:id="rId43"/>
    <p:sldId id="303" r:id="rId44"/>
    <p:sldId id="306" r:id="rId45"/>
    <p:sldId id="308" r:id="rId46"/>
    <p:sldId id="307" r:id="rId47"/>
    <p:sldId id="309" r:id="rId48"/>
    <p:sldId id="310" r:id="rId49"/>
    <p:sldId id="311" r:id="rId50"/>
    <p:sldId id="313" r:id="rId51"/>
    <p:sldId id="314" r:id="rId52"/>
    <p:sldId id="312" r:id="rId5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목차" id="{CF182FFD-09BE-439C-888C-57832E1D2A8A}">
          <p14:sldIdLst>
            <p14:sldId id="256"/>
            <p14:sldId id="266"/>
            <p14:sldId id="257"/>
          </p14:sldIdLst>
        </p14:section>
        <p14:section name="에이스라이프" id="{4BDF6BAB-8BCC-4C7D-8B6F-C4DC864649A0}">
          <p14:sldIdLst>
            <p14:sldId id="267"/>
            <p14:sldId id="268"/>
            <p14:sldId id="315"/>
            <p14:sldId id="269"/>
            <p14:sldId id="270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나누텍" id="{0AD4882B-327A-4D12-A0F9-69B44FDA307F}">
          <p14:sldIdLst>
            <p14:sldId id="280"/>
            <p14:sldId id="281"/>
            <p14:sldId id="316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</p14:sldIdLst>
        </p14:section>
        <p14:section name="제이원프라임" id="{9B8BAD72-1D4D-4BC8-B48A-091AB7D1DE7C}">
          <p14:sldIdLst>
            <p14:sldId id="294"/>
            <p14:sldId id="295"/>
            <p14:sldId id="296"/>
            <p14:sldId id="297"/>
            <p14:sldId id="298"/>
            <p14:sldId id="299"/>
            <p14:sldId id="305"/>
            <p14:sldId id="301"/>
            <p14:sldId id="302"/>
            <p14:sldId id="303"/>
          </p14:sldIdLst>
        </p14:section>
        <p14:section name="씨랩시스" id="{AECDD195-6089-4581-B31D-E665679F96FB}">
          <p14:sldIdLst>
            <p14:sldId id="306"/>
            <p14:sldId id="308"/>
            <p14:sldId id="307"/>
            <p14:sldId id="309"/>
            <p14:sldId id="310"/>
            <p14:sldId id="311"/>
            <p14:sldId id="313"/>
            <p14:sldId id="314"/>
            <p14:sldId id="31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12F384-78DF-7621-AE26-97AC4CE5F366}" v="4" dt="2026-05-26T06:17:04.5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7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0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혜진" userId="S::lhj@iroyal.kr::9ce771a3-f5fb-4a4d-892e-5db74abb7b14" providerId="AD" clId="Web-{2212F384-78DF-7621-AE26-97AC4CE5F366}"/>
    <pc:docChg chg="sldOrd">
      <pc:chgData name="이혜진" userId="S::lhj@iroyal.kr::9ce771a3-f5fb-4a4d-892e-5db74abb7b14" providerId="AD" clId="Web-{2212F384-78DF-7621-AE26-97AC4CE5F366}" dt="2026-05-26T06:17:04.505" v="3"/>
      <pc:docMkLst>
        <pc:docMk/>
      </pc:docMkLst>
      <pc:sldChg chg="ord">
        <pc:chgData name="이혜진" userId="S::lhj@iroyal.kr::9ce771a3-f5fb-4a4d-892e-5db74abb7b14" providerId="AD" clId="Web-{2212F384-78DF-7621-AE26-97AC4CE5F366}" dt="2026-05-26T06:13:06.844" v="0"/>
        <pc:sldMkLst>
          <pc:docMk/>
          <pc:sldMk cId="2165226771" sldId="272"/>
        </pc:sldMkLst>
      </pc:sldChg>
      <pc:sldChg chg="ord">
        <pc:chgData name="이혜진" userId="S::lhj@iroyal.kr::9ce771a3-f5fb-4a4d-892e-5db74abb7b14" providerId="AD" clId="Web-{2212F384-78DF-7621-AE26-97AC4CE5F366}" dt="2026-05-26T06:13:27.252" v="1"/>
        <pc:sldMkLst>
          <pc:docMk/>
          <pc:sldMk cId="3647337683" sldId="273"/>
        </pc:sldMkLst>
      </pc:sldChg>
      <pc:sldChg chg="ord">
        <pc:chgData name="이혜진" userId="S::lhj@iroyal.kr::9ce771a3-f5fb-4a4d-892e-5db74abb7b14" providerId="AD" clId="Web-{2212F384-78DF-7621-AE26-97AC4CE5F366}" dt="2026-05-26T06:16:17.579" v="2"/>
        <pc:sldMkLst>
          <pc:docMk/>
          <pc:sldMk cId="2229660124" sldId="296"/>
        </pc:sldMkLst>
      </pc:sldChg>
      <pc:sldChg chg="ord">
        <pc:chgData name="이혜진" userId="S::lhj@iroyal.kr::9ce771a3-f5fb-4a4d-892e-5db74abb7b14" providerId="AD" clId="Web-{2212F384-78DF-7621-AE26-97AC4CE5F366}" dt="2026-05-26T06:17:04.505" v="3"/>
        <pc:sldMkLst>
          <pc:docMk/>
          <pc:sldMk cId="1775890423" sldId="31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F9CCD8-1719-4DF9-87FD-2F5122CA41DD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32AB1D-E158-45F5-956A-4FB433D01C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820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3704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951BC-5F53-3C3F-505F-E82B289D2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412004C-6B7D-F73E-4CE2-C28F036115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0BA45EE-F9C0-6AB3-8EF0-5F1C790F8D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957096-C80E-FC6C-71E9-0640C82A39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0449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61888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B6B1E-F9EE-DC9C-ED72-80FE8B149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9E287C-EEC5-830D-7F68-7ECCF57A51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FFF59D-C54D-AAF3-379E-C797B3E0B2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DA44C7-7A53-4E8E-09C5-8285508CB5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4091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AF889-EA9E-D797-DF56-E4BC07861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9978F3C-A218-0893-98E1-2B9513B246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DA6F584-F31B-1EC0-2480-1744C239D0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3B84E9-3046-E0EC-564E-2416D641BA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41433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1DCC4-DC20-D440-F53C-D563D27FD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9ADD27-AD5F-60A6-47F1-4D256EFCB4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84AE80-DEEC-379E-F580-22F8DF8350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AE19C7-6E1F-3DA2-77CB-57B9241B59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84668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2CA8D-2545-A6D9-D2EC-DA4ABFDF2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73CCBB0-9124-3895-178C-1B8E5A1F91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68ADA4-159E-9D5C-D43D-F0F30FD65F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AA9490-AFCE-C20E-8BCC-44ABECD62A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4827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F06F2-5441-B36D-F057-8DAEB77CA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F86BA1-B170-511D-FFEF-0A5FD4608D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50AD3A-75CE-CD18-72E9-BC6792CF7C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7B82B4-35E1-B56C-0773-455EC84652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1937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2E469-2A3C-254A-7008-19734A15E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EC8B16-DE9C-3998-149F-B55DF4119F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5C72E9C-AB03-DC9B-4E7B-99D82F4427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1EDD2B-0473-ED61-9950-97B3D29102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34413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F5EA7-AED6-3075-F045-6F7E10C3F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187AD22-FB07-EA8A-6C41-FF1482A1E0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DAB9867-2CBE-3F11-60D7-BB6CE2C122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603192-6857-F5C9-C3A6-F33CA99D6C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23708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809DF-33A3-F7D0-C744-DAFEF227F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77FEDC8-0EE8-9C6F-04A3-9773C3ECB3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7B2411C-1823-B1AE-423F-AE2A51848F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A9A716-9768-0B93-B40F-8E87A3F907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6653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E9A25-8BE1-D301-DB2F-D2A566EF5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B7329F-AFD4-CD2A-9BC1-D412AB19BE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D1DCC1E-7A36-87F8-98A9-16C8CC5009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36E697-F2D6-1D26-4881-4FA2933781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97930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FAC26-6E55-BF01-F678-90BB7F0C7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952B24-DDFC-065A-6779-8D398DBA35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34920EF-F8C3-ED67-0EEA-E79BD58A3D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326A41-7EE4-5C9B-3304-C1A3916D6C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62981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2E876-579E-9072-7F07-2404F76C0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283FCE7-AE98-08AB-1493-60CA7D5716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29D6BE7-6F48-FE0B-2162-90C77FC9EA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4A68EF-DFF6-0DC6-2F1F-FA2B3E6AC9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7253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B34BA-259F-297D-B7DC-193CAE4E2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162438A-EED4-63FE-C016-362A60D03E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4DB6D9-E863-66FF-C1DE-B70D31DED1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81D912-2AC9-0BD1-FE7C-1490B09165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41497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770A9-159C-96B3-977C-04876FBF7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3066375-1CA1-E4C6-38AC-DE1A2672A1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D3DCD8-0702-3149-8363-0C18E727DF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55F7C4-5E53-0D04-DF58-FCAD845CF5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33325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528E6-CC51-402C-BF01-9D967DA56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844925-3DFC-F35A-AFEC-9B59C0D8DC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C5C66BA-DA3E-FEB5-3EA0-70BB8C006A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C6F301-20B0-8671-A0D9-DD0373A919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705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747BA-735A-1587-95CD-B99CB27F2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C653D23-CDAA-23BA-2011-496409D577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1772365-3803-7819-8888-C890DB1426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57C9D4-A778-1331-BA5F-D117857455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58348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F1E49-BE65-5213-3917-6A1773DF4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0A99E7-3004-CF52-F3CE-ECD0BE5151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CFD7469-6E88-6D30-DD16-8D81295954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AA1BDE-1099-6B7D-CB4D-B6EF08F98E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02792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ADAD2-92EC-3672-DB63-67259B922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8DDFB64-3532-487B-A1DF-7F4FCC0C40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291263-0C84-E240-643D-34C26174F3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3F2352-3093-2644-D1F4-FEDCEBEF55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08117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8056F-F3A5-2472-16B0-0769751C1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8CB3C1-E4EF-10C2-3C87-BFCF8FF047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D9D4041-6F9F-3B2E-85D8-9DDCB6A1BA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5E3EA6-BEFE-A1C6-F19C-49622444F6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14512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75ECF-C3C4-635D-AE4D-D3DDE4A03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B49FFA-A5F7-BA9E-22FC-0C5CF0D07D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5E65AB1-F588-89B2-2ED8-15657A12A6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371549-2204-F147-16A0-65742B03ED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17900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5CC15-9C05-21B0-CE1B-D2C291AB4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1BF68CC-1A51-FC47-0FBD-4B81EAAFF9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E1658B8-1F72-9714-A862-8430C7C39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FB6581-DABC-B51C-45A4-0984698AF3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62753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26EB9-7A77-5C1B-1442-B07A722D2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215A6DE-5518-065E-F6F4-14D6457E44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12291B9-DFC4-9FCF-E156-2915BD850D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79CE15-B030-26C4-0551-455B63B780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36425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B3678-CF3C-36D7-7CAE-115922DF4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14D64A9-6916-2E94-24D6-6D5FE5B78E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D455AE-3969-E1D8-A766-9553E4EEC3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5F8DF8-E4FD-5A5F-2627-A38181D19F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791872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AF059-3FBC-9B72-8807-CEEEAC16E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D6509C-E0A3-949C-4CE8-BE4E1CABBC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95EDBAC-AAA5-A2F2-2FAA-98216BB68E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B55394-B05E-27BC-E72F-9D31373146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04154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97B54-8CC1-F30E-63A6-DD5E117ED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E4147E-3A75-930B-EC35-205D3D7C5B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6509DF4-381A-0717-C32A-B8474E265B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C4F695-A4EA-DCB4-B5C5-F3673708A3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423525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8C20F-9940-867D-9D7D-F4B57057E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87C5A6-5EE1-A033-0ECF-A0F579D2CF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345C29A-2C60-E5E4-E9B8-E011E75FCE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1C6488-6177-C61C-E759-E92E3472FE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342020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BC123-AD99-4262-1696-49DB92692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D0C313-22A1-B876-188A-473230009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962E5A-1B66-F5F3-0DDF-AECC2F8CE8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501049-EDFB-8631-AF6B-1CA8B61E8B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290746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7B508-1618-26DD-3589-81B3DF5A2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683D901-FE1F-E9F9-8914-793B339F89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1D0EA0C-9516-35B9-9D69-1B510DC869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2904FC-9DC4-4F1D-58B0-E30F43BD02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24503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8C0DC-5AB9-38F5-CB72-0CB4EC2EC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D2AE717-EAEF-3CB4-0C14-C93648D620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6B163E9-A817-02EF-D32D-5A45A36D81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E0E599-2F12-22B9-B722-EA87775D99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285952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198ED-AFDA-645B-3E60-4B5BDF924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94054C-9F7E-C321-E63B-0992E7C1EB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03CC35-7026-3FCF-13D7-393E7DC709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7DD96C-5D0B-3817-8D05-A4BBE4A2FC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38473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9EBC7-C3F9-51DC-CAAC-B741EA79A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4CF1BE9-A821-E1DF-F5D4-12E6777AD7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5BCAE61-A2D0-D6AF-D385-F633AFF485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4C498C-C404-41B8-58D0-A431E4D908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90965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15002-5EFA-E430-B9C4-30796C13C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FB06E9A-BF26-2BD9-F5F0-640111A949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ACE8FF5-7C66-0C8B-9DA2-B752163B69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2A4F67-3615-5803-1A8A-4208FE26F3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98960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11BF4-FADD-53C2-61C7-FD25068C5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45180A8-5520-3306-14AC-53F3B00D55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94BE5D6-165F-DDAE-4C6C-B24A0FD86A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DA9B83-CA69-22F3-0CA2-845C039524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707874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EA60F-E2D1-927C-8407-D73980D6D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5E47F6E-D7A7-B420-7128-8FBECAF8CA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54E4EC2-04FE-84D6-D3CB-CF01AEEF73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0C72B6-1207-2D66-BEC7-8D8E37D14A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858631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DB23F-8377-2F2E-33BC-B20E5200A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1F0841-8139-E209-B250-3C34828259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884C8C-7320-1C96-9F08-71E525E85C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BAB9E5-3940-412B-D3BF-89E25B7ACF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981280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96918-64C0-327D-1561-C6638F68E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8064E64-926D-E591-1F7B-05EBCD580A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BD3361-A79F-164C-1BC6-3D9E818293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19FDEF-0D5D-56CC-6757-550348A312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178164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A1E15-5BC0-4B44-7EBB-CBC67E8E5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DBEEEEB-C7AD-A860-29B0-951AB9CB0A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FFBA078-3D08-5E60-46DD-71D07A7A2C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CD7008-1BA6-13EF-76A8-E44E6C5B5A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215213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2F26D-AFE7-C765-B7B5-8192EAC09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A21825E-A592-C196-9F3D-D74EBD9561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2C1D194-4E5B-3EB7-A19F-BD4C10870C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CCE44F-4AB5-F09A-846B-4775916F9A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562802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E01B8-5B6D-B84C-7F3B-6AD2950B0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B47D7A3-435A-215E-71C9-7AC4E414F2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5FA0AB0-2E39-507F-4F8D-5377D9A62C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B44915-FBDC-5846-AAB6-4AF32A9C09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166191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B127C-1C51-D1EB-4D51-9BF816AC1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71ED1F-6614-9E7A-3EB3-965A609170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BF77FB-D077-857E-8C0A-CF34595B73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6C9DFD-6CFC-072F-0286-55C324162B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567000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A1465-4000-44E9-5251-81F03C587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4B6261B-11B5-6C4C-137B-B809721AC6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DC94AD3-DE5F-5C10-D178-EE715AD32E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F4311C-1B56-81F7-1F94-23DE04C50B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053196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CE806-4769-672A-2247-B1E1CE045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F6FB13D-6530-A944-4435-455517ECC8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3094138-79EE-76FB-8ECE-B46CAF49DD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73D514-B7F8-2F84-6095-D6E6BE0FE3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475659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F2DEE-F1E9-D7FE-B057-76DD81A3D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22A2AC2-366F-9BB0-CA63-589D2687AC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BC9C6E-F8A0-63BF-A19B-94D05DD5BF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74C4FD-F658-A694-6F62-8133F6405C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2000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152F2-4071-15D0-E414-477BC69D6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64F8924-ECE2-8F4F-69A5-21606BEB84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1290221-8D8F-70D0-BD14-C51B0F7C11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7AB29E-7B04-3243-51F9-94082F5BE9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463181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A7705-DC26-CD26-6920-439C1FF91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9F14AE-6ABC-2D03-2E30-527C46A8C3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751DC2-9156-AE7A-103E-5800A3567F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932521-F4F4-E0F4-9A8E-BD20479A2D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837921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B1A9A-3482-1662-885E-50AE4138B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B30719A-DD04-57E7-7FFB-7F310871C0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4EA076-1D0F-A026-26F6-BD78804F94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E67178-D8B7-D688-EF79-A8018CC80C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601434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0B450-B3D6-987F-D222-AECD1EFC0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62A68EC-6F49-A650-6F7D-4E3BB3F12B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3222C5E-C11F-4F6C-067E-1AC7AD630C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12C7BC-50BD-CC1A-2537-906508E47D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491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EA3C6A-2304-4B3A-79C1-3FCCBDA7F4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9A96EBD-54B6-BD90-1ACE-F435AFC556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D1251E-97BF-7A06-85E6-556C85D8A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20FF5-C322-4BDD-8F64-3EA47F12E988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E32F2D-B72E-B711-D545-5E1DE8EB0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64512E-B0A4-3E85-509C-6D75608EB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7CF9-0B4E-4FBB-8416-FAFA02AEB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5340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98BBE4-0B05-973F-F0AF-6D84A7C27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716EAE-16A7-463B-B1ED-1C21D6212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072FA0-4B93-5E14-43D8-55E15E8EF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20FF5-C322-4BDD-8F64-3EA47F12E988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EB9D25-25DA-2A2E-1FB5-963D45AD8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7C52E4-F5FA-7BCC-F523-174751839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7CF9-0B4E-4FBB-8416-FAFA02AEB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553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06237B-35ED-3F5A-1CFD-083B3BD79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936650-C6D2-0E89-BAAF-992920665A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75B15B-21EA-7DAA-D89E-1403A40BA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20FF5-C322-4BDD-8F64-3EA47F12E988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E93645-54E5-51CC-1059-F62A04D6B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DE35D1-029E-61F7-9270-E805734F4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7CF9-0B4E-4FBB-8416-FAFA02AEB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739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13594-F242-3D2D-F510-829E10948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9C9469-E3F5-DB20-950D-1E1F8D782A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7368B5A-7479-7617-AFDC-B913C3CDEA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471A8BF-012E-DFD2-A8F0-17A4191E3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20FF5-C322-4BDD-8F64-3EA47F12E988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396E4F-C2F3-C66A-BAFC-8A86935C1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9C0576-16E1-4956-29D9-10E03F3FA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7CF9-0B4E-4FBB-8416-FAFA02AEB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042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BA3576-6376-88A0-2A74-D1231EF79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8DD258-0B70-8883-EFA5-9BDD33B0C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D47F1AA-F430-5109-86ED-F7153F5CB2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F527174-B442-6D1C-107B-F3CD5FA6EF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98128B4-F359-0DCE-FF04-8012E276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A6032D3-7DC6-B8CE-DD50-52C8C38BD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20FF5-C322-4BDD-8F64-3EA47F12E988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79FC913-24D3-0EA6-8993-32F4A87B0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A3B0E26-CD0E-9FE8-B625-3F3C4E919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7CF9-0B4E-4FBB-8416-FAFA02AEB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2932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F06DC2-1B28-A71C-DADE-DB9CD5A3E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946C800-82A2-8E1A-AF62-B033F3536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20FF5-C322-4BDD-8F64-3EA47F12E988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CAED38D-5BBC-C3A3-56EA-539C50ACD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E8B8719-1440-B4F4-F8E2-C947155BF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7CF9-0B4E-4FBB-8416-FAFA02AEB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2019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825FB25-EC7A-5EE2-6AE6-0BBDB2D40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20FF5-C322-4BDD-8F64-3EA47F12E988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8B7DFDB-F578-677F-FF57-DC3DD473E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3D6DB0-E452-2F9B-823C-6A9C8EF93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7CF9-0B4E-4FBB-8416-FAFA02AEB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578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1C5DE0-900C-A91C-BF16-4C5B5AE3C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EE366B-DBB2-9B48-E1E4-4FBD71C65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FB7AA27-92B9-8EFE-F827-163D4F60D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C48CC9C-56FB-C71D-FD5C-10A77D6C0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20FF5-C322-4BDD-8F64-3EA47F12E988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B0240E-3AE7-DA2E-0C4D-DC40644D9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4102CD-8617-071C-1145-7E0EF8934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7CF9-0B4E-4FBB-8416-FAFA02AEB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7821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ACA1AB-6542-2432-B70B-50A7D3DAD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71C0C6-2524-FE77-9AE9-25F4BBBB6E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7903356-14E8-A50D-1B32-2EE34726CE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695A0F-5F19-A668-FF49-A6F74BCA3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20FF5-C322-4BDD-8F64-3EA47F12E988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3917855-53FB-F92B-16A8-3D5B0EF45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9A1AD71-3B6A-5045-1959-307910EE8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7CF9-0B4E-4FBB-8416-FAFA02AEB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626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9C3591-693E-EA57-8553-6BED94F4A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E6AFE5E-FF0F-2E09-3D5F-4BD393BCB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1B2AA7-C2FB-AE64-37B1-BE4BC4A5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20FF5-C322-4BDD-8F64-3EA47F12E988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AF3D80-ABCD-A2C4-989A-675E3844D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66E235-F964-2CE6-FBEE-00B6688CE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7CF9-0B4E-4FBB-8416-FAFA02AEB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6076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EE74820-88A2-810D-F095-5C77ACE484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02A3726-A3F4-A100-C248-94410E75E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2FF164-F3A9-6DC4-7B7B-43ED4C9DF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20FF5-C322-4BDD-8F64-3EA47F12E988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71F2DC-4595-6D98-7636-846F9CCA9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023B8F-123D-8F68-DC57-3F96A21E5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7CF9-0B4E-4FBB-8416-FAFA02AEB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6308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3D24FBE-9DEE-1C07-F16D-39CC8F774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B65B3C-2272-34F7-24F7-CB64918E3C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4E6A1B-0CD4-C112-4F99-2858B9FB4A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E20FF5-C322-4BDD-8F64-3EA47F12E988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6A4C95-A0EF-FC07-1491-1E21DD15E6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B1722A-073A-7EEF-0C7A-7E8CF73714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457CF9-0B4E-4FBB-8416-FAFA02AEB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8759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7.sv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.sv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7.svg"/><Relationship Id="rId4" Type="http://schemas.openxmlformats.org/officeDocument/2006/relationships/image" Target="../media/image7.svg"/><Relationship Id="rId9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3.sv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3.sv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3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7.svg"/><Relationship Id="rId4" Type="http://schemas.openxmlformats.org/officeDocument/2006/relationships/image" Target="../media/image3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7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33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7.svg"/><Relationship Id="rId4" Type="http://schemas.openxmlformats.org/officeDocument/2006/relationships/image" Target="../media/image3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3.sv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9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3.svg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7.svg"/><Relationship Id="rId4" Type="http://schemas.openxmlformats.org/officeDocument/2006/relationships/image" Target="../media/image3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3.sv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9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3.svg"/><Relationship Id="rId4" Type="http://schemas.openxmlformats.org/officeDocument/2006/relationships/image" Target="../media/image2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7.svg"/><Relationship Id="rId4" Type="http://schemas.openxmlformats.org/officeDocument/2006/relationships/image" Target="../media/image3.sv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3.sv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9.sv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원, 스케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A1D2278-0EDB-1C7A-7A35-E9D675433EA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7630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AE4356A-E248-067F-E231-BD490B193B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69963"/>
            <a:ext cx="12192000" cy="1593944"/>
          </a:xfrm>
        </p:spPr>
        <p:txBody>
          <a:bodyPr>
            <a:normAutofit/>
          </a:bodyPr>
          <a:lstStyle/>
          <a:p>
            <a:r>
              <a:rPr lang="en-US" altLang="ko-KR" sz="4800" b="1" dirty="0"/>
              <a:t>RPA </a:t>
            </a:r>
            <a:r>
              <a:rPr lang="ko-KR" altLang="en-US" sz="4800" b="1" dirty="0"/>
              <a:t>프로세스 정의서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6321B1F-D99C-586A-DDBD-4D4C26DBE12C}"/>
              </a:ext>
            </a:extLst>
          </p:cNvPr>
          <p:cNvGrpSpPr/>
          <p:nvPr/>
        </p:nvGrpSpPr>
        <p:grpSpPr>
          <a:xfrm>
            <a:off x="3577070" y="3666847"/>
            <a:ext cx="5026602" cy="2088212"/>
            <a:chOff x="3577070" y="3666847"/>
            <a:chExt cx="5026602" cy="2088212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9E4F63BB-B8A1-BE1C-B705-CFA8CD73F734}"/>
                </a:ext>
              </a:extLst>
            </p:cNvPr>
            <p:cNvGrpSpPr/>
            <p:nvPr/>
          </p:nvGrpSpPr>
          <p:grpSpPr>
            <a:xfrm>
              <a:off x="3577070" y="3666847"/>
              <a:ext cx="5026602" cy="2088212"/>
              <a:chOff x="3577070" y="3666847"/>
              <a:chExt cx="5026602" cy="2088212"/>
            </a:xfrm>
          </p:grpSpPr>
          <p:cxnSp>
            <p:nvCxnSpPr>
              <p:cNvPr id="6" name="직선 연결선 5">
                <a:extLst>
                  <a:ext uri="{FF2B5EF4-FFF2-40B4-BE49-F238E27FC236}">
                    <a16:creationId xmlns:a16="http://schemas.microsoft.com/office/drawing/2014/main" id="{16BC356B-7E69-4722-CA70-F996CBA374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77070" y="4395691"/>
                <a:ext cx="5026602" cy="0"/>
              </a:xfrm>
              <a:prstGeom prst="line">
                <a:avLst/>
              </a:prstGeom>
              <a:ln w="381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42211740-18EB-D8AE-3127-3B3A4ACA2F21}"/>
                  </a:ext>
                </a:extLst>
              </p:cNvPr>
              <p:cNvSpPr/>
              <p:nvPr/>
            </p:nvSpPr>
            <p:spPr>
              <a:xfrm>
                <a:off x="3577070" y="3666847"/>
                <a:ext cx="5026602" cy="2088212"/>
              </a:xfrm>
              <a:prstGeom prst="rect">
                <a:avLst/>
              </a:prstGeom>
              <a:noFill/>
              <a:ln w="381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16" name="직선 연결선 15">
                <a:extLst>
                  <a:ext uri="{FF2B5EF4-FFF2-40B4-BE49-F238E27FC236}">
                    <a16:creationId xmlns:a16="http://schemas.microsoft.com/office/drawing/2014/main" id="{80E03131-F11A-E69B-D82E-3158725A12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77070" y="5102275"/>
                <a:ext cx="5026602" cy="0"/>
              </a:xfrm>
              <a:prstGeom prst="line">
                <a:avLst/>
              </a:prstGeom>
              <a:ln w="381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5ABD055E-F2DD-0599-D379-8BDC3695E5B0}"/>
                </a:ext>
              </a:extLst>
            </p:cNvPr>
            <p:cNvCxnSpPr>
              <a:stCxn id="10" idx="0"/>
              <a:endCxn id="10" idx="2"/>
            </p:cNvCxnSpPr>
            <p:nvPr/>
          </p:nvCxnSpPr>
          <p:spPr>
            <a:xfrm>
              <a:off x="6090371" y="3666847"/>
              <a:ext cx="0" cy="2088212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53C9B0CC-DBDF-F982-D261-20CD0A0F00B8}"/>
              </a:ext>
            </a:extLst>
          </p:cNvPr>
          <p:cNvSpPr txBox="1"/>
          <p:nvPr/>
        </p:nvSpPr>
        <p:spPr>
          <a:xfrm>
            <a:off x="3577070" y="3846600"/>
            <a:ext cx="251330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dirty="0"/>
              <a:t>작성자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090ED6-F476-7F40-4180-FA82B4C62057}"/>
              </a:ext>
            </a:extLst>
          </p:cNvPr>
          <p:cNvSpPr txBox="1"/>
          <p:nvPr/>
        </p:nvSpPr>
        <p:spPr>
          <a:xfrm>
            <a:off x="3577070" y="4563849"/>
            <a:ext cx="251330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dirty="0"/>
              <a:t>부서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EE8D43-8AE4-1E4C-167F-4ED5E59485B4}"/>
              </a:ext>
            </a:extLst>
          </p:cNvPr>
          <p:cNvSpPr txBox="1"/>
          <p:nvPr/>
        </p:nvSpPr>
        <p:spPr>
          <a:xfrm>
            <a:off x="3577069" y="5244001"/>
            <a:ext cx="251330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dirty="0"/>
              <a:t>작성일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ADE706-AC47-2626-0D4D-C076A59FAA26}"/>
              </a:ext>
            </a:extLst>
          </p:cNvPr>
          <p:cNvSpPr txBox="1"/>
          <p:nvPr/>
        </p:nvSpPr>
        <p:spPr>
          <a:xfrm>
            <a:off x="6101630" y="3845782"/>
            <a:ext cx="251330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dirty="0"/>
              <a:t>배태영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4FABB3-FF5F-6EA4-B21F-FF0A4C54F83D}"/>
              </a:ext>
            </a:extLst>
          </p:cNvPr>
          <p:cNvSpPr txBox="1"/>
          <p:nvPr/>
        </p:nvSpPr>
        <p:spPr>
          <a:xfrm>
            <a:off x="6096000" y="4562956"/>
            <a:ext cx="251330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dirty="0"/>
              <a:t>정보관리팀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23FC10-0B8A-3B2B-8D87-A2FE442BA385}"/>
              </a:ext>
            </a:extLst>
          </p:cNvPr>
          <p:cNvSpPr txBox="1"/>
          <p:nvPr/>
        </p:nvSpPr>
        <p:spPr>
          <a:xfrm>
            <a:off x="6101630" y="5244001"/>
            <a:ext cx="251330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dirty="0"/>
              <a:t>2026.05.14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8069F5C-43A7-38FE-5192-CCB87435E6BD}"/>
              </a:ext>
            </a:extLst>
          </p:cNvPr>
          <p:cNvSpPr txBox="1">
            <a:spLocks/>
          </p:cNvSpPr>
          <p:nvPr/>
        </p:nvSpPr>
        <p:spPr>
          <a:xfrm>
            <a:off x="5630" y="2789892"/>
            <a:ext cx="12192000" cy="4683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dirty="0"/>
              <a:t>R26013_</a:t>
            </a:r>
            <a:r>
              <a:rPr lang="ko-KR" altLang="en-US" sz="2000" dirty="0"/>
              <a:t>외주업체 </a:t>
            </a:r>
            <a:r>
              <a:rPr lang="en-US" altLang="ko-KR" sz="2000" dirty="0"/>
              <a:t>AS </a:t>
            </a:r>
            <a:r>
              <a:rPr lang="ko-KR" altLang="en-US" sz="2000" dirty="0"/>
              <a:t>대행료 정산</a:t>
            </a:r>
          </a:p>
        </p:txBody>
      </p:sp>
    </p:spTree>
    <p:extLst>
      <p:ext uri="{BB962C8B-B14F-4D97-AF65-F5344CB8AC3E}">
        <p14:creationId xmlns:p14="http://schemas.microsoft.com/office/powerpoint/2010/main" val="1858643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D0475-F212-5364-8467-8134C3EBC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원, 스케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8BBDE7A-6B68-512D-4496-A04B7ACD453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7630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9B35512-F0E2-EEBF-202A-3EB524DEDF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5630" y="0"/>
            <a:ext cx="12192000" cy="877455"/>
          </a:xfrm>
        </p:spPr>
        <p:txBody>
          <a:bodyPr>
            <a:normAutofit/>
          </a:bodyPr>
          <a:lstStyle/>
          <a:p>
            <a:r>
              <a:rPr lang="ko-KR" altLang="en-US" sz="4000" b="1" dirty="0"/>
              <a:t>프로세스 흐름도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E6E4E0F-FE4C-105A-8592-80C39B1F09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917739"/>
              </p:ext>
            </p:extLst>
          </p:nvPr>
        </p:nvGraphicFramePr>
        <p:xfrm>
          <a:off x="452586" y="2546965"/>
          <a:ext cx="1662545" cy="176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2545">
                  <a:extLst>
                    <a:ext uri="{9D8B030D-6E8A-4147-A177-3AD203B41FA5}">
                      <a16:colId xmlns:a16="http://schemas.microsoft.com/office/drawing/2014/main" val="104862494"/>
                    </a:ext>
                  </a:extLst>
                </a:gridCol>
              </a:tblGrid>
              <a:tr h="445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Step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062168"/>
                  </a:ext>
                </a:extLst>
              </a:tr>
              <a:tr h="44542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에이스라이프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8390603"/>
                  </a:ext>
                </a:extLst>
              </a:tr>
              <a:tr h="8778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에이스라이프 </a:t>
                      </a:r>
                      <a:r>
                        <a:rPr lang="en-US" altLang="ko-KR" sz="1200" dirty="0"/>
                        <a:t>AS </a:t>
                      </a:r>
                      <a:r>
                        <a:rPr lang="ko-KR" altLang="en-US" sz="1200" dirty="0"/>
                        <a:t>대행료 정산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696369"/>
                  </a:ext>
                </a:extLst>
              </a:tr>
            </a:tbl>
          </a:graphicData>
        </a:graphic>
      </p:graphicFrame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12DF2BC7-CF03-0646-1F74-49ED81C95306}"/>
              </a:ext>
            </a:extLst>
          </p:cNvPr>
          <p:cNvCxnSpPr/>
          <p:nvPr/>
        </p:nvCxnSpPr>
        <p:spPr>
          <a:xfrm>
            <a:off x="2133603" y="3440508"/>
            <a:ext cx="7573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BE60B5D-3F42-4C73-417D-F400472B0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7406844"/>
              </p:ext>
            </p:extLst>
          </p:nvPr>
        </p:nvGraphicFramePr>
        <p:xfrm>
          <a:off x="2890985" y="2544656"/>
          <a:ext cx="1662545" cy="176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2545">
                  <a:extLst>
                    <a:ext uri="{9D8B030D-6E8A-4147-A177-3AD203B41FA5}">
                      <a16:colId xmlns:a16="http://schemas.microsoft.com/office/drawing/2014/main" val="104862494"/>
                    </a:ext>
                  </a:extLst>
                </a:gridCol>
              </a:tblGrid>
              <a:tr h="445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Step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062168"/>
                  </a:ext>
                </a:extLst>
              </a:tr>
              <a:tr h="44542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나누텍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8390603"/>
                  </a:ext>
                </a:extLst>
              </a:tr>
              <a:tr h="8778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나누텍 </a:t>
                      </a:r>
                      <a:r>
                        <a:rPr lang="en-US" altLang="ko-KR" sz="1200" dirty="0"/>
                        <a:t>AS </a:t>
                      </a:r>
                      <a:r>
                        <a:rPr lang="ko-KR" altLang="en-US" sz="1200" dirty="0"/>
                        <a:t>대행료 정산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696369"/>
                  </a:ext>
                </a:extLst>
              </a:tr>
            </a:tbl>
          </a:graphicData>
        </a:graphic>
      </p:graphicFrame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BD65DB30-11A4-C615-688A-80940BED97FC}"/>
              </a:ext>
            </a:extLst>
          </p:cNvPr>
          <p:cNvCxnSpPr/>
          <p:nvPr/>
        </p:nvCxnSpPr>
        <p:spPr>
          <a:xfrm>
            <a:off x="4553530" y="3440508"/>
            <a:ext cx="7573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24DE8FFB-101D-8F81-EFDF-3F6AD0E4FC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1690007"/>
              </p:ext>
            </p:extLst>
          </p:nvPr>
        </p:nvGraphicFramePr>
        <p:xfrm>
          <a:off x="5310912" y="2544656"/>
          <a:ext cx="1662545" cy="176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2545">
                  <a:extLst>
                    <a:ext uri="{9D8B030D-6E8A-4147-A177-3AD203B41FA5}">
                      <a16:colId xmlns:a16="http://schemas.microsoft.com/office/drawing/2014/main" val="104862494"/>
                    </a:ext>
                  </a:extLst>
                </a:gridCol>
              </a:tblGrid>
              <a:tr h="445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Step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062168"/>
                  </a:ext>
                </a:extLst>
              </a:tr>
              <a:tr h="44542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제이원프라임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8390603"/>
                  </a:ext>
                </a:extLst>
              </a:tr>
              <a:tr h="8778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제이원프라임 </a:t>
                      </a:r>
                      <a:r>
                        <a:rPr lang="en-US" altLang="ko-KR" sz="1200" dirty="0"/>
                        <a:t>AS </a:t>
                      </a:r>
                      <a:r>
                        <a:rPr lang="ko-KR" altLang="en-US" sz="1200" dirty="0"/>
                        <a:t>대행료 정산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696369"/>
                  </a:ext>
                </a:extLst>
              </a:tr>
            </a:tbl>
          </a:graphicData>
        </a:graphic>
      </p:graphicFrame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3AD9BD4F-E861-2DF8-24E6-99A9363ED81D}"/>
              </a:ext>
            </a:extLst>
          </p:cNvPr>
          <p:cNvCxnSpPr/>
          <p:nvPr/>
        </p:nvCxnSpPr>
        <p:spPr>
          <a:xfrm>
            <a:off x="6973457" y="3440508"/>
            <a:ext cx="7573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491EF66F-4E8D-0AC0-6CC4-EDF847EF77FD}"/>
              </a:ext>
            </a:extLst>
          </p:cNvPr>
          <p:cNvCxnSpPr/>
          <p:nvPr/>
        </p:nvCxnSpPr>
        <p:spPr>
          <a:xfrm>
            <a:off x="9393384" y="3452016"/>
            <a:ext cx="7573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0981677B-0538-3338-BB9D-EDC7317685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8148485"/>
              </p:ext>
            </p:extLst>
          </p:nvPr>
        </p:nvGraphicFramePr>
        <p:xfrm>
          <a:off x="10150766" y="2556164"/>
          <a:ext cx="1662545" cy="176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2545">
                  <a:extLst>
                    <a:ext uri="{9D8B030D-6E8A-4147-A177-3AD203B41FA5}">
                      <a16:colId xmlns:a16="http://schemas.microsoft.com/office/drawing/2014/main" val="104862494"/>
                    </a:ext>
                  </a:extLst>
                </a:gridCol>
              </a:tblGrid>
              <a:tr h="445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Step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/>
                        <a:t>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062168"/>
                  </a:ext>
                </a:extLst>
              </a:tr>
              <a:tr h="44542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Teams, Outlook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8390603"/>
                  </a:ext>
                </a:extLst>
              </a:tr>
              <a:tr h="8778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완료된 계정 알림 발송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696369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F5EBA715-9AEB-9109-556B-A485E44202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6104944"/>
              </p:ext>
            </p:extLst>
          </p:nvPr>
        </p:nvGraphicFramePr>
        <p:xfrm>
          <a:off x="7730839" y="2521640"/>
          <a:ext cx="1662545" cy="176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2545">
                  <a:extLst>
                    <a:ext uri="{9D8B030D-6E8A-4147-A177-3AD203B41FA5}">
                      <a16:colId xmlns:a16="http://schemas.microsoft.com/office/drawing/2014/main" val="104862494"/>
                    </a:ext>
                  </a:extLst>
                </a:gridCol>
              </a:tblGrid>
              <a:tr h="445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Step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062168"/>
                  </a:ext>
                </a:extLst>
              </a:tr>
              <a:tr h="44542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씨랩시스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8390603"/>
                  </a:ext>
                </a:extLst>
              </a:tr>
              <a:tr h="8778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씨랩시스 </a:t>
                      </a:r>
                      <a:r>
                        <a:rPr lang="en-US" altLang="ko-KR" sz="1200" dirty="0"/>
                        <a:t>AS </a:t>
                      </a:r>
                      <a:r>
                        <a:rPr lang="ko-KR" altLang="en-US" sz="1200" dirty="0"/>
                        <a:t>대행료 정산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6963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3256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A3CE83D1-360D-DF72-C223-28334FF355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482" y="1627911"/>
            <a:ext cx="7397802" cy="453043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2C5C234-3FDE-13D4-70E5-78FEE7F0E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0) Template </a:t>
            </a:r>
            <a:r>
              <a:rPr lang="ko-KR" altLang="en-US" sz="2400" dirty="0">
                <a:latin typeface="+mn-ea"/>
                <a:ea typeface="+mn-ea"/>
              </a:rPr>
              <a:t>파일 읽기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4A326F9-B86F-5D7C-1D37-AD642A38D241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2609662-C7C0-9186-74D0-0A59963EECB0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FCF9DA9-772A-7C0A-EE81-3E804BCCDDC2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R26013_</a:t>
              </a:r>
              <a:r>
                <a:rPr lang="ko-KR" altLang="en-US" sz="1000" dirty="0">
                  <a:solidFill>
                    <a:schemeClr val="tx1"/>
                  </a:solidFill>
                </a:rPr>
                <a:t>외주업체</a:t>
              </a:r>
              <a:r>
                <a:rPr lang="en-US" altLang="ko-KR" sz="1000" dirty="0">
                  <a:solidFill>
                    <a:schemeClr val="tx1"/>
                  </a:solidFill>
                </a:rPr>
                <a:t> AS </a:t>
              </a:r>
              <a:r>
                <a:rPr lang="ko-KR" altLang="en-US" sz="1000" dirty="0">
                  <a:solidFill>
                    <a:schemeClr val="tx1"/>
                  </a:solidFill>
                </a:rPr>
                <a:t>대행료 정산 채널 접속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공유</a:t>
              </a:r>
              <a:r>
                <a:rPr lang="en-US" altLang="ko-KR" sz="1000" dirty="0">
                  <a:solidFill>
                    <a:schemeClr val="tx1"/>
                  </a:solidFill>
                </a:rPr>
                <a:t>&gt;</a:t>
              </a:r>
              <a:r>
                <a:rPr lang="ko-KR" altLang="en-US" sz="1000" dirty="0">
                  <a:solidFill>
                    <a:schemeClr val="tx1"/>
                  </a:solidFill>
                </a:rPr>
                <a:t>문서</a:t>
              </a:r>
              <a:r>
                <a:rPr lang="en-US" altLang="ko-KR" sz="1000" dirty="0">
                  <a:solidFill>
                    <a:schemeClr val="tx1"/>
                  </a:solidFill>
                </a:rPr>
                <a:t>&gt;Template&gt;AS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 </a:t>
              </a:r>
              <a:r>
                <a:rPr lang="ko-KR" altLang="en-US" sz="1000" dirty="0">
                  <a:solidFill>
                    <a:schemeClr val="tx1"/>
                  </a:solidFill>
                </a:rPr>
                <a:t>파일 읽기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※ </a:t>
              </a:r>
              <a:r>
                <a:rPr lang="ko-KR" altLang="en-US" sz="1000" dirty="0">
                  <a:solidFill>
                    <a:schemeClr val="tx1"/>
                  </a:solidFill>
                </a:rPr>
                <a:t>삭제 열 리스트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 </a:t>
              </a:r>
              <a:r>
                <a:rPr lang="ko-KR" altLang="en-US" sz="1000" dirty="0">
                  <a:solidFill>
                    <a:schemeClr val="tx1"/>
                  </a:solidFill>
                </a:rPr>
                <a:t>파일은 추후 불필요 칼럼 삭제 과정에서 사용하는 파일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926ADD9-A055-DEFA-20C9-39CEC4422A24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DC95AA5-7812-AA2A-BAE8-55A83489351E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1373E1E-3952-19E0-015E-753FA3D8FEFC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 </a:t>
              </a:r>
              <a:r>
                <a:rPr lang="ko-KR" altLang="en-US" sz="1000" dirty="0">
                  <a:solidFill>
                    <a:schemeClr val="tx1"/>
                  </a:solidFill>
                </a:rPr>
                <a:t>파일은 업무 담당자가 업로드하는 파일</a:t>
              </a:r>
              <a:r>
                <a:rPr lang="en-US" altLang="ko-KR" sz="1000" dirty="0">
                  <a:solidFill>
                    <a:schemeClr val="tx1"/>
                  </a:solidFill>
                </a:rPr>
                <a:t>(</a:t>
              </a:r>
              <a:r>
                <a:rPr lang="ko-KR" altLang="en-US" sz="1000" dirty="0">
                  <a:solidFill>
                    <a:schemeClr val="tx1"/>
                  </a:solidFill>
                </a:rPr>
                <a:t>사용자 매뉴얼</a:t>
              </a:r>
              <a:r>
                <a:rPr lang="en-US" altLang="ko-KR" sz="1000" dirty="0">
                  <a:solidFill>
                    <a:schemeClr val="tx1"/>
                  </a:solidFill>
                </a:rPr>
                <a:t>.pptx </a:t>
              </a:r>
              <a:r>
                <a:rPr lang="ko-KR" altLang="en-US" sz="1000" dirty="0">
                  <a:solidFill>
                    <a:schemeClr val="tx1"/>
                  </a:solidFill>
                </a:rPr>
                <a:t>파일 참고</a:t>
              </a:r>
              <a:r>
                <a:rPr lang="en-US" altLang="ko-KR" sz="1000" dirty="0">
                  <a:solidFill>
                    <a:schemeClr val="tx1"/>
                  </a:solidFill>
                </a:rPr>
                <a:t>)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CEDC6A2-C733-2659-4C4F-0FA5583F337C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66609B3-F4F8-6B0E-68CE-6794DCAA520A}"/>
              </a:ext>
            </a:extLst>
          </p:cNvPr>
          <p:cNvSpPr/>
          <p:nvPr/>
        </p:nvSpPr>
        <p:spPr>
          <a:xfrm>
            <a:off x="602447" y="4128653"/>
            <a:ext cx="1545177" cy="20574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BFA5B9C-B42A-AAAB-A5A7-5884879586B9}"/>
              </a:ext>
            </a:extLst>
          </p:cNvPr>
          <p:cNvSpPr/>
          <p:nvPr/>
        </p:nvSpPr>
        <p:spPr>
          <a:xfrm>
            <a:off x="2147624" y="2574636"/>
            <a:ext cx="2516740" cy="90054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5" name="그래픽 44" descr="배지 1 윤곽선">
            <a:extLst>
              <a:ext uri="{FF2B5EF4-FFF2-40B4-BE49-F238E27FC236}">
                <a16:creationId xmlns:a16="http://schemas.microsoft.com/office/drawing/2014/main" id="{B872A934-0459-E47A-6E23-D244C71414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0108" y="3661854"/>
            <a:ext cx="429853" cy="429853"/>
          </a:xfrm>
          <a:prstGeom prst="rect">
            <a:avLst/>
          </a:prstGeom>
        </p:spPr>
      </p:pic>
      <p:pic>
        <p:nvPicPr>
          <p:cNvPr id="46" name="그래픽 45" descr="배지 윤곽선">
            <a:extLst>
              <a:ext uri="{FF2B5EF4-FFF2-40B4-BE49-F238E27FC236}">
                <a16:creationId xmlns:a16="http://schemas.microsoft.com/office/drawing/2014/main" id="{189F6DE8-4B6B-CFFA-14BF-D0AC1B2243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56612" y="2075872"/>
            <a:ext cx="498764" cy="498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465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C8586-2E24-F813-1684-F624760B2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DA0D1B-6577-3A6E-D6E8-6DF8FE1BB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1) </a:t>
            </a:r>
            <a:r>
              <a:rPr lang="ko-KR" altLang="en-US" sz="2400" dirty="0">
                <a:latin typeface="+mn-ea"/>
                <a:ea typeface="+mn-ea"/>
              </a:rPr>
              <a:t>에이스 라이프 </a:t>
            </a:r>
            <a:r>
              <a:rPr lang="en-US" altLang="ko-KR" sz="2400" dirty="0">
                <a:latin typeface="+mn-ea"/>
                <a:ea typeface="+mn-ea"/>
              </a:rPr>
              <a:t>[</a:t>
            </a:r>
            <a:r>
              <a:rPr lang="ko-KR" altLang="en-US" sz="2400" dirty="0">
                <a:latin typeface="+mn-ea"/>
                <a:ea typeface="+mn-ea"/>
              </a:rPr>
              <a:t>데이터 필터링</a:t>
            </a:r>
            <a:r>
              <a:rPr lang="en-US" altLang="ko-KR" sz="2400" dirty="0">
                <a:latin typeface="+mn-ea"/>
                <a:ea typeface="+mn-ea"/>
              </a:rPr>
              <a:t>]</a:t>
            </a: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37C8E14-9A1A-1707-6786-E3C16194A033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1768024D-000A-24F7-8A07-CE2C38A7D243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2946340-FF90-59F2-1AE9-D4A70FBD69E2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사용 파일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</a:t>
              </a: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업체 필터링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[</a:t>
              </a:r>
              <a:r>
                <a:rPr lang="ko-KR" altLang="en-US" sz="1000" dirty="0">
                  <a:solidFill>
                    <a:schemeClr val="tx1"/>
                  </a:solidFill>
                </a:rPr>
                <a:t>제품사입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열에서 </a:t>
              </a:r>
              <a:r>
                <a:rPr lang="en-US" altLang="ko-KR" sz="1000" dirty="0">
                  <a:solidFill>
                    <a:schemeClr val="tx1"/>
                  </a:solidFill>
                </a:rPr>
                <a:t>“</a:t>
              </a:r>
              <a:r>
                <a:rPr lang="ko-KR" altLang="en-US" sz="1000" dirty="0">
                  <a:solidFill>
                    <a:schemeClr val="tx1"/>
                  </a:solidFill>
                </a:rPr>
                <a:t>에이스라이프</a:t>
              </a:r>
              <a:r>
                <a:rPr lang="en-US" altLang="ko-KR" sz="1000" dirty="0">
                  <a:solidFill>
                    <a:schemeClr val="tx1"/>
                  </a:solidFill>
                </a:rPr>
                <a:t>”</a:t>
              </a:r>
              <a:r>
                <a:rPr lang="ko-KR" altLang="en-US" sz="1000" dirty="0">
                  <a:solidFill>
                    <a:schemeClr val="tx1"/>
                  </a:solidFill>
                </a:rPr>
                <a:t>가 포함된 데이터 필터링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유무상 필터링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[</a:t>
              </a:r>
              <a:r>
                <a:rPr lang="ko-KR" altLang="en-US" sz="1000" dirty="0">
                  <a:solidFill>
                    <a:schemeClr val="tx1"/>
                  </a:solidFill>
                </a:rPr>
                <a:t>유무상</a:t>
              </a:r>
              <a:r>
                <a:rPr lang="en-US" altLang="ko-KR" sz="1000" dirty="0">
                  <a:solidFill>
                    <a:schemeClr val="tx1"/>
                  </a:solidFill>
                </a:rPr>
                <a:t>(</a:t>
              </a:r>
              <a:r>
                <a:rPr lang="ko-KR" altLang="en-US" sz="1000" dirty="0">
                  <a:solidFill>
                    <a:schemeClr val="tx1"/>
                  </a:solidFill>
                </a:rPr>
                <a:t>부품</a:t>
              </a:r>
              <a:r>
                <a:rPr lang="en-US" altLang="ko-KR" sz="1000" dirty="0">
                  <a:solidFill>
                    <a:schemeClr val="tx1"/>
                  </a:solidFill>
                </a:rPr>
                <a:t>)]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열에서 </a:t>
              </a:r>
              <a:r>
                <a:rPr lang="en-US" altLang="ko-KR" sz="1000" dirty="0">
                  <a:solidFill>
                    <a:schemeClr val="tx1"/>
                  </a:solidFill>
                </a:rPr>
                <a:t>“N”</a:t>
              </a:r>
              <a:r>
                <a:rPr lang="ko-KR" altLang="en-US" sz="1000" dirty="0">
                  <a:solidFill>
                    <a:schemeClr val="tx1"/>
                  </a:solidFill>
                </a:rPr>
                <a:t>인 데이터 필터링</a:t>
              </a:r>
              <a:r>
                <a:rPr lang="en-US" altLang="ko-KR" sz="1000" dirty="0">
                  <a:solidFill>
                    <a:schemeClr val="tx1"/>
                  </a:solidFill>
                </a:rPr>
                <a:t>(</a:t>
              </a:r>
              <a:r>
                <a:rPr lang="ko-KR" altLang="en-US" sz="1000" dirty="0">
                  <a:solidFill>
                    <a:schemeClr val="tx1"/>
                  </a:solidFill>
                </a:rPr>
                <a:t>비어있는 경우 </a:t>
              </a:r>
              <a:r>
                <a:rPr lang="en-US" altLang="ko-KR" sz="1000" dirty="0">
                  <a:solidFill>
                    <a:schemeClr val="tx1"/>
                  </a:solidFill>
                </a:rPr>
                <a:t>“N”</a:t>
              </a:r>
              <a:r>
                <a:rPr lang="ko-KR" altLang="en-US" sz="1000" dirty="0">
                  <a:solidFill>
                    <a:schemeClr val="tx1"/>
                  </a:solidFill>
                </a:rPr>
                <a:t>으로 업데이트</a:t>
              </a:r>
              <a:r>
                <a:rPr lang="en-US" altLang="ko-KR" sz="1000" dirty="0">
                  <a:solidFill>
                    <a:schemeClr val="tx1"/>
                  </a:solidFill>
                </a:rPr>
                <a:t>)</a:t>
              </a: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조치 필터링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[</a:t>
              </a:r>
              <a:r>
                <a:rPr lang="ko-KR" altLang="en-US" sz="1000" dirty="0">
                  <a:solidFill>
                    <a:schemeClr val="tx1"/>
                  </a:solidFill>
                </a:rPr>
                <a:t>조치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열에서 </a:t>
              </a:r>
              <a:r>
                <a:rPr lang="en-US" altLang="ko-KR" sz="1000" dirty="0">
                  <a:solidFill>
                    <a:schemeClr val="tx1"/>
                  </a:solidFill>
                </a:rPr>
                <a:t>“</a:t>
              </a:r>
              <a:r>
                <a:rPr lang="ko-KR" altLang="en-US" sz="1000" dirty="0">
                  <a:solidFill>
                    <a:schemeClr val="tx1"/>
                  </a:solidFill>
                </a:rPr>
                <a:t>유상거부</a:t>
              </a:r>
              <a:r>
                <a:rPr lang="en-US" altLang="ko-KR" sz="1000" dirty="0">
                  <a:solidFill>
                    <a:schemeClr val="tx1"/>
                  </a:solidFill>
                </a:rPr>
                <a:t>”, ”</a:t>
              </a:r>
              <a:r>
                <a:rPr lang="ko-KR" altLang="en-US" sz="1000" dirty="0">
                  <a:solidFill>
                    <a:schemeClr val="tx1"/>
                  </a:solidFill>
                </a:rPr>
                <a:t>타사품</a:t>
              </a:r>
              <a:r>
                <a:rPr lang="en-US" altLang="ko-KR" sz="1000" dirty="0">
                  <a:solidFill>
                    <a:schemeClr val="tx1"/>
                  </a:solidFill>
                </a:rPr>
                <a:t>”, “</a:t>
              </a:r>
              <a:r>
                <a:rPr lang="ko-KR" altLang="en-US" sz="1000" dirty="0">
                  <a:solidFill>
                    <a:schemeClr val="tx1"/>
                  </a:solidFill>
                </a:rPr>
                <a:t>전화처리</a:t>
              </a:r>
              <a:r>
                <a:rPr lang="en-US" altLang="ko-KR" sz="1000" dirty="0">
                  <a:solidFill>
                    <a:schemeClr val="tx1"/>
                  </a:solidFill>
                </a:rPr>
                <a:t>”, “</a:t>
              </a:r>
              <a:r>
                <a:rPr lang="ko-KR" altLang="en-US" sz="1000" dirty="0">
                  <a:solidFill>
                    <a:schemeClr val="tx1"/>
                  </a:solidFill>
                </a:rPr>
                <a:t>처리이관</a:t>
              </a:r>
              <a:r>
                <a:rPr lang="en-US" altLang="ko-KR" sz="1000" dirty="0">
                  <a:solidFill>
                    <a:schemeClr val="tx1"/>
                  </a:solidFill>
                </a:rPr>
                <a:t>”, “</a:t>
              </a:r>
              <a:r>
                <a:rPr lang="ko-KR" altLang="en-US" sz="1000" dirty="0">
                  <a:solidFill>
                    <a:schemeClr val="tx1"/>
                  </a:solidFill>
                </a:rPr>
                <a:t>사용설명</a:t>
              </a:r>
              <a:r>
                <a:rPr lang="en-US" altLang="ko-KR" sz="1000" dirty="0">
                  <a:solidFill>
                    <a:schemeClr val="tx1"/>
                  </a:solidFill>
                </a:rPr>
                <a:t>”</a:t>
              </a:r>
              <a:r>
                <a:rPr lang="ko-KR" altLang="en-US" sz="1000" dirty="0">
                  <a:solidFill>
                    <a:schemeClr val="tx1"/>
                  </a:solidFill>
                </a:rPr>
                <a:t>이 아닌 데이터 필터링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“</a:t>
              </a:r>
              <a:r>
                <a:rPr lang="ko-KR" altLang="en-US" sz="1000" dirty="0">
                  <a:solidFill>
                    <a:schemeClr val="tx1"/>
                  </a:solidFill>
                </a:rPr>
                <a:t>에이스라이프</a:t>
              </a:r>
              <a:r>
                <a:rPr lang="en-US" altLang="ko-KR" sz="1000" dirty="0">
                  <a:solidFill>
                    <a:schemeClr val="tx1"/>
                  </a:solidFill>
                </a:rPr>
                <a:t>” </a:t>
              </a:r>
              <a:r>
                <a:rPr lang="ko-KR" altLang="en-US" sz="1000" dirty="0">
                  <a:solidFill>
                    <a:schemeClr val="tx1"/>
                  </a:solidFill>
                </a:rPr>
                <a:t>시트 생성 후 필터링된 데이터 작성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8ECEEE4-97A9-508B-923F-570EE450D334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4E4B77A7-00DB-85CC-C9FF-1D17F66D8BD3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878D448-F715-9BB3-508B-45074BED12FF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사전 작업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 </a:t>
              </a:r>
              <a:r>
                <a:rPr lang="ko-KR" altLang="en-US" sz="1000" dirty="0">
                  <a:solidFill>
                    <a:schemeClr val="tx1"/>
                  </a:solidFill>
                </a:rPr>
                <a:t>시트 명 변경</a:t>
              </a:r>
              <a:r>
                <a:rPr lang="en-US" altLang="ko-KR" sz="1000" dirty="0">
                  <a:solidFill>
                    <a:schemeClr val="tx1"/>
                  </a:solidFill>
                </a:rPr>
                <a:t>(Table1 -&gt; </a:t>
              </a:r>
              <a:r>
                <a:rPr lang="ko-KR" altLang="en-US" sz="1000" dirty="0">
                  <a:solidFill>
                    <a:schemeClr val="tx1"/>
                  </a:solidFill>
                </a:rPr>
                <a:t>원본</a:t>
              </a:r>
              <a:r>
                <a:rPr lang="en-US" altLang="ko-KR" sz="1000" dirty="0">
                  <a:solidFill>
                    <a:schemeClr val="tx1"/>
                  </a:solidFill>
                </a:rPr>
                <a:t>)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D16D546-6D5C-EF2C-2B68-428B338C04E1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C921DACB-FE22-7AC9-E5A8-8B71073D9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17" y="1882595"/>
            <a:ext cx="2371410" cy="4307084"/>
          </a:xfrm>
          <a:prstGeom prst="rect">
            <a:avLst/>
          </a:prstGeom>
        </p:spPr>
      </p:pic>
      <p:pic>
        <p:nvPicPr>
          <p:cNvPr id="9" name="그래픽 8" descr="배지 1 윤곽선">
            <a:extLst>
              <a:ext uri="{FF2B5EF4-FFF2-40B4-BE49-F238E27FC236}">
                <a16:creationId xmlns:a16="http://schemas.microsoft.com/office/drawing/2014/main" id="{803BB3EB-3595-97AF-B289-D0F7C4A749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4009" y="1430824"/>
            <a:ext cx="429853" cy="42985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29A03881-393D-5FCE-FBB8-97333C8B33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6451" y="1882595"/>
            <a:ext cx="2321133" cy="4348982"/>
          </a:xfrm>
          <a:prstGeom prst="rect">
            <a:avLst/>
          </a:prstGeom>
        </p:spPr>
      </p:pic>
      <p:pic>
        <p:nvPicPr>
          <p:cNvPr id="17" name="그래픽 16" descr="배지 윤곽선">
            <a:extLst>
              <a:ext uri="{FF2B5EF4-FFF2-40B4-BE49-F238E27FC236}">
                <a16:creationId xmlns:a16="http://schemas.microsoft.com/office/drawing/2014/main" id="{444482D2-B2A9-7483-BC13-CA93982A6F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3752090" y="1433458"/>
            <a:ext cx="429853" cy="429853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E34D54B6-CBB9-D973-B52E-185C887A36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87159" y="1882595"/>
            <a:ext cx="2335879" cy="4348982"/>
          </a:xfrm>
          <a:prstGeom prst="rect">
            <a:avLst/>
          </a:prstGeom>
        </p:spPr>
      </p:pic>
      <p:pic>
        <p:nvPicPr>
          <p:cNvPr id="20" name="그래픽 19" descr="배지 3 윤곽선">
            <a:extLst>
              <a:ext uri="{FF2B5EF4-FFF2-40B4-BE49-F238E27FC236}">
                <a16:creationId xmlns:a16="http://schemas.microsoft.com/office/drawing/2014/main" id="{A94EE6E0-F0E7-E75A-C19A-7FA13F0F06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6340171" y="1430825"/>
            <a:ext cx="429853" cy="42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362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3FB1E-EE30-9090-3F1A-6741F402A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5675FCB5-0640-52CE-8CF9-74DABA0344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565" y="1115290"/>
            <a:ext cx="3324995" cy="546331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735B10E-E2CF-76A1-4D99-057079BF4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1) </a:t>
            </a:r>
            <a:r>
              <a:rPr lang="ko-KR" altLang="en-US" sz="2400" dirty="0">
                <a:latin typeface="+mn-ea"/>
                <a:ea typeface="+mn-ea"/>
              </a:rPr>
              <a:t>에이스 라이프 </a:t>
            </a:r>
            <a:r>
              <a:rPr lang="en-US" altLang="ko-KR" sz="2400" dirty="0">
                <a:latin typeface="+mn-ea"/>
                <a:ea typeface="+mn-ea"/>
              </a:rPr>
              <a:t>[</a:t>
            </a:r>
            <a:r>
              <a:rPr lang="ko-KR" altLang="en-US" sz="2400" dirty="0">
                <a:latin typeface="+mn-ea"/>
                <a:ea typeface="+mn-ea"/>
              </a:rPr>
              <a:t>불필요 칼럼 삭제</a:t>
            </a:r>
            <a:r>
              <a:rPr lang="en-US" altLang="ko-KR" sz="2400" dirty="0">
                <a:latin typeface="+mn-ea"/>
                <a:ea typeface="+mn-ea"/>
              </a:rPr>
              <a:t>]</a:t>
            </a: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784F587-9058-0687-2F68-79797A123C3C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559ED72-5482-5A87-4541-E97280E97894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2FF826E-E6D6-132F-C52F-87353F206449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사용 파일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.xlsx, </a:t>
              </a:r>
              <a:r>
                <a:rPr lang="ko-KR" altLang="en-US" sz="1000" dirty="0">
                  <a:solidFill>
                    <a:schemeClr val="tx1"/>
                  </a:solidFill>
                </a:rPr>
                <a:t>삭제 열 리스트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</a:t>
              </a: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삭제 열 리스트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</a:t>
              </a:r>
              <a:r>
                <a:rPr lang="ko-KR" altLang="en-US" sz="1000" dirty="0">
                  <a:solidFill>
                    <a:schemeClr val="tx1"/>
                  </a:solidFill>
                </a:rPr>
                <a:t>에서 </a:t>
              </a:r>
              <a:r>
                <a:rPr lang="en-US" altLang="ko-KR" sz="1000" dirty="0">
                  <a:solidFill>
                    <a:schemeClr val="tx1"/>
                  </a:solidFill>
                </a:rPr>
                <a:t>“</a:t>
              </a:r>
              <a:r>
                <a:rPr lang="ko-KR" altLang="en-US" sz="1000" dirty="0">
                  <a:solidFill>
                    <a:schemeClr val="tx1"/>
                  </a:solidFill>
                </a:rPr>
                <a:t>에이스라이프</a:t>
              </a:r>
              <a:r>
                <a:rPr lang="en-US" altLang="ko-KR" sz="1000" dirty="0">
                  <a:solidFill>
                    <a:schemeClr val="tx1"/>
                  </a:solidFill>
                </a:rPr>
                <a:t>”</a:t>
              </a:r>
              <a:r>
                <a:rPr lang="ko-KR" altLang="en-US" sz="1000" dirty="0">
                  <a:solidFill>
                    <a:schemeClr val="tx1"/>
                  </a:solidFill>
                </a:rPr>
                <a:t> 시트의 데이터 읽기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</a:t>
              </a:r>
              <a:r>
                <a:rPr lang="ko-KR" altLang="en-US" sz="1000" dirty="0">
                  <a:solidFill>
                    <a:schemeClr val="tx1"/>
                  </a:solidFill>
                </a:rPr>
                <a:t>에서 </a:t>
              </a:r>
              <a:r>
                <a:rPr lang="en-US" altLang="ko-KR" sz="1000" dirty="0">
                  <a:solidFill>
                    <a:schemeClr val="tx1"/>
                  </a:solidFill>
                </a:rPr>
                <a:t>“</a:t>
              </a:r>
              <a:r>
                <a:rPr lang="ko-KR" altLang="en-US" sz="1000" dirty="0">
                  <a:solidFill>
                    <a:schemeClr val="tx1"/>
                  </a:solidFill>
                </a:rPr>
                <a:t>에이스라이프</a:t>
              </a:r>
              <a:r>
                <a:rPr lang="en-US" altLang="ko-KR" sz="1000" dirty="0">
                  <a:solidFill>
                    <a:schemeClr val="tx1"/>
                  </a:solidFill>
                </a:rPr>
                <a:t>”</a:t>
              </a:r>
              <a:r>
                <a:rPr lang="ko-KR" altLang="en-US" sz="1000" dirty="0">
                  <a:solidFill>
                    <a:schemeClr val="tx1"/>
                  </a:solidFill>
                </a:rPr>
                <a:t> 시트의 칼럼 삭제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A249AEA-1C34-AD8C-9352-C60B35BE30F7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32B7328A-327C-7344-D45E-5F911EB34169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688DD2D-C208-E628-15D8-29BB294DE2EA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삭제할 칼럼이 수정될 시 삭제 열 리스트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 </a:t>
              </a:r>
              <a:r>
                <a:rPr lang="ko-KR" altLang="en-US" sz="1000" dirty="0">
                  <a:solidFill>
                    <a:schemeClr val="tx1"/>
                  </a:solidFill>
                </a:rPr>
                <a:t>파일에 업데이트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288BE16-8C83-EA32-2AAE-30073C531871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래픽 8" descr="배지 1 윤곽선">
            <a:extLst>
              <a:ext uri="{FF2B5EF4-FFF2-40B4-BE49-F238E27FC236}">
                <a16:creationId xmlns:a16="http://schemas.microsoft.com/office/drawing/2014/main" id="{29C522D7-AD80-F085-EE72-0D31454EA0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5334" y="2034127"/>
            <a:ext cx="429853" cy="429853"/>
          </a:xfrm>
          <a:prstGeom prst="rect">
            <a:avLst/>
          </a:prstGeom>
        </p:spPr>
      </p:pic>
      <p:pic>
        <p:nvPicPr>
          <p:cNvPr id="17" name="그래픽 16" descr="배지 윤곽선">
            <a:extLst>
              <a:ext uri="{FF2B5EF4-FFF2-40B4-BE49-F238E27FC236}">
                <a16:creationId xmlns:a16="http://schemas.microsoft.com/office/drawing/2014/main" id="{4C3266E9-E316-F1CD-CDBC-C0F178627F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530273" y="3580397"/>
            <a:ext cx="429853" cy="42985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ADE2C64-113F-681E-8AC5-4C2D761225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6436" y="4084141"/>
            <a:ext cx="6017528" cy="2494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12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3BA0A-1D85-F09A-7067-A10CFBA10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6420091-49DB-4DD2-46E1-05282795A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4899" y="1413558"/>
            <a:ext cx="4448761" cy="512116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E8F4912-F338-D224-2B93-E9E826F19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1) </a:t>
            </a:r>
            <a:r>
              <a:rPr lang="ko-KR" altLang="en-US" sz="2400" dirty="0">
                <a:latin typeface="+mn-ea"/>
                <a:ea typeface="+mn-ea"/>
              </a:rPr>
              <a:t>에이스 라이프 </a:t>
            </a:r>
            <a:r>
              <a:rPr lang="en-US" altLang="ko-KR" sz="2400" dirty="0">
                <a:latin typeface="+mn-ea"/>
                <a:ea typeface="+mn-ea"/>
              </a:rPr>
              <a:t>[</a:t>
            </a:r>
            <a:r>
              <a:rPr lang="ko-KR" altLang="en-US" sz="2400" dirty="0">
                <a:latin typeface="+mn-ea"/>
                <a:ea typeface="+mn-ea"/>
              </a:rPr>
              <a:t>사입단가 데이터 가져오기</a:t>
            </a:r>
            <a:r>
              <a:rPr lang="en-US" altLang="ko-KR" sz="2400" dirty="0">
                <a:latin typeface="+mn-ea"/>
                <a:ea typeface="+mn-ea"/>
              </a:rPr>
              <a:t>]</a:t>
            </a: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2CD1EE5-C725-5EFB-FBE2-524BD366C2B1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26180C8-6FBF-56A9-F7C3-45039FBF11DC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25F2295B-6FD1-4D6E-3415-5A1EE5CCC49B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사용 파일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</a:t>
              </a: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DB2</a:t>
              </a:r>
              <a:r>
                <a:rPr lang="ko-KR" altLang="en-US" sz="1000" dirty="0">
                  <a:solidFill>
                    <a:schemeClr val="tx1"/>
                  </a:solidFill>
                </a:rPr>
                <a:t>에서 에이스라이프의 사입단가 데이터 추출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“</a:t>
              </a:r>
              <a:r>
                <a:rPr lang="ko-KR" altLang="en-US" sz="1000" dirty="0">
                  <a:solidFill>
                    <a:schemeClr val="tx1"/>
                  </a:solidFill>
                </a:rPr>
                <a:t>사입단가</a:t>
              </a:r>
              <a:r>
                <a:rPr lang="en-US" altLang="ko-KR" sz="1000" dirty="0">
                  <a:solidFill>
                    <a:schemeClr val="tx1"/>
                  </a:solidFill>
                </a:rPr>
                <a:t>”,”</a:t>
              </a:r>
              <a:r>
                <a:rPr lang="ko-KR" altLang="en-US" sz="1000" dirty="0">
                  <a:solidFill>
                    <a:schemeClr val="tx1"/>
                  </a:solidFill>
                </a:rPr>
                <a:t>사입금액</a:t>
              </a:r>
              <a:r>
                <a:rPr lang="en-US" altLang="ko-KR" sz="1000" dirty="0">
                  <a:solidFill>
                    <a:schemeClr val="tx1"/>
                  </a:solidFill>
                </a:rPr>
                <a:t>”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 추가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부품코드에 맞는 </a:t>
              </a:r>
              <a:r>
                <a:rPr lang="en-US" altLang="ko-KR" sz="1000" dirty="0">
                  <a:solidFill>
                    <a:schemeClr val="tx1"/>
                  </a:solidFill>
                </a:rPr>
                <a:t>“</a:t>
              </a:r>
              <a:r>
                <a:rPr lang="ko-KR" altLang="en-US" sz="1000" dirty="0">
                  <a:solidFill>
                    <a:schemeClr val="tx1"/>
                  </a:solidFill>
                </a:rPr>
                <a:t>사입단가</a:t>
              </a:r>
              <a:r>
                <a:rPr lang="en-US" altLang="ko-KR" sz="1000" dirty="0">
                  <a:solidFill>
                    <a:schemeClr val="tx1"/>
                  </a:solidFill>
                </a:rPr>
                <a:t>” </a:t>
              </a:r>
              <a:r>
                <a:rPr lang="ko-KR" altLang="en-US" sz="1000" dirty="0">
                  <a:solidFill>
                    <a:schemeClr val="tx1"/>
                  </a:solidFill>
                </a:rPr>
                <a:t>입력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DF1D95E-B5E1-AE6F-1F40-1B2D9A81FBB3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83B5DC7-9650-0809-927C-35AB9FE52667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8E5F0DF-F9F0-B2F8-F07E-4ABD5521720F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905E9699-59B6-FBEE-4293-5B42DC057A63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래픽 8" descr="배지 윤곽선">
            <a:extLst>
              <a:ext uri="{FF2B5EF4-FFF2-40B4-BE49-F238E27FC236}">
                <a16:creationId xmlns:a16="http://schemas.microsoft.com/office/drawing/2014/main" id="{5FCB4F2F-D2C7-A460-281B-9AF66CCB44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501297" y="1198631"/>
            <a:ext cx="429853" cy="429853"/>
          </a:xfrm>
          <a:prstGeom prst="rect">
            <a:avLst/>
          </a:prstGeom>
        </p:spPr>
      </p:pic>
      <p:pic>
        <p:nvPicPr>
          <p:cNvPr id="12" name="그래픽 11" descr="배지 3 윤곽선">
            <a:extLst>
              <a:ext uri="{FF2B5EF4-FFF2-40B4-BE49-F238E27FC236}">
                <a16:creationId xmlns:a16="http://schemas.microsoft.com/office/drawing/2014/main" id="{B8A89CC7-EE74-CC9B-5D2A-CE13152B82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286370" y="3759215"/>
            <a:ext cx="429853" cy="42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353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739E6-375B-0A03-02C9-831B7F4A7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A4B017-3485-25A5-0CDD-7720DB841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1) </a:t>
            </a:r>
            <a:r>
              <a:rPr lang="ko-KR" altLang="en-US" sz="2400" dirty="0">
                <a:latin typeface="+mn-ea"/>
                <a:ea typeface="+mn-ea"/>
              </a:rPr>
              <a:t>에이스 라이프 </a:t>
            </a:r>
            <a:r>
              <a:rPr lang="en-US" altLang="ko-KR" sz="2400" dirty="0">
                <a:latin typeface="+mn-ea"/>
                <a:ea typeface="+mn-ea"/>
              </a:rPr>
              <a:t>[Serial]</a:t>
            </a: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8F5CFAB-1D99-83D8-E54C-A20E38B49C1C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1D87DF2-7818-5AE0-6BD9-BE2C263B7D35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40B4848-80A3-1B56-C972-B42D54FF74F9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사용 파일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</a:t>
              </a: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시리얼 넘버 앞 </a:t>
              </a:r>
              <a:r>
                <a:rPr lang="en-US" altLang="ko-KR" sz="1000" dirty="0">
                  <a:solidFill>
                    <a:schemeClr val="tx1"/>
                  </a:solidFill>
                </a:rPr>
                <a:t>SN </a:t>
              </a:r>
              <a:r>
                <a:rPr lang="ko-KR" altLang="en-US" sz="1000" dirty="0">
                  <a:solidFill>
                    <a:schemeClr val="tx1"/>
                  </a:solidFill>
                </a:rPr>
                <a:t>제거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SN25042500739 -&gt; 25042500739</a:t>
              </a: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시리얼 넘버 비정상</a:t>
              </a:r>
              <a:r>
                <a:rPr lang="en-US" altLang="ko-KR" sz="1000" dirty="0">
                  <a:solidFill>
                    <a:schemeClr val="tx1"/>
                  </a:solidFill>
                </a:rPr>
                <a:t> </a:t>
              </a:r>
              <a:r>
                <a:rPr lang="ko-KR" altLang="en-US" sz="1000" dirty="0">
                  <a:solidFill>
                    <a:schemeClr val="tx1"/>
                  </a:solidFill>
                </a:rPr>
                <a:t>삭제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</a:t>
              </a:r>
              <a:r>
                <a:rPr lang="ko-KR" altLang="en-US" sz="1000" dirty="0">
                  <a:solidFill>
                    <a:schemeClr val="tx1"/>
                  </a:solidFill>
                </a:rPr>
                <a:t>시리얼 넘버가 </a:t>
              </a:r>
              <a:r>
                <a:rPr lang="en-US" altLang="ko-KR" sz="1000" dirty="0">
                  <a:solidFill>
                    <a:schemeClr val="tx1"/>
                  </a:solidFill>
                </a:rPr>
                <a:t>11</a:t>
              </a:r>
              <a:r>
                <a:rPr lang="ko-KR" altLang="en-US" sz="1000" dirty="0">
                  <a:solidFill>
                    <a:schemeClr val="tx1"/>
                  </a:solidFill>
                </a:rPr>
                <a:t>자리가 아닌 데이터 삭제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시리얼 넘버로 제조년월 채우기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25042500739 -&gt; 202504</a:t>
              </a:r>
            </a:p>
            <a:p>
              <a:pPr lvl="1">
                <a:lnSpc>
                  <a:spcPct val="15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※ </a:t>
              </a:r>
              <a:r>
                <a:rPr lang="ko-KR" altLang="en-US" sz="1000" dirty="0">
                  <a:solidFill>
                    <a:schemeClr val="tx1"/>
                  </a:solidFill>
                </a:rPr>
                <a:t>제조년월이 비어있는 데이터만 수행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제조년월 기준 </a:t>
              </a:r>
              <a:r>
                <a:rPr lang="en-US" altLang="ko-KR" sz="1000" dirty="0">
                  <a:solidFill>
                    <a:schemeClr val="tx1"/>
                  </a:solidFill>
                </a:rPr>
                <a:t>15</a:t>
              </a:r>
              <a:r>
                <a:rPr lang="ko-KR" altLang="en-US" sz="1000" dirty="0">
                  <a:solidFill>
                    <a:schemeClr val="tx1"/>
                  </a:solidFill>
                </a:rPr>
                <a:t>개월 초과 </a:t>
              </a:r>
              <a:r>
                <a:rPr lang="en-US" altLang="ko-KR" sz="1000" dirty="0">
                  <a:solidFill>
                    <a:schemeClr val="tx1"/>
                  </a:solidFill>
                </a:rPr>
                <a:t>+ </a:t>
              </a:r>
              <a:r>
                <a:rPr lang="ko-KR" altLang="en-US" sz="1000" dirty="0">
                  <a:solidFill>
                    <a:schemeClr val="tx1"/>
                  </a:solidFill>
                </a:rPr>
                <a:t>영수증 없는 데이터 삭제 </a:t>
              </a:r>
              <a:r>
                <a:rPr lang="en-US" altLang="ko-KR" sz="1000" dirty="0">
                  <a:solidFill>
                    <a:schemeClr val="tx1"/>
                  </a:solidFill>
                </a:rPr>
                <a:t>:</a:t>
              </a:r>
            </a:p>
            <a:p>
              <a:pPr lvl="1"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수행 월 기준 </a:t>
              </a:r>
              <a:r>
                <a:rPr lang="en-US" altLang="ko-KR" sz="1000" dirty="0">
                  <a:solidFill>
                    <a:schemeClr val="tx1"/>
                  </a:solidFill>
                </a:rPr>
                <a:t>15</a:t>
              </a:r>
              <a:r>
                <a:rPr lang="ko-KR" altLang="en-US" sz="1000" dirty="0">
                  <a:solidFill>
                    <a:schemeClr val="tx1"/>
                  </a:solidFill>
                </a:rPr>
                <a:t>개월 초과인지 판단 </a:t>
              </a:r>
              <a:r>
                <a:rPr lang="en-US" altLang="ko-KR" sz="1000" dirty="0">
                  <a:solidFill>
                    <a:schemeClr val="tx1"/>
                  </a:solidFill>
                </a:rPr>
                <a:t>-&gt; </a:t>
              </a:r>
              <a:r>
                <a:rPr lang="ko-KR" altLang="en-US" sz="1000" dirty="0">
                  <a:solidFill>
                    <a:schemeClr val="tx1"/>
                  </a:solidFill>
                </a:rPr>
                <a:t>영수증 유무 확인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lvl="1">
                <a:lnSpc>
                  <a:spcPct val="15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15</a:t>
              </a:r>
              <a:r>
                <a:rPr lang="ko-KR" altLang="en-US" sz="1000" dirty="0">
                  <a:solidFill>
                    <a:schemeClr val="tx1"/>
                  </a:solidFill>
                </a:rPr>
                <a:t>개월 초과 </a:t>
              </a:r>
              <a:r>
                <a:rPr lang="en-US" altLang="ko-KR" sz="1000" dirty="0">
                  <a:solidFill>
                    <a:schemeClr val="tx1"/>
                  </a:solidFill>
                </a:rPr>
                <a:t>&amp; </a:t>
              </a:r>
              <a:r>
                <a:rPr lang="ko-KR" altLang="en-US" sz="1000" dirty="0">
                  <a:solidFill>
                    <a:schemeClr val="tx1"/>
                  </a:solidFill>
                </a:rPr>
                <a:t>영수증</a:t>
              </a:r>
              <a:r>
                <a:rPr lang="en-US" altLang="ko-KR" sz="1000" dirty="0">
                  <a:solidFill>
                    <a:schemeClr val="tx1"/>
                  </a:solidFill>
                </a:rPr>
                <a:t> (</a:t>
              </a:r>
              <a:r>
                <a:rPr lang="ko-KR" altLang="en-US" sz="1000" dirty="0">
                  <a:solidFill>
                    <a:schemeClr val="tx1"/>
                  </a:solidFill>
                </a:rPr>
                <a:t>무</a:t>
              </a:r>
              <a:r>
                <a:rPr lang="en-US" altLang="ko-KR" sz="1000" dirty="0">
                  <a:solidFill>
                    <a:schemeClr val="tx1"/>
                  </a:solidFill>
                </a:rPr>
                <a:t>) : </a:t>
              </a:r>
              <a:r>
                <a:rPr lang="ko-KR" altLang="en-US" sz="1000" dirty="0">
                  <a:solidFill>
                    <a:schemeClr val="tx1"/>
                  </a:solidFill>
                </a:rPr>
                <a:t>삭제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lvl="1">
                <a:lnSpc>
                  <a:spcPct val="15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15</a:t>
              </a:r>
              <a:r>
                <a:rPr lang="ko-KR" altLang="en-US" sz="1000" dirty="0">
                  <a:solidFill>
                    <a:schemeClr val="tx1"/>
                  </a:solidFill>
                </a:rPr>
                <a:t>개월 초과 </a:t>
              </a:r>
              <a:r>
                <a:rPr lang="en-US" altLang="ko-KR" sz="1000" dirty="0">
                  <a:solidFill>
                    <a:schemeClr val="tx1"/>
                  </a:solidFill>
                </a:rPr>
                <a:t>&amp; </a:t>
              </a:r>
              <a:r>
                <a:rPr lang="ko-KR" altLang="en-US" sz="1000" dirty="0">
                  <a:solidFill>
                    <a:schemeClr val="tx1"/>
                  </a:solidFill>
                </a:rPr>
                <a:t>영수증 </a:t>
              </a:r>
              <a:r>
                <a:rPr lang="en-US" altLang="ko-KR" sz="1000" dirty="0">
                  <a:solidFill>
                    <a:schemeClr val="tx1"/>
                  </a:solidFill>
                </a:rPr>
                <a:t>(</a:t>
              </a:r>
              <a:r>
                <a:rPr lang="ko-KR" altLang="en-US" sz="1000" dirty="0">
                  <a:solidFill>
                    <a:schemeClr val="tx1"/>
                  </a:solidFill>
                </a:rPr>
                <a:t>유</a:t>
              </a:r>
              <a:r>
                <a:rPr lang="en-US" altLang="ko-KR" sz="1000" dirty="0">
                  <a:solidFill>
                    <a:schemeClr val="tx1"/>
                  </a:solidFill>
                </a:rPr>
                <a:t>) : </a:t>
              </a:r>
              <a:r>
                <a:rPr lang="ko-KR" altLang="en-US" sz="1000" dirty="0">
                  <a:solidFill>
                    <a:schemeClr val="tx1"/>
                  </a:solidFill>
                </a:rPr>
                <a:t>유지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5D57104-7F15-52DA-1C6D-BAB2741549FB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946A2AA8-94FC-B5A7-3DB9-C69434B805E3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C713987-D074-D305-2770-0D1B02736296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[</a:t>
              </a:r>
              <a:r>
                <a:rPr lang="ko-KR" altLang="en-US" sz="1000" dirty="0">
                  <a:solidFill>
                    <a:schemeClr val="tx1"/>
                  </a:solidFill>
                </a:rPr>
                <a:t>영수증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열은 업무 담당자가 추가 해야되는 열</a:t>
              </a:r>
              <a:r>
                <a:rPr lang="en-US" altLang="ko-KR" sz="1000" dirty="0">
                  <a:solidFill>
                    <a:schemeClr val="tx1"/>
                  </a:solidFill>
                </a:rPr>
                <a:t>(</a:t>
              </a:r>
              <a:r>
                <a:rPr lang="ko-KR" altLang="en-US" sz="1000" dirty="0">
                  <a:solidFill>
                    <a:schemeClr val="tx1"/>
                  </a:solidFill>
                </a:rPr>
                <a:t>사용자 매뉴얼 참고</a:t>
              </a:r>
              <a:r>
                <a:rPr lang="en-US" altLang="ko-KR" sz="1000" dirty="0">
                  <a:solidFill>
                    <a:schemeClr val="tx1"/>
                  </a:solidFill>
                </a:rPr>
                <a:t>)</a:t>
              </a: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[</a:t>
              </a:r>
              <a:r>
                <a:rPr lang="ko-KR" altLang="en-US" sz="1000" dirty="0">
                  <a:solidFill>
                    <a:schemeClr val="tx1"/>
                  </a:solidFill>
                </a:rPr>
                <a:t>영수증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열에 데이터가 있는지</a:t>
              </a:r>
              <a:r>
                <a:rPr lang="en-US" altLang="ko-KR" sz="1000" dirty="0">
                  <a:solidFill>
                    <a:schemeClr val="tx1"/>
                  </a:solidFill>
                </a:rPr>
                <a:t>/</a:t>
              </a:r>
              <a:r>
                <a:rPr lang="ko-KR" altLang="en-US" sz="1000" dirty="0">
                  <a:solidFill>
                    <a:schemeClr val="tx1"/>
                  </a:solidFill>
                </a:rPr>
                <a:t>없는지를 유</a:t>
              </a:r>
              <a:r>
                <a:rPr lang="en-US" altLang="ko-KR" sz="1000" dirty="0">
                  <a:solidFill>
                    <a:schemeClr val="tx1"/>
                  </a:solidFill>
                </a:rPr>
                <a:t>/</a:t>
              </a:r>
              <a:r>
                <a:rPr lang="ko-KR" altLang="en-US" sz="1000" dirty="0">
                  <a:solidFill>
                    <a:schemeClr val="tx1"/>
                  </a:solidFill>
                </a:rPr>
                <a:t>무로 판단함</a:t>
              </a:r>
              <a:r>
                <a:rPr lang="en-US" altLang="ko-KR" sz="1000" dirty="0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1BB3AB0-5473-2110-75F3-D07F27FBC6F2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래픽 8" descr="배지 1 윤곽선">
            <a:extLst>
              <a:ext uri="{FF2B5EF4-FFF2-40B4-BE49-F238E27FC236}">
                <a16:creationId xmlns:a16="http://schemas.microsoft.com/office/drawing/2014/main" id="{EE3657C9-01EF-0A63-BD5A-25E0294A63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0929" y="1171770"/>
            <a:ext cx="429853" cy="429853"/>
          </a:xfrm>
          <a:prstGeom prst="rect">
            <a:avLst/>
          </a:prstGeom>
        </p:spPr>
      </p:pic>
      <p:pic>
        <p:nvPicPr>
          <p:cNvPr id="17" name="그래픽 16" descr="배지 윤곽선">
            <a:extLst>
              <a:ext uri="{FF2B5EF4-FFF2-40B4-BE49-F238E27FC236}">
                <a16:creationId xmlns:a16="http://schemas.microsoft.com/office/drawing/2014/main" id="{BEA8F374-281C-3469-C34E-A3EABEB07F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313544" y="1171769"/>
            <a:ext cx="429853" cy="42985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532FAD3-CAB4-D067-C32E-B70D26B498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434" y="1675514"/>
            <a:ext cx="1390844" cy="427732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2510876-D302-C06B-81BB-2FC5B155CC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3520" y="1623827"/>
            <a:ext cx="1134242" cy="224841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9FF17FD2-ED18-3B47-93D5-EE73EC63B4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98106" y="1687058"/>
            <a:ext cx="1267002" cy="3286584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96638018-E0DA-2098-6788-8FC26D79A4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92839" y="1687058"/>
            <a:ext cx="2152950" cy="4610743"/>
          </a:xfrm>
          <a:prstGeom prst="rect">
            <a:avLst/>
          </a:prstGeom>
        </p:spPr>
      </p:pic>
      <p:pic>
        <p:nvPicPr>
          <p:cNvPr id="22" name="그래픽 21" descr="배지 3 윤곽선">
            <a:extLst>
              <a:ext uri="{FF2B5EF4-FFF2-40B4-BE49-F238E27FC236}">
                <a16:creationId xmlns:a16="http://schemas.microsoft.com/office/drawing/2014/main" id="{43C691D2-A44B-FF5E-9EE4-544CD5C49C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4454387" y="1193974"/>
            <a:ext cx="429853" cy="429853"/>
          </a:xfrm>
          <a:prstGeom prst="rect">
            <a:avLst/>
          </a:prstGeom>
        </p:spPr>
      </p:pic>
      <p:pic>
        <p:nvPicPr>
          <p:cNvPr id="23" name="그래픽 22" descr="배지 4 윤곽선">
            <a:extLst>
              <a:ext uri="{FF2B5EF4-FFF2-40B4-BE49-F238E27FC236}">
                <a16:creationId xmlns:a16="http://schemas.microsoft.com/office/drawing/2014/main" id="{25DEB97C-67FB-7628-E805-D1E225F799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6525714" y="1193974"/>
            <a:ext cx="429853" cy="42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817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37A92-7FD8-D75A-74B2-E26F7671C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0ED17D20-2BFB-C43E-0C35-2134731CC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588" y="1248995"/>
            <a:ext cx="3580859" cy="51959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CD53F70-3C9D-1202-AA90-D54FCDD5A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1) </a:t>
            </a:r>
            <a:r>
              <a:rPr lang="ko-KR" altLang="en-US" sz="2400" dirty="0">
                <a:latin typeface="+mn-ea"/>
                <a:ea typeface="+mn-ea"/>
              </a:rPr>
              <a:t>에이스 라이프 </a:t>
            </a:r>
            <a:r>
              <a:rPr lang="en-US" altLang="ko-KR" sz="2400" dirty="0">
                <a:latin typeface="+mn-ea"/>
                <a:ea typeface="+mn-ea"/>
              </a:rPr>
              <a:t>[</a:t>
            </a:r>
            <a:r>
              <a:rPr lang="ko-KR" altLang="en-US" sz="2400" dirty="0">
                <a:latin typeface="+mn-ea"/>
                <a:ea typeface="+mn-ea"/>
              </a:rPr>
              <a:t>조치 열 값 변경</a:t>
            </a:r>
            <a:r>
              <a:rPr lang="en-US" altLang="ko-KR" sz="2400" dirty="0">
                <a:latin typeface="+mn-ea"/>
                <a:ea typeface="+mn-ea"/>
              </a:rPr>
              <a:t>]</a:t>
            </a: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2E22924-777C-2C47-D257-7A6EAB653830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DA5505F-3286-DBAA-FAEE-5216D54F4391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9DB9672D-973C-584A-F2A7-D54685DBED44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사용 파일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</a:t>
              </a: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부품코드가 </a:t>
              </a:r>
              <a:r>
                <a:rPr lang="en-US" altLang="ko-KR" sz="1000" dirty="0">
                  <a:solidFill>
                    <a:schemeClr val="tx1"/>
                  </a:solidFill>
                </a:rPr>
                <a:t>XX : [</a:t>
              </a:r>
              <a:r>
                <a:rPr lang="ko-KR" altLang="en-US" sz="1000" dirty="0">
                  <a:solidFill>
                    <a:schemeClr val="tx1"/>
                  </a:solidFill>
                </a:rPr>
                <a:t>조치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 </a:t>
              </a:r>
              <a:r>
                <a:rPr lang="en-US" altLang="ko-KR" sz="1000" dirty="0">
                  <a:solidFill>
                    <a:schemeClr val="tx1"/>
                  </a:solidFill>
                </a:rPr>
                <a:t>=&gt; </a:t>
              </a:r>
              <a:r>
                <a:rPr lang="ko-KR" altLang="en-US" sz="1000" dirty="0">
                  <a:solidFill>
                    <a:schemeClr val="tx1"/>
                  </a:solidFill>
                </a:rPr>
                <a:t>수리및조정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부품코드가 </a:t>
              </a:r>
              <a:r>
                <a:rPr lang="en-US" altLang="ko-KR" sz="1000" dirty="0">
                  <a:solidFill>
                    <a:schemeClr val="tx1"/>
                  </a:solidFill>
                </a:rPr>
                <a:t>XX</a:t>
              </a:r>
              <a:r>
                <a:rPr lang="ko-KR" altLang="en-US" sz="1000" dirty="0">
                  <a:solidFill>
                    <a:schemeClr val="tx1"/>
                  </a:solidFill>
                </a:rPr>
                <a:t>가 아님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[</a:t>
              </a:r>
              <a:r>
                <a:rPr lang="ko-KR" altLang="en-US" sz="1000" dirty="0">
                  <a:solidFill>
                    <a:schemeClr val="tx1"/>
                  </a:solidFill>
                </a:rPr>
                <a:t>조치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 </a:t>
              </a:r>
              <a:r>
                <a:rPr lang="en-US" altLang="ko-KR" sz="1000" dirty="0">
                  <a:solidFill>
                    <a:schemeClr val="tx1"/>
                  </a:solidFill>
                </a:rPr>
                <a:t>=&gt; </a:t>
              </a:r>
              <a:r>
                <a:rPr lang="ko-KR" altLang="en-US" sz="1000" dirty="0">
                  <a:solidFill>
                    <a:schemeClr val="tx1"/>
                  </a:solidFill>
                </a:rPr>
                <a:t>부품교환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71505A-19C8-C5D9-5AE9-C3666BF22B57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EFA73F0F-1F71-C25C-32C4-93949756B128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8A50181-5E72-7FE9-9B65-3BF190BB7445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[</a:t>
              </a:r>
              <a:r>
                <a:rPr lang="ko-KR" altLang="en-US" sz="1000" dirty="0">
                  <a:solidFill>
                    <a:schemeClr val="tx1"/>
                  </a:solidFill>
                </a:rPr>
                <a:t>원인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열은 업무 담당자가 수기 처리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E53E1FBE-FC31-11EF-6488-16E12A04DC51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래픽 8" descr="배지 1 윤곽선">
            <a:extLst>
              <a:ext uri="{FF2B5EF4-FFF2-40B4-BE49-F238E27FC236}">
                <a16:creationId xmlns:a16="http://schemas.microsoft.com/office/drawing/2014/main" id="{3B433E2F-4DE3-72BF-8221-C66DEC6CC5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52090" y="960177"/>
            <a:ext cx="429853" cy="42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012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849FE-96DE-8F2E-BE55-F29A40623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2156DA-4549-A095-813A-568366FF9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1) </a:t>
            </a:r>
            <a:r>
              <a:rPr lang="ko-KR" altLang="en-US" sz="2400" dirty="0">
                <a:latin typeface="+mn-ea"/>
                <a:ea typeface="+mn-ea"/>
              </a:rPr>
              <a:t>에이스 라이프 </a:t>
            </a:r>
            <a:r>
              <a:rPr lang="en-US" altLang="ko-KR" sz="2400" dirty="0">
                <a:latin typeface="+mn-ea"/>
                <a:ea typeface="+mn-ea"/>
              </a:rPr>
              <a:t>[</a:t>
            </a:r>
            <a:r>
              <a:rPr lang="ko-KR" altLang="en-US" sz="2400" dirty="0">
                <a:latin typeface="+mn-ea"/>
                <a:ea typeface="+mn-ea"/>
              </a:rPr>
              <a:t>전화번호 관련 열 이름 변경</a:t>
            </a:r>
            <a:r>
              <a:rPr lang="en-US" altLang="ko-KR" sz="2400" dirty="0">
                <a:latin typeface="+mn-ea"/>
                <a:ea typeface="+mn-ea"/>
              </a:rPr>
              <a:t>]</a:t>
            </a: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C43AC86-CD10-7259-ECA1-B834CA4EE7DA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4EA7536-4315-CDF7-76B6-B19378959876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B452512-D05A-3565-2BFC-698566337E37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사용 파일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</a:t>
              </a: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전화번호 관련 열</a:t>
              </a:r>
              <a:r>
                <a:rPr lang="en-US" altLang="ko-KR" sz="1000" dirty="0">
                  <a:solidFill>
                    <a:schemeClr val="tx1"/>
                  </a:solidFill>
                </a:rPr>
                <a:t> </a:t>
              </a:r>
              <a:r>
                <a:rPr lang="ko-KR" altLang="en-US" sz="1000" dirty="0">
                  <a:solidFill>
                    <a:schemeClr val="tx1"/>
                  </a:solidFill>
                </a:rPr>
                <a:t>변경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유선전화</a:t>
              </a:r>
              <a:r>
                <a:rPr lang="en-US" altLang="ko-KR" sz="1000" dirty="0">
                  <a:solidFill>
                    <a:schemeClr val="tx1"/>
                  </a:solidFill>
                </a:rPr>
                <a:t>, </a:t>
              </a:r>
              <a:r>
                <a:rPr lang="ko-KR" altLang="en-US" sz="1000" dirty="0">
                  <a:solidFill>
                    <a:schemeClr val="tx1"/>
                  </a:solidFill>
                </a:rPr>
                <a:t>휴대전화</a:t>
              </a:r>
              <a:r>
                <a:rPr lang="en-US" altLang="ko-KR" sz="1000" dirty="0">
                  <a:solidFill>
                    <a:schemeClr val="tx1"/>
                  </a:solidFill>
                </a:rPr>
                <a:t>,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연락처 </a:t>
              </a:r>
              <a:r>
                <a:rPr lang="en-US" altLang="ko-KR" sz="1000" dirty="0">
                  <a:solidFill>
                    <a:schemeClr val="tx1"/>
                  </a:solidFill>
                </a:rPr>
                <a:t>-&gt; </a:t>
              </a:r>
              <a:r>
                <a:rPr lang="ko-KR" altLang="en-US" sz="1000" dirty="0">
                  <a:solidFill>
                    <a:schemeClr val="tx1"/>
                  </a:solidFill>
                </a:rPr>
                <a:t>전화번호</a:t>
              </a:r>
              <a:r>
                <a:rPr lang="en-US" altLang="ko-KR" sz="1000" dirty="0">
                  <a:solidFill>
                    <a:schemeClr val="tx1"/>
                  </a:solidFill>
                </a:rPr>
                <a:t>1,</a:t>
              </a:r>
              <a:r>
                <a:rPr lang="ko-KR" altLang="en-US" sz="1000" dirty="0">
                  <a:solidFill>
                    <a:schemeClr val="tx1"/>
                  </a:solidFill>
                </a:rPr>
                <a:t> 전화번호</a:t>
              </a:r>
              <a:r>
                <a:rPr lang="en-US" altLang="ko-KR" sz="1000" dirty="0">
                  <a:solidFill>
                    <a:schemeClr val="tx1"/>
                  </a:solidFill>
                </a:rPr>
                <a:t>2, </a:t>
              </a:r>
              <a:r>
                <a:rPr lang="ko-KR" altLang="en-US" sz="1000" dirty="0">
                  <a:solidFill>
                    <a:schemeClr val="tx1"/>
                  </a:solidFill>
                </a:rPr>
                <a:t>전화번호</a:t>
              </a:r>
              <a:r>
                <a:rPr lang="en-US" altLang="ko-KR" sz="1000" dirty="0">
                  <a:solidFill>
                    <a:schemeClr val="tx1"/>
                  </a:solidFill>
                </a:rPr>
                <a:t>3</a:t>
              </a: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78CE6416-7A1B-CC97-EA00-AD7F83A96CFE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171288E-38CB-B82F-D418-2B24DF00E73D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00E0944-DF56-EEE8-AA54-A54760D1B17E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EC1A54A-7EBF-339C-C714-0478D1D2C04F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래픽 8" descr="배지 1 윤곽선">
            <a:extLst>
              <a:ext uri="{FF2B5EF4-FFF2-40B4-BE49-F238E27FC236}">
                <a16:creationId xmlns:a16="http://schemas.microsoft.com/office/drawing/2014/main" id="{7CAFD303-7531-7F02-3A41-DC9EA9E317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82631" y="2851365"/>
            <a:ext cx="429853" cy="42985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DB59A4D-9090-C936-0ADE-BAF212F436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11" y="1640284"/>
            <a:ext cx="3287437" cy="431255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ABE67D9-4EFD-DF34-AF0E-D5D5BF3F11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1558" y="1426087"/>
            <a:ext cx="3168884" cy="4762277"/>
          </a:xfrm>
          <a:prstGeom prst="rect">
            <a:avLst/>
          </a:prstGeom>
        </p:spPr>
      </p:pic>
      <p:pic>
        <p:nvPicPr>
          <p:cNvPr id="17" name="그래픽 16" descr="오른쪽 화살표 단색으로 채워진">
            <a:extLst>
              <a:ext uri="{FF2B5EF4-FFF2-40B4-BE49-F238E27FC236}">
                <a16:creationId xmlns:a16="http://schemas.microsoft.com/office/drawing/2014/main" id="{9DC71CE3-D54B-49E4-12E5-56A682C39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04003" y="333936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226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EF250-E0CB-07B1-F2D7-1BEB3F3DB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CB3B0F-AC32-B962-E5A6-B2684F5EA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1) </a:t>
            </a:r>
            <a:r>
              <a:rPr lang="ko-KR" altLang="en-US" sz="2400" dirty="0">
                <a:latin typeface="+mn-ea"/>
                <a:ea typeface="+mn-ea"/>
              </a:rPr>
              <a:t>에이스 라이프 </a:t>
            </a:r>
            <a:r>
              <a:rPr lang="en-US" altLang="ko-KR" sz="2400" dirty="0">
                <a:latin typeface="+mn-ea"/>
                <a:ea typeface="+mn-ea"/>
              </a:rPr>
              <a:t>[AS </a:t>
            </a:r>
            <a:r>
              <a:rPr lang="ko-KR" altLang="en-US" sz="2400" dirty="0">
                <a:latin typeface="+mn-ea"/>
                <a:ea typeface="+mn-ea"/>
              </a:rPr>
              <a:t>대행료 변경</a:t>
            </a:r>
            <a:r>
              <a:rPr lang="en-US" altLang="ko-KR" sz="2400" dirty="0">
                <a:latin typeface="+mn-ea"/>
                <a:ea typeface="+mn-ea"/>
              </a:rPr>
              <a:t>]</a:t>
            </a: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2EF5D42-DABB-17EF-D28B-EFF1E4D40712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E8EBF0E-3112-8A0E-98E3-81FD137852E6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AB7A896-359B-75E9-B72C-699F0F1B0E53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사용 파일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</a:t>
              </a: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[</a:t>
              </a:r>
              <a:r>
                <a:rPr lang="ko-KR" altLang="en-US" sz="1000" dirty="0">
                  <a:solidFill>
                    <a:schemeClr val="tx1"/>
                  </a:solidFill>
                </a:rPr>
                <a:t>라인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열이 </a:t>
              </a:r>
              <a:r>
                <a:rPr lang="en-US" altLang="ko-KR" sz="1000" dirty="0">
                  <a:solidFill>
                    <a:schemeClr val="tx1"/>
                  </a:solidFill>
                </a:rPr>
                <a:t>1</a:t>
              </a:r>
              <a:r>
                <a:rPr lang="ko-KR" altLang="en-US" sz="1000" dirty="0">
                  <a:solidFill>
                    <a:schemeClr val="tx1"/>
                  </a:solidFill>
                </a:rPr>
                <a:t>인 경우에만 </a:t>
              </a:r>
              <a:r>
                <a:rPr lang="en-US" altLang="ko-KR" sz="1000" dirty="0">
                  <a:solidFill>
                    <a:schemeClr val="tx1"/>
                  </a:solidFill>
                </a:rPr>
                <a:t>AS </a:t>
              </a:r>
              <a:r>
                <a:rPr lang="ko-KR" altLang="en-US" sz="1000" dirty="0">
                  <a:solidFill>
                    <a:schemeClr val="tx1"/>
                  </a:solidFill>
                </a:rPr>
                <a:t>대행료 변경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[</a:t>
              </a:r>
              <a:r>
                <a:rPr lang="ko-KR" altLang="en-US" sz="1000" dirty="0">
                  <a:solidFill>
                    <a:schemeClr val="tx1"/>
                  </a:solidFill>
                </a:rPr>
                <a:t>지역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열의 </a:t>
              </a:r>
              <a:r>
                <a:rPr lang="en-US" altLang="ko-KR" sz="1000" dirty="0">
                  <a:solidFill>
                    <a:schemeClr val="tx1"/>
                  </a:solidFill>
                </a:rPr>
                <a:t>ZONE</a:t>
              </a:r>
              <a:r>
                <a:rPr lang="ko-KR" altLang="en-US" sz="1000" dirty="0">
                  <a:solidFill>
                    <a:schemeClr val="tx1"/>
                  </a:solidFill>
                </a:rPr>
                <a:t>에 따른 값 변경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685800" lvl="1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ZONE1 : 18,000</a:t>
              </a:r>
            </a:p>
            <a:p>
              <a:pPr marL="685800" lvl="1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ZONE2 : 22,000</a:t>
              </a:r>
            </a:p>
            <a:p>
              <a:pPr marL="685800" lvl="1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ZONE3 : 33,000</a:t>
              </a: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[AS</a:t>
              </a:r>
              <a:r>
                <a:rPr lang="ko-KR" altLang="en-US" sz="1000" dirty="0">
                  <a:solidFill>
                    <a:schemeClr val="tx1"/>
                  </a:solidFill>
                </a:rPr>
                <a:t>대행료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열에 데이터 업데이트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lvl="1"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76576BF-1E6C-EEC1-7932-F106BAA8DD73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A9C098B4-4A2C-542F-8DF2-11C2AF5F55F5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8842862-CF26-4DCF-450B-8CD4D827BEA2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[</a:t>
              </a:r>
              <a:r>
                <a:rPr lang="ko-KR" altLang="en-US" sz="1000" dirty="0">
                  <a:solidFill>
                    <a:schemeClr val="tx1"/>
                  </a:solidFill>
                </a:rPr>
                <a:t>라인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열이 </a:t>
              </a:r>
              <a:r>
                <a:rPr lang="en-US" altLang="ko-KR" sz="1000" dirty="0">
                  <a:solidFill>
                    <a:schemeClr val="tx1"/>
                  </a:solidFill>
                </a:rPr>
                <a:t>1</a:t>
              </a:r>
              <a:r>
                <a:rPr lang="ko-KR" altLang="en-US" sz="1000" dirty="0">
                  <a:solidFill>
                    <a:schemeClr val="tx1"/>
                  </a:solidFill>
                </a:rPr>
                <a:t>이 아닌 데이터는 </a:t>
              </a:r>
              <a:r>
                <a:rPr lang="en-US" altLang="ko-KR" sz="1000" dirty="0">
                  <a:solidFill>
                    <a:schemeClr val="tx1"/>
                  </a:solidFill>
                </a:rPr>
                <a:t>[AS</a:t>
              </a:r>
              <a:r>
                <a:rPr lang="ko-KR" altLang="en-US" sz="1000" dirty="0">
                  <a:solidFill>
                    <a:schemeClr val="tx1"/>
                  </a:solidFill>
                </a:rPr>
                <a:t>대행료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열에 </a:t>
              </a:r>
              <a:r>
                <a:rPr lang="en-US" altLang="ko-KR" sz="1000" dirty="0">
                  <a:solidFill>
                    <a:schemeClr val="tx1"/>
                  </a:solidFill>
                </a:rPr>
                <a:t>0</a:t>
              </a:r>
              <a:r>
                <a:rPr lang="ko-KR" altLang="en-US" sz="1000" dirty="0">
                  <a:solidFill>
                    <a:schemeClr val="tx1"/>
                  </a:solidFill>
                </a:rPr>
                <a:t>원으로 작성 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75D88242-8EF1-C78B-1A5A-F182A952A0CA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래픽 8" descr="배지 1 윤곽선">
            <a:extLst>
              <a:ext uri="{FF2B5EF4-FFF2-40B4-BE49-F238E27FC236}">
                <a16:creationId xmlns:a16="http://schemas.microsoft.com/office/drawing/2014/main" id="{B118398E-BC63-B3A5-93AD-8BC0FED272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6399" y="905164"/>
            <a:ext cx="429853" cy="42985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BCF5912-3C25-9B5A-DA02-D0926F38F4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260" y="1335017"/>
            <a:ext cx="1328133" cy="520930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48CC8F40-8943-D927-2713-302D2F9478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4492" y="1936532"/>
            <a:ext cx="1267002" cy="4172532"/>
          </a:xfrm>
          <a:prstGeom prst="rect">
            <a:avLst/>
          </a:prstGeom>
        </p:spPr>
      </p:pic>
      <p:pic>
        <p:nvPicPr>
          <p:cNvPr id="18" name="그래픽 17" descr="배지 윤곽선">
            <a:extLst>
              <a:ext uri="{FF2B5EF4-FFF2-40B4-BE49-F238E27FC236}">
                <a16:creationId xmlns:a16="http://schemas.microsoft.com/office/drawing/2014/main" id="{6F097483-DCFB-07FB-932D-EA972F78D4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2463066" y="1432788"/>
            <a:ext cx="429853" cy="429853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EA6C6FCE-2C6B-9610-11F8-D1A71B4FA2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8317" y="1520821"/>
            <a:ext cx="1220960" cy="5086208"/>
          </a:xfrm>
          <a:prstGeom prst="rect">
            <a:avLst/>
          </a:prstGeom>
        </p:spPr>
      </p:pic>
      <p:pic>
        <p:nvPicPr>
          <p:cNvPr id="21" name="그래픽 20" descr="오른쪽 화살표 단색으로 채워진">
            <a:extLst>
              <a:ext uri="{FF2B5EF4-FFF2-40B4-BE49-F238E27FC236}">
                <a16:creationId xmlns:a16="http://schemas.microsoft.com/office/drawing/2014/main" id="{DBDBE447-228F-5277-BC11-835BD766FB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04003" y="3339360"/>
            <a:ext cx="914400" cy="914400"/>
          </a:xfrm>
          <a:prstGeom prst="rect">
            <a:avLst/>
          </a:prstGeom>
        </p:spPr>
      </p:pic>
      <p:pic>
        <p:nvPicPr>
          <p:cNvPr id="22" name="그래픽 21" descr="배지 3 윤곽선">
            <a:extLst>
              <a:ext uri="{FF2B5EF4-FFF2-40B4-BE49-F238E27FC236}">
                <a16:creationId xmlns:a16="http://schemas.microsoft.com/office/drawing/2014/main" id="{0E36FB1B-F7BE-A1A9-14C0-07BA188FE4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5156987" y="1089891"/>
            <a:ext cx="429853" cy="42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3376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E32B6-7CAD-953F-7CC8-DBAD2570F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FE58EC-6862-3645-2605-30CE7779A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1) </a:t>
            </a:r>
            <a:r>
              <a:rPr lang="ko-KR" altLang="en-US" sz="2400" dirty="0">
                <a:latin typeface="+mn-ea"/>
                <a:ea typeface="+mn-ea"/>
              </a:rPr>
              <a:t>에이스 라이프 </a:t>
            </a:r>
            <a:r>
              <a:rPr lang="en-US" altLang="ko-KR" sz="2400" dirty="0">
                <a:latin typeface="+mn-ea"/>
                <a:ea typeface="+mn-ea"/>
              </a:rPr>
              <a:t>[</a:t>
            </a:r>
            <a:r>
              <a:rPr lang="ko-KR" altLang="en-US" sz="2400" dirty="0">
                <a:latin typeface="+mn-ea"/>
                <a:ea typeface="+mn-ea"/>
              </a:rPr>
              <a:t>수량 </a:t>
            </a:r>
            <a:r>
              <a:rPr lang="en-US" altLang="ko-KR" sz="2400" dirty="0">
                <a:latin typeface="+mn-ea"/>
                <a:ea typeface="+mn-ea"/>
              </a:rPr>
              <a:t>* </a:t>
            </a:r>
            <a:r>
              <a:rPr lang="ko-KR" altLang="en-US" sz="2400" dirty="0">
                <a:latin typeface="+mn-ea"/>
                <a:ea typeface="+mn-ea"/>
              </a:rPr>
              <a:t>사입단가 </a:t>
            </a:r>
            <a:r>
              <a:rPr lang="en-US" altLang="ko-KR" sz="2400" dirty="0">
                <a:latin typeface="+mn-ea"/>
                <a:ea typeface="+mn-ea"/>
              </a:rPr>
              <a:t>= </a:t>
            </a:r>
            <a:r>
              <a:rPr lang="ko-KR" altLang="en-US" sz="2400" dirty="0">
                <a:latin typeface="+mn-ea"/>
                <a:ea typeface="+mn-ea"/>
              </a:rPr>
              <a:t>사입금액</a:t>
            </a:r>
            <a:r>
              <a:rPr lang="en-US" altLang="ko-KR" sz="2400" dirty="0">
                <a:latin typeface="+mn-ea"/>
                <a:ea typeface="+mn-ea"/>
              </a:rPr>
              <a:t>]</a:t>
            </a: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02219F2-DF01-0DA6-3621-F3827821CA36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494A961-4694-D169-11FD-6B0C12A93635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335D971-F47F-2CC0-B4EE-02685A8B1622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사용 파일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</a:t>
              </a: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[</a:t>
              </a:r>
              <a:r>
                <a:rPr lang="ko-KR" altLang="en-US" sz="1000" dirty="0">
                  <a:solidFill>
                    <a:schemeClr val="tx1"/>
                  </a:solidFill>
                </a:rPr>
                <a:t>수량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 </a:t>
              </a:r>
              <a:r>
                <a:rPr lang="en-US" altLang="ko-KR" sz="1000" dirty="0">
                  <a:solidFill>
                    <a:schemeClr val="tx1"/>
                  </a:solidFill>
                </a:rPr>
                <a:t>* [</a:t>
              </a:r>
              <a:r>
                <a:rPr lang="ko-KR" altLang="en-US" sz="1000" dirty="0">
                  <a:solidFill>
                    <a:schemeClr val="tx1"/>
                  </a:solidFill>
                </a:rPr>
                <a:t>사입단가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열으로 계산된 데이터를 </a:t>
              </a:r>
              <a:r>
                <a:rPr lang="en-US" altLang="ko-KR" sz="1000" dirty="0">
                  <a:solidFill>
                    <a:schemeClr val="tx1"/>
                  </a:solidFill>
                </a:rPr>
                <a:t>[</a:t>
              </a:r>
              <a:r>
                <a:rPr lang="ko-KR" altLang="en-US" sz="1000" dirty="0">
                  <a:solidFill>
                    <a:schemeClr val="tx1"/>
                  </a:solidFill>
                </a:rPr>
                <a:t>사입금액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열에 업데이트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7838F18-D72D-E362-FA0A-8C3E9EB73FFE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BD3AAED-30B3-E67B-13F2-066697F0F2BB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FDBA44F-18B3-CC3F-0F9F-ABD5DEBF9E6F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F39EC5A-55B4-3A6D-08AC-4A5733FDBB0D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래픽 8" descr="배지 1 윤곽선">
            <a:extLst>
              <a:ext uri="{FF2B5EF4-FFF2-40B4-BE49-F238E27FC236}">
                <a16:creationId xmlns:a16="http://schemas.microsoft.com/office/drawing/2014/main" id="{8FDCAA52-C844-5CDA-835F-BF4B250B2B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52090" y="905164"/>
            <a:ext cx="429853" cy="42985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29FFFEE-DBD9-83E6-B9E4-0CD34AF636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0937" y="1408908"/>
            <a:ext cx="2910808" cy="516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415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98E2B-272A-0F13-4DA9-1CCD0BB12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446171B-61A8-1641-A604-E367C8B52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6795" y="1335017"/>
            <a:ext cx="3333797" cy="526898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861A94F-819F-EA84-9027-80AC602BA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1) </a:t>
            </a:r>
            <a:r>
              <a:rPr lang="ko-KR" altLang="en-US" sz="2400" dirty="0">
                <a:latin typeface="+mn-ea"/>
                <a:ea typeface="+mn-ea"/>
              </a:rPr>
              <a:t>에이스 라이프 </a:t>
            </a:r>
            <a:r>
              <a:rPr lang="en-US" altLang="ko-KR" sz="2400" dirty="0">
                <a:latin typeface="+mn-ea"/>
                <a:ea typeface="+mn-ea"/>
              </a:rPr>
              <a:t>[</a:t>
            </a:r>
            <a:r>
              <a:rPr lang="ko-KR" altLang="en-US" sz="2400" dirty="0">
                <a:latin typeface="+mn-ea"/>
                <a:ea typeface="+mn-ea"/>
              </a:rPr>
              <a:t>처리구분 생성</a:t>
            </a:r>
            <a:r>
              <a:rPr lang="en-US" altLang="ko-KR" sz="2400" dirty="0">
                <a:latin typeface="+mn-ea"/>
                <a:ea typeface="+mn-ea"/>
              </a:rPr>
              <a:t>]</a:t>
            </a: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9FDB0AF-3BD7-566F-0D1D-75F932391695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BD36900-C43D-94CC-846B-5E14AF673027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5DE89D5-1A8F-C937-A42C-6D5CC6EC1B0E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사용 파일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</a:t>
              </a: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[</a:t>
              </a:r>
              <a:r>
                <a:rPr lang="ko-KR" altLang="en-US" sz="1000" dirty="0">
                  <a:solidFill>
                    <a:schemeClr val="tx1"/>
                  </a:solidFill>
                </a:rPr>
                <a:t>처리구분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 생성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a. [</a:t>
              </a:r>
              <a:r>
                <a:rPr lang="ko-KR" altLang="en-US" sz="1000" dirty="0">
                  <a:solidFill>
                    <a:schemeClr val="tx1"/>
                  </a:solidFill>
                </a:rPr>
                <a:t>부품코드</a:t>
              </a:r>
              <a:r>
                <a:rPr lang="en-US" altLang="ko-KR" sz="1000" dirty="0">
                  <a:solidFill>
                    <a:schemeClr val="tx1"/>
                  </a:solidFill>
                </a:rPr>
                <a:t>]</a:t>
              </a:r>
              <a:r>
                <a:rPr lang="ko-KR" altLang="en-US" sz="1000" dirty="0">
                  <a:solidFill>
                    <a:schemeClr val="tx1"/>
                  </a:solidFill>
                </a:rPr>
                <a:t>의 데이터가 </a:t>
              </a:r>
              <a:r>
                <a:rPr lang="en-US" altLang="ko-KR" sz="1000" dirty="0">
                  <a:solidFill>
                    <a:schemeClr val="tx1"/>
                  </a:solidFill>
                </a:rPr>
                <a:t>“XX”</a:t>
              </a:r>
              <a:r>
                <a:rPr lang="ko-KR" altLang="en-US" sz="1000" dirty="0">
                  <a:solidFill>
                    <a:schemeClr val="tx1"/>
                  </a:solidFill>
                </a:rPr>
                <a:t>인 경우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[</a:t>
              </a:r>
              <a:r>
                <a:rPr lang="ko-KR" altLang="en-US" sz="1000" dirty="0">
                  <a:solidFill>
                    <a:schemeClr val="tx1"/>
                  </a:solidFill>
                </a:rPr>
                <a:t>처리구분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</a:t>
              </a:r>
              <a:r>
                <a:rPr lang="ko-KR" altLang="en-US" sz="1000" dirty="0">
                  <a:solidFill>
                    <a:schemeClr val="tx1"/>
                  </a:solidFill>
                </a:rPr>
                <a:t>점검 및 수리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b. [</a:t>
              </a:r>
              <a:r>
                <a:rPr lang="ko-KR" altLang="en-US" sz="1000" dirty="0">
                  <a:solidFill>
                    <a:schemeClr val="tx1"/>
                  </a:solidFill>
                </a:rPr>
                <a:t>부품코드</a:t>
              </a:r>
              <a:r>
                <a:rPr lang="en-US" altLang="ko-KR" sz="1000" dirty="0">
                  <a:solidFill>
                    <a:schemeClr val="tx1"/>
                  </a:solidFill>
                </a:rPr>
                <a:t>]</a:t>
              </a:r>
              <a:r>
                <a:rPr lang="ko-KR" altLang="en-US" sz="1000" dirty="0">
                  <a:solidFill>
                    <a:schemeClr val="tx1"/>
                  </a:solidFill>
                </a:rPr>
                <a:t>의 데이터가 </a:t>
              </a:r>
              <a:r>
                <a:rPr lang="en-US" altLang="ko-KR" sz="1000" dirty="0">
                  <a:solidFill>
                    <a:schemeClr val="tx1"/>
                  </a:solidFill>
                </a:rPr>
                <a:t>“XX”</a:t>
              </a:r>
              <a:r>
                <a:rPr lang="ko-KR" altLang="en-US" sz="1000" dirty="0">
                  <a:solidFill>
                    <a:schemeClr val="tx1"/>
                  </a:solidFill>
                </a:rPr>
                <a:t>가 아닌 경우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[</a:t>
              </a:r>
              <a:r>
                <a:rPr lang="ko-KR" altLang="en-US" sz="1000" dirty="0">
                  <a:solidFill>
                    <a:schemeClr val="tx1"/>
                  </a:solidFill>
                </a:rPr>
                <a:t>처리구분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</a:t>
              </a:r>
              <a:r>
                <a:rPr lang="ko-KR" altLang="en-US" sz="1000" dirty="0">
                  <a:solidFill>
                    <a:schemeClr val="tx1"/>
                  </a:solidFill>
                </a:rPr>
                <a:t>부품교환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C6A046A-B213-E6A2-28B4-716C25A9F790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04073FE-B716-FBCA-6E7D-158D7A13FA8D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52DFAAD-63BB-9A55-92BE-482774D688D4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3F580ABE-4660-631E-5B4B-70F50DF42FC2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래픽 8" descr="배지 1 윤곽선">
            <a:extLst>
              <a:ext uri="{FF2B5EF4-FFF2-40B4-BE49-F238E27FC236}">
                <a16:creationId xmlns:a16="http://schemas.microsoft.com/office/drawing/2014/main" id="{75C66C52-3941-56EC-99EF-9E0B277A9E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52090" y="905164"/>
            <a:ext cx="429853" cy="42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5545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452F0-AC75-BFA8-EDE4-EFB4DF3BA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F5556DE8-206B-8DE2-CAB3-84401DCEF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562" y="1489544"/>
            <a:ext cx="7030431" cy="506800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42E9EA8-4990-9F2E-CAAD-599A2FBB3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1) </a:t>
            </a:r>
            <a:r>
              <a:rPr lang="ko-KR" altLang="en-US" sz="2400" dirty="0">
                <a:latin typeface="+mn-ea"/>
                <a:ea typeface="+mn-ea"/>
              </a:rPr>
              <a:t>에이스 라이프 </a:t>
            </a:r>
            <a:r>
              <a:rPr lang="en-US" altLang="ko-KR" sz="2400" dirty="0">
                <a:latin typeface="+mn-ea"/>
                <a:ea typeface="+mn-ea"/>
              </a:rPr>
              <a:t>[</a:t>
            </a:r>
            <a:r>
              <a:rPr lang="ko-KR" altLang="en-US" sz="2400" dirty="0">
                <a:latin typeface="+mn-ea"/>
                <a:ea typeface="+mn-ea"/>
              </a:rPr>
              <a:t>접수</a:t>
            </a:r>
            <a:r>
              <a:rPr lang="en-US" altLang="ko-KR" sz="2400" dirty="0">
                <a:latin typeface="+mn-ea"/>
                <a:ea typeface="+mn-ea"/>
              </a:rPr>
              <a:t>, </a:t>
            </a:r>
            <a:r>
              <a:rPr lang="ko-KR" altLang="en-US" sz="2400" dirty="0">
                <a:latin typeface="+mn-ea"/>
                <a:ea typeface="+mn-ea"/>
              </a:rPr>
              <a:t>완료 열 생성</a:t>
            </a:r>
            <a:r>
              <a:rPr lang="en-US" altLang="ko-KR" sz="2400" dirty="0">
                <a:latin typeface="+mn-ea"/>
                <a:ea typeface="+mn-ea"/>
              </a:rPr>
              <a:t>]</a:t>
            </a: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D753051-5872-F8D6-1BFD-6EE50DE4E811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E120DCE-0431-EE86-A0A7-5C95588FC244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0934DF8-E4CB-BE37-3494-5CC13969CA47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사용 파일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</a:t>
              </a: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[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접수일</a:t>
              </a:r>
              <a:r>
                <a:rPr lang="en-US" altLang="ko-KR" sz="1000" dirty="0">
                  <a:solidFill>
                    <a:schemeClr val="tx1"/>
                  </a:solidFill>
                </a:rPr>
                <a:t>], [</a:t>
              </a:r>
              <a:r>
                <a:rPr lang="ko-KR" altLang="en-US" sz="1000" dirty="0">
                  <a:solidFill>
                    <a:schemeClr val="tx1"/>
                  </a:solidFill>
                </a:rPr>
                <a:t>완료일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열을 기준으로 </a:t>
              </a:r>
              <a:r>
                <a:rPr lang="en-US" altLang="ko-KR" sz="1000" dirty="0">
                  <a:solidFill>
                    <a:schemeClr val="tx1"/>
                  </a:solidFill>
                </a:rPr>
                <a:t>[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],[</a:t>
              </a:r>
              <a:r>
                <a:rPr lang="ko-KR" altLang="en-US" sz="1000" dirty="0">
                  <a:solidFill>
                    <a:schemeClr val="tx1"/>
                  </a:solidFill>
                </a:rPr>
                <a:t>완료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 생성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685800" lvl="1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yyyy-MM-dd =&gt; MMdd </a:t>
              </a:r>
              <a:r>
                <a:rPr lang="ko-KR" altLang="en-US" sz="1000" dirty="0">
                  <a:solidFill>
                    <a:schemeClr val="tx1"/>
                  </a:solidFill>
                </a:rPr>
                <a:t>형식으로 변환하여 입력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lvl="1"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AEDF6C0-0CCB-03A5-3FD2-6E536363422B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10578247-5C51-960F-73EC-8F0DE67ED268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113BEEC-F837-97B5-5310-4046DBF6ED3C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95EF12E7-96F2-95B2-2CB3-B678D91C341B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래픽 8" descr="배지 1 윤곽선">
            <a:extLst>
              <a:ext uri="{FF2B5EF4-FFF2-40B4-BE49-F238E27FC236}">
                <a16:creationId xmlns:a16="http://schemas.microsoft.com/office/drawing/2014/main" id="{2E3A3ADF-FD25-33F3-4BD0-736A8CB772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52850" y="1022745"/>
            <a:ext cx="429853" cy="42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8230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48131-4675-1C8E-1FAC-6BA3D15BE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009AB8-67DE-C1DA-CFD7-D021D9966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1) </a:t>
            </a:r>
            <a:r>
              <a:rPr lang="ko-KR" altLang="en-US" sz="2400" dirty="0">
                <a:latin typeface="+mn-ea"/>
                <a:ea typeface="+mn-ea"/>
              </a:rPr>
              <a:t>에이스 라이프 </a:t>
            </a:r>
            <a:r>
              <a:rPr lang="en-US" altLang="ko-KR" sz="2400" dirty="0">
                <a:latin typeface="+mn-ea"/>
                <a:ea typeface="+mn-ea"/>
              </a:rPr>
              <a:t>[</a:t>
            </a:r>
            <a:r>
              <a:rPr lang="ko-KR" altLang="en-US" sz="2400" dirty="0">
                <a:latin typeface="+mn-ea"/>
                <a:ea typeface="+mn-ea"/>
              </a:rPr>
              <a:t>미회수품 시트 생성</a:t>
            </a:r>
            <a:r>
              <a:rPr lang="en-US" altLang="ko-KR" sz="2400" dirty="0">
                <a:latin typeface="+mn-ea"/>
                <a:ea typeface="+mn-ea"/>
              </a:rPr>
              <a:t>]</a:t>
            </a: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A5A8D35-7A14-2124-88B3-566CCE04B847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182ED123-CD3F-A6C6-3E0D-92EE958C6276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D50DD22-EAC7-4F38-C7EB-FD5647DE01B5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사용 파일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</a:t>
              </a: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에이스라이프</a:t>
              </a:r>
              <a:r>
                <a:rPr lang="en-US" altLang="ko-KR" sz="1000" dirty="0">
                  <a:solidFill>
                    <a:schemeClr val="tx1"/>
                  </a:solidFill>
                </a:rPr>
                <a:t> </a:t>
              </a:r>
              <a:r>
                <a:rPr lang="ko-KR" altLang="en-US" sz="1000" dirty="0">
                  <a:solidFill>
                    <a:schemeClr val="tx1"/>
                  </a:solidFill>
                </a:rPr>
                <a:t>시트의 </a:t>
              </a:r>
              <a:r>
                <a:rPr lang="en-US" altLang="ko-KR" sz="1000" dirty="0">
                  <a:solidFill>
                    <a:schemeClr val="tx1"/>
                  </a:solidFill>
                </a:rPr>
                <a:t>[</a:t>
              </a:r>
              <a:r>
                <a:rPr lang="ko-KR" altLang="en-US" sz="1000" dirty="0">
                  <a:solidFill>
                    <a:schemeClr val="tx1"/>
                  </a:solidFill>
                </a:rPr>
                <a:t>비고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열에 </a:t>
              </a:r>
              <a:r>
                <a:rPr lang="en-US" altLang="ko-KR" sz="1000" dirty="0">
                  <a:solidFill>
                    <a:schemeClr val="tx1"/>
                  </a:solidFill>
                </a:rPr>
                <a:t>“</a:t>
              </a:r>
              <a:r>
                <a:rPr lang="ko-KR" altLang="en-US" sz="1000" dirty="0">
                  <a:solidFill>
                    <a:schemeClr val="tx1"/>
                  </a:solidFill>
                </a:rPr>
                <a:t>미회수품</a:t>
              </a:r>
              <a:r>
                <a:rPr lang="en-US" altLang="ko-KR" sz="1000" dirty="0">
                  <a:solidFill>
                    <a:schemeClr val="tx1"/>
                  </a:solidFill>
                </a:rPr>
                <a:t>”</a:t>
              </a:r>
              <a:r>
                <a:rPr lang="ko-KR" altLang="en-US" sz="1000" dirty="0">
                  <a:solidFill>
                    <a:schemeClr val="tx1"/>
                  </a:solidFill>
                </a:rPr>
                <a:t>이 포함된 데이터 읽기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“</a:t>
              </a:r>
              <a:r>
                <a:rPr lang="ko-KR" altLang="en-US" sz="1000" dirty="0">
                  <a:solidFill>
                    <a:schemeClr val="tx1"/>
                  </a:solidFill>
                </a:rPr>
                <a:t>미회수품</a:t>
              </a:r>
              <a:r>
                <a:rPr lang="en-US" altLang="ko-KR" sz="1000" dirty="0">
                  <a:solidFill>
                    <a:schemeClr val="tx1"/>
                  </a:solidFill>
                </a:rPr>
                <a:t>” </a:t>
              </a:r>
              <a:r>
                <a:rPr lang="ko-KR" altLang="en-US" sz="1000" dirty="0">
                  <a:solidFill>
                    <a:schemeClr val="tx1"/>
                  </a:solidFill>
                </a:rPr>
                <a:t>시트를 생성하여 작성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EF5470EC-B9C4-4216-221F-FA24A6B0FF37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507315E-FB62-96E5-4E06-51BB01BA7715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4D9C720-7E84-DD79-5B72-A69B3BB9BDFE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FontTx/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에이스라이프 시트에서 삭제하지 않고 미회수품 시트에 작성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FontTx/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6329D78-4AF8-7D0E-19E6-98EF3CDF1F83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0EC71069-DA80-8EFD-58F5-1B8656631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198" y="1004199"/>
            <a:ext cx="2938911" cy="31635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1F96114-863B-F6AF-A9A4-62E4B62F33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189" y="3494921"/>
            <a:ext cx="6803147" cy="3077791"/>
          </a:xfrm>
          <a:prstGeom prst="rect">
            <a:avLst/>
          </a:prstGeom>
        </p:spPr>
      </p:pic>
      <p:pic>
        <p:nvPicPr>
          <p:cNvPr id="9" name="그래픽 8" descr="배지 1 윤곽선">
            <a:extLst>
              <a:ext uri="{FF2B5EF4-FFF2-40B4-BE49-F238E27FC236}">
                <a16:creationId xmlns:a16="http://schemas.microsoft.com/office/drawing/2014/main" id="{923F5EFD-3DB6-7E47-34E5-5B660C2940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67783" y="1527177"/>
            <a:ext cx="409740" cy="409740"/>
          </a:xfrm>
          <a:prstGeom prst="rect">
            <a:avLst/>
          </a:prstGeom>
        </p:spPr>
      </p:pic>
      <p:pic>
        <p:nvPicPr>
          <p:cNvPr id="16" name="그래픽 15" descr="배지 윤곽선">
            <a:extLst>
              <a:ext uri="{FF2B5EF4-FFF2-40B4-BE49-F238E27FC236}">
                <a16:creationId xmlns:a16="http://schemas.microsoft.com/office/drawing/2014/main" id="{FFDE1E20-D399-7591-1C02-BBD4C1B709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3967018" y="4664363"/>
            <a:ext cx="409740" cy="409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2160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8D21F-5283-381D-E9D7-07E7E8BE7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BC1A752-96EC-AE73-C595-FD82EBF707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54" y="2316133"/>
            <a:ext cx="7620128" cy="293781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B6123E7-9D00-5663-35CC-C9323C229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1) </a:t>
            </a:r>
            <a:r>
              <a:rPr lang="ko-KR" altLang="en-US" sz="2400" dirty="0">
                <a:latin typeface="+mn-ea"/>
                <a:ea typeface="+mn-ea"/>
              </a:rPr>
              <a:t>에이스 라이프 </a:t>
            </a:r>
            <a:r>
              <a:rPr lang="en-US" altLang="ko-KR" sz="2400" dirty="0">
                <a:latin typeface="+mn-ea"/>
                <a:ea typeface="+mn-ea"/>
              </a:rPr>
              <a:t>[</a:t>
            </a:r>
            <a:r>
              <a:rPr lang="ko-KR" altLang="en-US" sz="2400" dirty="0">
                <a:latin typeface="+mn-ea"/>
                <a:ea typeface="+mn-ea"/>
              </a:rPr>
              <a:t>피벗테이블 생성</a:t>
            </a:r>
            <a:r>
              <a:rPr lang="en-US" altLang="ko-KR" sz="2400" dirty="0">
                <a:latin typeface="+mn-ea"/>
                <a:ea typeface="+mn-ea"/>
              </a:rPr>
              <a:t>(</a:t>
            </a:r>
            <a:r>
              <a:rPr lang="ko-KR" altLang="en-US" sz="2400" dirty="0">
                <a:latin typeface="+mn-ea"/>
                <a:ea typeface="+mn-ea"/>
              </a:rPr>
              <a:t>에이스피벗</a:t>
            </a:r>
            <a:r>
              <a:rPr lang="en-US" altLang="ko-KR" sz="2400" dirty="0">
                <a:latin typeface="+mn-ea"/>
                <a:ea typeface="+mn-ea"/>
              </a:rPr>
              <a:t>1)]</a:t>
            </a: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7CC2F01-E57E-D04E-A1F4-33C293AE5512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F36D4C9-D199-F733-E446-540A59A952CF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E185F74-297E-AE68-2C02-D6B27D4A22CF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사용 파일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</a:t>
              </a: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“</a:t>
              </a:r>
              <a:r>
                <a:rPr lang="ko-KR" altLang="en-US" sz="1000" dirty="0">
                  <a:solidFill>
                    <a:schemeClr val="tx1"/>
                  </a:solidFill>
                </a:rPr>
                <a:t>에이스피벗</a:t>
              </a:r>
              <a:r>
                <a:rPr lang="en-US" altLang="ko-KR" sz="1000" dirty="0">
                  <a:solidFill>
                    <a:schemeClr val="tx1"/>
                  </a:solidFill>
                </a:rPr>
                <a:t>1” </a:t>
              </a:r>
              <a:r>
                <a:rPr lang="ko-KR" altLang="en-US" sz="1000" dirty="0">
                  <a:solidFill>
                    <a:schemeClr val="tx1"/>
                  </a:solidFill>
                </a:rPr>
                <a:t>시트 생성 후 피벗 테이블 생성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행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"</a:t>
              </a:r>
              <a:r>
                <a:rPr lang="ko-KR" altLang="en-US" sz="1000" dirty="0">
                  <a:solidFill>
                    <a:schemeClr val="tx1"/>
                  </a:solidFill>
                </a:rPr>
                <a:t>처리구분</a:t>
              </a:r>
              <a:r>
                <a:rPr lang="en-US" altLang="ko-KR" sz="1000" dirty="0">
                  <a:solidFill>
                    <a:schemeClr val="tx1"/>
                  </a:solidFill>
                </a:rPr>
                <a:t>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완료</a:t>
              </a:r>
              <a:r>
                <a:rPr lang="en-US" altLang="ko-KR" sz="1000" dirty="0">
                  <a:solidFill>
                    <a:schemeClr val="tx1"/>
                  </a:solidFill>
                </a:rPr>
                <a:t>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주소</a:t>
              </a:r>
              <a:r>
                <a:rPr lang="en-US" altLang="ko-KR" sz="1000" dirty="0">
                  <a:solidFill>
                    <a:schemeClr val="tx1"/>
                  </a:solidFill>
                </a:rPr>
                <a:t>2",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주소</a:t>
              </a:r>
              <a:r>
                <a:rPr lang="en-US" altLang="ko-KR" sz="1000" dirty="0">
                  <a:solidFill>
                    <a:schemeClr val="tx1"/>
                  </a:solidFill>
                </a:rPr>
                <a:t>3",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주소</a:t>
              </a:r>
              <a:r>
                <a:rPr lang="en-US" altLang="ko-KR" sz="1000" dirty="0">
                  <a:solidFill>
                    <a:schemeClr val="tx1"/>
                  </a:solidFill>
                </a:rPr>
                <a:t>4",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전화번호</a:t>
              </a:r>
              <a:r>
                <a:rPr lang="en-US" altLang="ko-KR" sz="1000" dirty="0">
                  <a:solidFill>
                    <a:schemeClr val="tx1"/>
                  </a:solidFill>
                </a:rPr>
                <a:t>3",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제품코드</a:t>
              </a:r>
              <a:r>
                <a:rPr lang="en-US" altLang="ko-KR" sz="1000" dirty="0">
                  <a:solidFill>
                    <a:schemeClr val="tx1"/>
                  </a:solidFill>
                </a:rPr>
                <a:t>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부품코드</a:t>
              </a:r>
              <a:r>
                <a:rPr lang="en-US" altLang="ko-KR" sz="1000" dirty="0">
                  <a:solidFill>
                    <a:schemeClr val="tx1"/>
                  </a:solidFill>
                </a:rPr>
                <a:t>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부품코드명</a:t>
              </a:r>
              <a:r>
                <a:rPr lang="en-US" altLang="ko-KR" sz="1000" dirty="0">
                  <a:solidFill>
                    <a:schemeClr val="tx1"/>
                  </a:solidFill>
                </a:rPr>
                <a:t>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고장내역</a:t>
              </a:r>
              <a:r>
                <a:rPr lang="en-US" altLang="ko-KR" sz="1000" dirty="0">
                  <a:solidFill>
                    <a:schemeClr val="tx1"/>
                  </a:solidFill>
                </a:rPr>
                <a:t>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원인</a:t>
              </a:r>
              <a:r>
                <a:rPr lang="en-US" altLang="ko-KR" sz="1000" dirty="0">
                  <a:solidFill>
                    <a:schemeClr val="tx1"/>
                  </a:solidFill>
                </a:rPr>
                <a:t>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조치</a:t>
              </a:r>
              <a:r>
                <a:rPr lang="en-US" altLang="ko-KR" sz="1000" dirty="0">
                  <a:solidFill>
                    <a:schemeClr val="tx1"/>
                  </a:solidFill>
                </a:rPr>
                <a:t>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전문점명</a:t>
              </a:r>
              <a:r>
                <a:rPr lang="en-US" altLang="ko-KR" sz="1000" dirty="0">
                  <a:solidFill>
                    <a:schemeClr val="tx1"/>
                  </a:solidFill>
                </a:rPr>
                <a:t>", "Serial“</a:t>
              </a: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값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"</a:t>
              </a:r>
              <a:r>
                <a:rPr lang="ko-KR" altLang="en-US" sz="1000" dirty="0">
                  <a:solidFill>
                    <a:schemeClr val="tx1"/>
                  </a:solidFill>
                </a:rPr>
                <a:t>합계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</a:t>
              </a:r>
              <a:r>
                <a:rPr lang="ko-KR" altLang="en-US" sz="1000" dirty="0">
                  <a:solidFill>
                    <a:schemeClr val="tx1"/>
                  </a:solidFill>
                </a:rPr>
                <a:t>수량</a:t>
              </a:r>
              <a:r>
                <a:rPr lang="en-US" altLang="ko-KR" sz="1000" dirty="0">
                  <a:solidFill>
                    <a:schemeClr val="tx1"/>
                  </a:solidFill>
                </a:rPr>
                <a:t>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 합계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</a:t>
              </a:r>
              <a:r>
                <a:rPr lang="ko-KR" altLang="en-US" sz="1000" dirty="0">
                  <a:solidFill>
                    <a:schemeClr val="tx1"/>
                  </a:solidFill>
                </a:rPr>
                <a:t>사입금액</a:t>
              </a:r>
              <a:r>
                <a:rPr lang="en-US" altLang="ko-KR" sz="1000" dirty="0">
                  <a:solidFill>
                    <a:schemeClr val="tx1"/>
                  </a:solidFill>
                </a:rPr>
                <a:t>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 합계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AS</a:t>
              </a:r>
              <a:r>
                <a:rPr lang="ko-KR" altLang="en-US" sz="1000" dirty="0">
                  <a:solidFill>
                    <a:schemeClr val="tx1"/>
                  </a:solidFill>
                </a:rPr>
                <a:t>대행료</a:t>
              </a:r>
              <a:r>
                <a:rPr lang="en-US" altLang="ko-KR" sz="1000" dirty="0">
                  <a:solidFill>
                    <a:schemeClr val="tx1"/>
                  </a:solidFill>
                </a:rPr>
                <a:t>"</a:t>
              </a: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20C2124-0991-EF28-8E8C-C52C09B0D5ED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8690C949-E6F3-DAF3-429C-D84594711FA9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1A0D6B8-5B29-2C18-3B57-B189040F1F3E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FontTx/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592657A-6102-32DF-5D01-1B6421BE9A60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래픽 8" descr="배지 1 윤곽선">
            <a:extLst>
              <a:ext uri="{FF2B5EF4-FFF2-40B4-BE49-F238E27FC236}">
                <a16:creationId xmlns:a16="http://schemas.microsoft.com/office/drawing/2014/main" id="{3D3D9166-E3C5-5536-AB99-3A5FA3C127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62148" y="1906393"/>
            <a:ext cx="409740" cy="409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2922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01ADF-7A6F-0191-F078-D9187109E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AA22F2-1C92-0FC7-C11F-E0A5615E6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1) </a:t>
            </a:r>
            <a:r>
              <a:rPr lang="ko-KR" altLang="en-US" sz="2400" dirty="0">
                <a:latin typeface="+mn-ea"/>
                <a:ea typeface="+mn-ea"/>
              </a:rPr>
              <a:t>에이스 라이프 </a:t>
            </a:r>
            <a:r>
              <a:rPr lang="en-US" altLang="ko-KR" sz="2400" dirty="0">
                <a:latin typeface="+mn-ea"/>
                <a:ea typeface="+mn-ea"/>
              </a:rPr>
              <a:t>[</a:t>
            </a:r>
            <a:r>
              <a:rPr lang="ko-KR" altLang="en-US" sz="2400" dirty="0">
                <a:latin typeface="+mn-ea"/>
                <a:ea typeface="+mn-ea"/>
              </a:rPr>
              <a:t>피벗테이블 생성</a:t>
            </a:r>
            <a:r>
              <a:rPr lang="en-US" altLang="ko-KR" sz="2400" dirty="0">
                <a:latin typeface="+mn-ea"/>
                <a:ea typeface="+mn-ea"/>
              </a:rPr>
              <a:t>(</a:t>
            </a:r>
            <a:r>
              <a:rPr lang="ko-KR" altLang="en-US" sz="2400" dirty="0">
                <a:latin typeface="+mn-ea"/>
                <a:ea typeface="+mn-ea"/>
              </a:rPr>
              <a:t>에이스피벗</a:t>
            </a:r>
            <a:r>
              <a:rPr lang="en-US" altLang="ko-KR" sz="2400" dirty="0">
                <a:latin typeface="+mn-ea"/>
                <a:ea typeface="+mn-ea"/>
              </a:rPr>
              <a:t>2)]</a:t>
            </a: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2FE57E6-A8B4-9452-55A3-60A637B05C32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D998F91C-8512-FC91-BF35-448FCE8B5D93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0C4A545-3304-F95D-39EA-915D0CB0F8A0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사용 파일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</a:t>
              </a: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“</a:t>
              </a:r>
              <a:r>
                <a:rPr lang="ko-KR" altLang="en-US" sz="1000" dirty="0">
                  <a:solidFill>
                    <a:schemeClr val="tx1"/>
                  </a:solidFill>
                </a:rPr>
                <a:t>에이스피벗</a:t>
              </a:r>
              <a:r>
                <a:rPr lang="en-US" altLang="ko-KR" sz="1000" dirty="0">
                  <a:solidFill>
                    <a:schemeClr val="tx1"/>
                  </a:solidFill>
                </a:rPr>
                <a:t>2” </a:t>
              </a:r>
              <a:r>
                <a:rPr lang="ko-KR" altLang="en-US" sz="1000" dirty="0">
                  <a:solidFill>
                    <a:schemeClr val="tx1"/>
                  </a:solidFill>
                </a:rPr>
                <a:t>시트 생성 후 피벗 테이블 생성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행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"</a:t>
              </a:r>
              <a:r>
                <a:rPr lang="ko-KR" altLang="en-US" sz="1000" dirty="0">
                  <a:solidFill>
                    <a:schemeClr val="tx1"/>
                  </a:solidFill>
                </a:rPr>
                <a:t>부품코드</a:t>
              </a:r>
              <a:r>
                <a:rPr lang="en-US" altLang="ko-KR" sz="1000" dirty="0">
                  <a:solidFill>
                    <a:schemeClr val="tx1"/>
                  </a:solidFill>
                </a:rPr>
                <a:t>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부품코드명</a:t>
              </a:r>
              <a:r>
                <a:rPr lang="en-US" altLang="ko-KR" sz="1000" dirty="0">
                  <a:solidFill>
                    <a:schemeClr val="tx1"/>
                  </a:solidFill>
                </a:rPr>
                <a:t>"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값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"</a:t>
              </a:r>
              <a:r>
                <a:rPr lang="ko-KR" altLang="en-US" sz="1000" dirty="0">
                  <a:solidFill>
                    <a:schemeClr val="tx1"/>
                  </a:solidFill>
                </a:rPr>
                <a:t>합계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</a:t>
              </a:r>
              <a:r>
                <a:rPr lang="ko-KR" altLang="en-US" sz="1000" dirty="0">
                  <a:solidFill>
                    <a:schemeClr val="tx1"/>
                  </a:solidFill>
                </a:rPr>
                <a:t>수량</a:t>
              </a:r>
              <a:r>
                <a:rPr lang="en-US" altLang="ko-KR" sz="1000" dirty="0">
                  <a:solidFill>
                    <a:schemeClr val="tx1"/>
                  </a:solidFill>
                </a:rPr>
                <a:t>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 합계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</a:t>
              </a:r>
              <a:r>
                <a:rPr lang="ko-KR" altLang="en-US" sz="1000" dirty="0">
                  <a:solidFill>
                    <a:schemeClr val="tx1"/>
                  </a:solidFill>
                </a:rPr>
                <a:t>단가</a:t>
              </a:r>
              <a:r>
                <a:rPr lang="en-US" altLang="ko-KR" sz="1000" dirty="0">
                  <a:solidFill>
                    <a:schemeClr val="tx1"/>
                  </a:solidFill>
                </a:rPr>
                <a:t>＂, “</a:t>
              </a:r>
              <a:r>
                <a:rPr lang="ko-KR" altLang="en-US" sz="1000" dirty="0">
                  <a:solidFill>
                    <a:schemeClr val="tx1"/>
                  </a:solidFill>
                </a:rPr>
                <a:t>합계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</a:t>
              </a:r>
              <a:r>
                <a:rPr lang="ko-KR" altLang="en-US" sz="1000" dirty="0">
                  <a:solidFill>
                    <a:schemeClr val="tx1"/>
                  </a:solidFill>
                </a:rPr>
                <a:t>사입금액</a:t>
              </a:r>
              <a:r>
                <a:rPr lang="en-US" altLang="ko-KR" sz="1000" dirty="0">
                  <a:solidFill>
                    <a:schemeClr val="tx1"/>
                  </a:solidFill>
                </a:rPr>
                <a:t>"</a:t>
              </a: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50E8FCCD-A8FF-4602-41E8-F5D68F8F2389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3673F98-87D9-7F10-36B4-D7ED26375B4B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981687A-C51D-1632-EC20-F596344C0C53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FontTx/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23AFFA5-326D-06DC-466F-B3D38BC015C7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래픽 8" descr="배지 1 윤곽선">
            <a:extLst>
              <a:ext uri="{FF2B5EF4-FFF2-40B4-BE49-F238E27FC236}">
                <a16:creationId xmlns:a16="http://schemas.microsoft.com/office/drawing/2014/main" id="{A82818E2-3951-3B96-8B0F-0D44FF163E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34691" y="1780784"/>
            <a:ext cx="409740" cy="40974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5D878B1-90B9-E9FA-0CED-13B343AC30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041" y="2227469"/>
            <a:ext cx="6401693" cy="323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790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A112B-DB52-61C2-C56D-97426DB66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5FD646-3067-0A97-ABA0-2CF51211E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2) </a:t>
            </a:r>
            <a:r>
              <a:rPr lang="ko-KR" altLang="en-US" sz="2400" dirty="0">
                <a:latin typeface="+mn-ea"/>
                <a:ea typeface="+mn-ea"/>
              </a:rPr>
              <a:t>나누텍 </a:t>
            </a:r>
            <a:r>
              <a:rPr lang="en-US" altLang="ko-KR" sz="2400" dirty="0">
                <a:latin typeface="+mn-ea"/>
                <a:ea typeface="+mn-ea"/>
              </a:rPr>
              <a:t>[</a:t>
            </a:r>
            <a:r>
              <a:rPr lang="ko-KR" altLang="en-US" sz="2400" dirty="0">
                <a:latin typeface="+mn-ea"/>
                <a:ea typeface="+mn-ea"/>
              </a:rPr>
              <a:t>데이터 필터링</a:t>
            </a:r>
            <a:r>
              <a:rPr lang="en-US" altLang="ko-KR" sz="2400" dirty="0">
                <a:latin typeface="+mn-ea"/>
                <a:ea typeface="+mn-ea"/>
              </a:rPr>
              <a:t>]</a:t>
            </a: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511D93B-681E-EA51-01C3-D4857025A545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C82440F-8D04-0A8D-10E8-A5DF48F8A7F9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D61E190-86A4-1F18-CE1E-E7A7BCDAB489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사용 파일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</a:t>
              </a: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업체 필터링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[</a:t>
              </a:r>
              <a:r>
                <a:rPr lang="ko-KR" altLang="en-US" sz="1000" dirty="0">
                  <a:solidFill>
                    <a:schemeClr val="tx1"/>
                  </a:solidFill>
                </a:rPr>
                <a:t>제품사입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열에서 </a:t>
              </a:r>
              <a:r>
                <a:rPr lang="en-US" altLang="ko-KR" sz="1000" dirty="0">
                  <a:solidFill>
                    <a:schemeClr val="tx1"/>
                  </a:solidFill>
                </a:rPr>
                <a:t>“</a:t>
              </a:r>
              <a:r>
                <a:rPr lang="ko-KR" altLang="en-US" sz="1000" dirty="0">
                  <a:solidFill>
                    <a:schemeClr val="tx1"/>
                  </a:solidFill>
                </a:rPr>
                <a:t>나누텍</a:t>
              </a:r>
              <a:r>
                <a:rPr lang="en-US" altLang="ko-KR" sz="1000" dirty="0">
                  <a:solidFill>
                    <a:schemeClr val="tx1"/>
                  </a:solidFill>
                </a:rPr>
                <a:t>”</a:t>
              </a:r>
              <a:r>
                <a:rPr lang="ko-KR" altLang="en-US" sz="1000" dirty="0">
                  <a:solidFill>
                    <a:schemeClr val="tx1"/>
                  </a:solidFill>
                </a:rPr>
                <a:t>이 포함된 데이터 필터링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유무상 필터링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[</a:t>
              </a:r>
              <a:r>
                <a:rPr lang="ko-KR" altLang="en-US" sz="1000" dirty="0">
                  <a:solidFill>
                    <a:schemeClr val="tx1"/>
                  </a:solidFill>
                </a:rPr>
                <a:t>유무상</a:t>
              </a:r>
              <a:r>
                <a:rPr lang="en-US" altLang="ko-KR" sz="1000" dirty="0">
                  <a:solidFill>
                    <a:schemeClr val="tx1"/>
                  </a:solidFill>
                </a:rPr>
                <a:t>(</a:t>
              </a:r>
              <a:r>
                <a:rPr lang="ko-KR" altLang="en-US" sz="1000" dirty="0">
                  <a:solidFill>
                    <a:schemeClr val="tx1"/>
                  </a:solidFill>
                </a:rPr>
                <a:t>부품</a:t>
              </a:r>
              <a:r>
                <a:rPr lang="en-US" altLang="ko-KR" sz="1000" dirty="0">
                  <a:solidFill>
                    <a:schemeClr val="tx1"/>
                  </a:solidFill>
                </a:rPr>
                <a:t>)]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열에서 </a:t>
              </a:r>
              <a:r>
                <a:rPr lang="en-US" altLang="ko-KR" sz="1000" dirty="0">
                  <a:solidFill>
                    <a:schemeClr val="tx1"/>
                  </a:solidFill>
                </a:rPr>
                <a:t>“N”</a:t>
              </a:r>
              <a:r>
                <a:rPr lang="ko-KR" altLang="en-US" sz="1000" dirty="0">
                  <a:solidFill>
                    <a:schemeClr val="tx1"/>
                  </a:solidFill>
                </a:rPr>
                <a:t>인 데이터 필터링</a:t>
              </a:r>
              <a:r>
                <a:rPr lang="en-US" altLang="ko-KR" sz="1000" dirty="0">
                  <a:solidFill>
                    <a:schemeClr val="tx1"/>
                  </a:solidFill>
                </a:rPr>
                <a:t>(</a:t>
              </a:r>
              <a:r>
                <a:rPr lang="ko-KR" altLang="en-US" sz="1000" dirty="0">
                  <a:solidFill>
                    <a:schemeClr val="tx1"/>
                  </a:solidFill>
                </a:rPr>
                <a:t>비어있는 경우 </a:t>
              </a:r>
              <a:r>
                <a:rPr lang="en-US" altLang="ko-KR" sz="1000" dirty="0">
                  <a:solidFill>
                    <a:schemeClr val="tx1"/>
                  </a:solidFill>
                </a:rPr>
                <a:t>“N”</a:t>
              </a:r>
              <a:r>
                <a:rPr lang="ko-KR" altLang="en-US" sz="1000" dirty="0">
                  <a:solidFill>
                    <a:schemeClr val="tx1"/>
                  </a:solidFill>
                </a:rPr>
                <a:t>으로 업데이트</a:t>
              </a:r>
              <a:r>
                <a:rPr lang="en-US" altLang="ko-KR" sz="1000" dirty="0">
                  <a:solidFill>
                    <a:schemeClr val="tx1"/>
                  </a:solidFill>
                </a:rPr>
                <a:t>)</a:t>
              </a: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조치 필터링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[</a:t>
              </a:r>
              <a:r>
                <a:rPr lang="ko-KR" altLang="en-US" sz="1000" dirty="0">
                  <a:solidFill>
                    <a:schemeClr val="tx1"/>
                  </a:solidFill>
                </a:rPr>
                <a:t>조치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열에서 </a:t>
              </a:r>
              <a:r>
                <a:rPr lang="en-US" altLang="ko-KR" sz="1000" dirty="0">
                  <a:solidFill>
                    <a:schemeClr val="tx1"/>
                  </a:solidFill>
                </a:rPr>
                <a:t>“</a:t>
              </a:r>
              <a:r>
                <a:rPr lang="ko-KR" altLang="en-US" sz="1000" dirty="0">
                  <a:solidFill>
                    <a:schemeClr val="tx1"/>
                  </a:solidFill>
                </a:rPr>
                <a:t>유상거부</a:t>
              </a:r>
              <a:r>
                <a:rPr lang="en-US" altLang="ko-KR" sz="1000" dirty="0">
                  <a:solidFill>
                    <a:schemeClr val="tx1"/>
                  </a:solidFill>
                </a:rPr>
                <a:t>”, ”</a:t>
              </a:r>
              <a:r>
                <a:rPr lang="ko-KR" altLang="en-US" sz="1000" dirty="0">
                  <a:solidFill>
                    <a:schemeClr val="tx1"/>
                  </a:solidFill>
                </a:rPr>
                <a:t>타사품</a:t>
              </a:r>
              <a:r>
                <a:rPr lang="en-US" altLang="ko-KR" sz="1000" dirty="0">
                  <a:solidFill>
                    <a:schemeClr val="tx1"/>
                  </a:solidFill>
                </a:rPr>
                <a:t>”, “</a:t>
              </a:r>
              <a:r>
                <a:rPr lang="ko-KR" altLang="en-US" sz="1000" dirty="0">
                  <a:solidFill>
                    <a:schemeClr val="tx1"/>
                  </a:solidFill>
                </a:rPr>
                <a:t>전화처리</a:t>
              </a:r>
              <a:r>
                <a:rPr lang="en-US" altLang="ko-KR" sz="1000" dirty="0">
                  <a:solidFill>
                    <a:schemeClr val="tx1"/>
                  </a:solidFill>
                </a:rPr>
                <a:t>”, “</a:t>
              </a:r>
              <a:r>
                <a:rPr lang="ko-KR" altLang="en-US" sz="1000" dirty="0">
                  <a:solidFill>
                    <a:schemeClr val="tx1"/>
                  </a:solidFill>
                </a:rPr>
                <a:t>처리이관</a:t>
              </a:r>
              <a:r>
                <a:rPr lang="en-US" altLang="ko-KR" sz="1000" dirty="0">
                  <a:solidFill>
                    <a:schemeClr val="tx1"/>
                  </a:solidFill>
                </a:rPr>
                <a:t>”, “</a:t>
              </a:r>
              <a:r>
                <a:rPr lang="ko-KR" altLang="en-US" sz="1000" dirty="0">
                  <a:solidFill>
                    <a:schemeClr val="tx1"/>
                  </a:solidFill>
                </a:rPr>
                <a:t>사용설명</a:t>
              </a:r>
              <a:r>
                <a:rPr lang="en-US" altLang="ko-KR" sz="1000" dirty="0">
                  <a:solidFill>
                    <a:schemeClr val="tx1"/>
                  </a:solidFill>
                </a:rPr>
                <a:t>”</a:t>
              </a:r>
              <a:r>
                <a:rPr lang="ko-KR" altLang="en-US" sz="1000" dirty="0">
                  <a:solidFill>
                    <a:schemeClr val="tx1"/>
                  </a:solidFill>
                </a:rPr>
                <a:t>이 아닌 데이터 필터링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“</a:t>
              </a:r>
              <a:r>
                <a:rPr lang="ko-KR" altLang="en-US" sz="1000" dirty="0">
                  <a:solidFill>
                    <a:schemeClr val="tx1"/>
                  </a:solidFill>
                </a:rPr>
                <a:t>나누텍</a:t>
              </a:r>
              <a:r>
                <a:rPr lang="en-US" altLang="ko-KR" sz="1000" dirty="0">
                  <a:solidFill>
                    <a:schemeClr val="tx1"/>
                  </a:solidFill>
                </a:rPr>
                <a:t>” </a:t>
              </a:r>
              <a:r>
                <a:rPr lang="ko-KR" altLang="en-US" sz="1000" dirty="0">
                  <a:solidFill>
                    <a:schemeClr val="tx1"/>
                  </a:solidFill>
                </a:rPr>
                <a:t>시트 생성 후 필터링된 데이터 작성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B999E45-1C82-F223-5398-C33DCB4984B4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11C312A4-A773-E688-9356-28651F5F5FED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99E6E5E-BEB7-7D07-51CC-93C974F72FB2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사전 작업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 </a:t>
              </a:r>
              <a:r>
                <a:rPr lang="ko-KR" altLang="en-US" sz="1000" dirty="0">
                  <a:solidFill>
                    <a:schemeClr val="tx1"/>
                  </a:solidFill>
                </a:rPr>
                <a:t>시트 명 변경</a:t>
              </a:r>
              <a:r>
                <a:rPr lang="en-US" altLang="ko-KR" sz="1000" dirty="0">
                  <a:solidFill>
                    <a:schemeClr val="tx1"/>
                  </a:solidFill>
                </a:rPr>
                <a:t>(Table1 -&gt; </a:t>
              </a:r>
              <a:r>
                <a:rPr lang="ko-KR" altLang="en-US" sz="1000" dirty="0">
                  <a:solidFill>
                    <a:schemeClr val="tx1"/>
                  </a:solidFill>
                </a:rPr>
                <a:t>원본</a:t>
              </a:r>
              <a:r>
                <a:rPr lang="en-US" altLang="ko-KR" sz="1000" dirty="0">
                  <a:solidFill>
                    <a:schemeClr val="tx1"/>
                  </a:solidFill>
                </a:rPr>
                <a:t>)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AED6EF7-B9CE-4DE0-765C-891C03653C7D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래픽 8" descr="배지 1 윤곽선">
            <a:extLst>
              <a:ext uri="{FF2B5EF4-FFF2-40B4-BE49-F238E27FC236}">
                <a16:creationId xmlns:a16="http://schemas.microsoft.com/office/drawing/2014/main" id="{089EC948-72A5-4DD8-20C5-6529A145E1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4009" y="1430824"/>
            <a:ext cx="429853" cy="42985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E9067B75-B2C9-F744-2119-C366BAABB7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6451" y="1882595"/>
            <a:ext cx="2321133" cy="4348982"/>
          </a:xfrm>
          <a:prstGeom prst="rect">
            <a:avLst/>
          </a:prstGeom>
        </p:spPr>
      </p:pic>
      <p:pic>
        <p:nvPicPr>
          <p:cNvPr id="17" name="그래픽 16" descr="배지 윤곽선">
            <a:extLst>
              <a:ext uri="{FF2B5EF4-FFF2-40B4-BE49-F238E27FC236}">
                <a16:creationId xmlns:a16="http://schemas.microsoft.com/office/drawing/2014/main" id="{87F5EC52-FC55-4788-2308-ADA9F42D84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752090" y="1433458"/>
            <a:ext cx="429853" cy="429853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48A5B33D-8E8B-DEC5-8E34-C54BEC512B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7159" y="1882595"/>
            <a:ext cx="2335879" cy="4348982"/>
          </a:xfrm>
          <a:prstGeom prst="rect">
            <a:avLst/>
          </a:prstGeom>
        </p:spPr>
      </p:pic>
      <p:pic>
        <p:nvPicPr>
          <p:cNvPr id="20" name="그래픽 19" descr="배지 3 윤곽선">
            <a:extLst>
              <a:ext uri="{FF2B5EF4-FFF2-40B4-BE49-F238E27FC236}">
                <a16:creationId xmlns:a16="http://schemas.microsoft.com/office/drawing/2014/main" id="{39BC9AD4-DC0E-F106-1EF7-897BA82E76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6340171" y="1430825"/>
            <a:ext cx="429853" cy="42985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647F18F-4412-BF00-EBE2-70F472D9FE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2388" y="1882595"/>
            <a:ext cx="2321134" cy="433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2365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34F5A-881F-2678-F288-3DA914CF9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2397A9E-9254-32B6-C03D-0D7DC1BF7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565" y="1115290"/>
            <a:ext cx="3324995" cy="546331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73D4531-B316-FB5A-9283-2ACA046A2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2) </a:t>
            </a:r>
            <a:r>
              <a:rPr lang="ko-KR" altLang="en-US" sz="2400" dirty="0">
                <a:latin typeface="+mn-ea"/>
                <a:ea typeface="+mn-ea"/>
              </a:rPr>
              <a:t>나누텍 </a:t>
            </a:r>
            <a:r>
              <a:rPr lang="en-US" altLang="ko-KR" sz="2400" dirty="0">
                <a:latin typeface="+mn-ea"/>
                <a:ea typeface="+mn-ea"/>
              </a:rPr>
              <a:t>[</a:t>
            </a:r>
            <a:r>
              <a:rPr lang="ko-KR" altLang="en-US" sz="2400" dirty="0">
                <a:latin typeface="+mn-ea"/>
                <a:ea typeface="+mn-ea"/>
              </a:rPr>
              <a:t>불필요 칼럼 삭제</a:t>
            </a:r>
            <a:r>
              <a:rPr lang="en-US" altLang="ko-KR" sz="2400" dirty="0">
                <a:latin typeface="+mn-ea"/>
                <a:ea typeface="+mn-ea"/>
              </a:rPr>
              <a:t>]</a:t>
            </a: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85FE209-F7E9-89B0-D79C-D508AEBE3443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D3794D1-E477-AEF3-A8DB-524309985B61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3842944-413D-0D57-8389-58D11757480E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사용 파일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.xlsx, </a:t>
              </a:r>
              <a:r>
                <a:rPr lang="ko-KR" altLang="en-US" sz="1000" dirty="0">
                  <a:solidFill>
                    <a:schemeClr val="tx1"/>
                  </a:solidFill>
                </a:rPr>
                <a:t>삭제 열 리스트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</a:t>
              </a: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삭제 열 리스트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</a:t>
              </a:r>
              <a:r>
                <a:rPr lang="ko-KR" altLang="en-US" sz="1000" dirty="0">
                  <a:solidFill>
                    <a:schemeClr val="tx1"/>
                  </a:solidFill>
                </a:rPr>
                <a:t>에서 </a:t>
              </a:r>
              <a:r>
                <a:rPr lang="en-US" altLang="ko-KR" sz="1000" dirty="0">
                  <a:solidFill>
                    <a:schemeClr val="tx1"/>
                  </a:solidFill>
                </a:rPr>
                <a:t>“</a:t>
              </a:r>
              <a:r>
                <a:rPr lang="ko-KR" altLang="en-US" sz="1000" dirty="0">
                  <a:solidFill>
                    <a:schemeClr val="tx1"/>
                  </a:solidFill>
                </a:rPr>
                <a:t>나누텍</a:t>
              </a:r>
              <a:r>
                <a:rPr lang="en-US" altLang="ko-KR" sz="1000" dirty="0">
                  <a:solidFill>
                    <a:schemeClr val="tx1"/>
                  </a:solidFill>
                </a:rPr>
                <a:t>”</a:t>
              </a:r>
              <a:r>
                <a:rPr lang="ko-KR" altLang="en-US" sz="1000" dirty="0">
                  <a:solidFill>
                    <a:schemeClr val="tx1"/>
                  </a:solidFill>
                </a:rPr>
                <a:t> 시트의 데이터 읽기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</a:t>
              </a:r>
              <a:r>
                <a:rPr lang="ko-KR" altLang="en-US" sz="1000" dirty="0">
                  <a:solidFill>
                    <a:schemeClr val="tx1"/>
                  </a:solidFill>
                </a:rPr>
                <a:t>에서 </a:t>
              </a:r>
              <a:r>
                <a:rPr lang="en-US" altLang="ko-KR" sz="1000" dirty="0">
                  <a:solidFill>
                    <a:schemeClr val="tx1"/>
                  </a:solidFill>
                </a:rPr>
                <a:t>“</a:t>
              </a:r>
              <a:r>
                <a:rPr lang="ko-KR" altLang="en-US" sz="1000" dirty="0">
                  <a:solidFill>
                    <a:schemeClr val="tx1"/>
                  </a:solidFill>
                </a:rPr>
                <a:t>나누텍</a:t>
              </a:r>
              <a:r>
                <a:rPr lang="en-US" altLang="ko-KR" sz="1000" dirty="0">
                  <a:solidFill>
                    <a:schemeClr val="tx1"/>
                  </a:solidFill>
                </a:rPr>
                <a:t>”</a:t>
              </a:r>
              <a:r>
                <a:rPr lang="ko-KR" altLang="en-US" sz="1000" dirty="0">
                  <a:solidFill>
                    <a:schemeClr val="tx1"/>
                  </a:solidFill>
                </a:rPr>
                <a:t> 시트의 칼럼 삭제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E3FE15D-BA34-B41B-8914-FEFCFA407F3E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FFC6CC8-DE52-F5B2-CD71-CB1708EA667D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F4357D4-7ACB-E2F2-AC1A-F3EBA4A6A775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삭제할 칼럼이 수정될 시 삭제 열 리스트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 </a:t>
              </a:r>
              <a:r>
                <a:rPr lang="ko-KR" altLang="en-US" sz="1000" dirty="0">
                  <a:solidFill>
                    <a:schemeClr val="tx1"/>
                  </a:solidFill>
                </a:rPr>
                <a:t>파일에 업데이트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D705B9F-1E7B-8A6D-0539-E007840A837B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래픽 8" descr="배지 1 윤곽선">
            <a:extLst>
              <a:ext uri="{FF2B5EF4-FFF2-40B4-BE49-F238E27FC236}">
                <a16:creationId xmlns:a16="http://schemas.microsoft.com/office/drawing/2014/main" id="{39FC56E7-44EE-16F3-B06E-17D1F73CF7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5334" y="2034127"/>
            <a:ext cx="429853" cy="429853"/>
          </a:xfrm>
          <a:prstGeom prst="rect">
            <a:avLst/>
          </a:prstGeom>
        </p:spPr>
      </p:pic>
      <p:pic>
        <p:nvPicPr>
          <p:cNvPr id="17" name="그래픽 16" descr="배지 윤곽선">
            <a:extLst>
              <a:ext uri="{FF2B5EF4-FFF2-40B4-BE49-F238E27FC236}">
                <a16:creationId xmlns:a16="http://schemas.microsoft.com/office/drawing/2014/main" id="{D5FC5A4C-A228-7E55-0182-D106396A64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530273" y="3580397"/>
            <a:ext cx="429853" cy="42985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E50612F-BD6E-6ECF-1D7A-C862FEECD0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6436" y="4084141"/>
            <a:ext cx="6017528" cy="2494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172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BCAD0-9756-7D03-398A-93DE8D16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1D9EA9D-3328-8B6B-A2AB-FE6C9964C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4899" y="1413558"/>
            <a:ext cx="4448761" cy="512116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55E1247-8AB8-C378-5B25-DE423C858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1) </a:t>
            </a:r>
            <a:r>
              <a:rPr lang="ko-KR" altLang="en-US" sz="2400" dirty="0" err="1">
                <a:latin typeface="+mn-ea"/>
                <a:ea typeface="+mn-ea"/>
              </a:rPr>
              <a:t>나누텍</a:t>
            </a:r>
            <a:r>
              <a:rPr lang="ko-KR" altLang="en-US" sz="2400" dirty="0">
                <a:latin typeface="+mn-ea"/>
                <a:ea typeface="+mn-ea"/>
              </a:rPr>
              <a:t> </a:t>
            </a:r>
            <a:r>
              <a:rPr lang="en-US" altLang="ko-KR" sz="2400" dirty="0">
                <a:latin typeface="+mn-ea"/>
                <a:ea typeface="+mn-ea"/>
              </a:rPr>
              <a:t>[</a:t>
            </a:r>
            <a:r>
              <a:rPr lang="ko-KR" altLang="en-US" sz="2400" dirty="0">
                <a:latin typeface="+mn-ea"/>
                <a:ea typeface="+mn-ea"/>
              </a:rPr>
              <a:t>사입단가 데이터 가져오기</a:t>
            </a:r>
            <a:r>
              <a:rPr lang="en-US" altLang="ko-KR" sz="2400" dirty="0">
                <a:latin typeface="+mn-ea"/>
                <a:ea typeface="+mn-ea"/>
              </a:rPr>
              <a:t>]</a:t>
            </a: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1FF9CD7-008B-3EB1-E479-B6C543BCA0C8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B487780-877E-589D-522B-916A7984FB83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939E383B-75F4-D93B-64EA-8E72815083C9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사용 파일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</a:t>
              </a: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DB2</a:t>
              </a:r>
              <a:r>
                <a:rPr lang="ko-KR" altLang="en-US" sz="1000" dirty="0">
                  <a:solidFill>
                    <a:schemeClr val="tx1"/>
                  </a:solidFill>
                </a:rPr>
                <a:t>에서 </a:t>
              </a:r>
              <a:r>
                <a:rPr lang="ko-KR" altLang="en-US" sz="1000" dirty="0" err="1">
                  <a:solidFill>
                    <a:schemeClr val="tx1"/>
                  </a:solidFill>
                </a:rPr>
                <a:t>나누텍의</a:t>
              </a:r>
              <a:r>
                <a:rPr lang="ko-KR" altLang="en-US" sz="1000" dirty="0">
                  <a:solidFill>
                    <a:schemeClr val="tx1"/>
                  </a:solidFill>
                </a:rPr>
                <a:t> 사입단가 데이터 추출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“</a:t>
              </a:r>
              <a:r>
                <a:rPr lang="ko-KR" altLang="en-US" sz="1000" dirty="0">
                  <a:solidFill>
                    <a:schemeClr val="tx1"/>
                  </a:solidFill>
                </a:rPr>
                <a:t>사입단가</a:t>
              </a:r>
              <a:r>
                <a:rPr lang="en-US" altLang="ko-KR" sz="1000" dirty="0">
                  <a:solidFill>
                    <a:schemeClr val="tx1"/>
                  </a:solidFill>
                </a:rPr>
                <a:t>”,”</a:t>
              </a:r>
              <a:r>
                <a:rPr lang="ko-KR" altLang="en-US" sz="1000" dirty="0">
                  <a:solidFill>
                    <a:schemeClr val="tx1"/>
                  </a:solidFill>
                </a:rPr>
                <a:t>사입금액</a:t>
              </a:r>
              <a:r>
                <a:rPr lang="en-US" altLang="ko-KR" sz="1000" dirty="0">
                  <a:solidFill>
                    <a:schemeClr val="tx1"/>
                  </a:solidFill>
                </a:rPr>
                <a:t>”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 추가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부품코드에 맞는 </a:t>
              </a:r>
              <a:r>
                <a:rPr lang="en-US" altLang="ko-KR" sz="1000" dirty="0">
                  <a:solidFill>
                    <a:schemeClr val="tx1"/>
                  </a:solidFill>
                </a:rPr>
                <a:t>“</a:t>
              </a:r>
              <a:r>
                <a:rPr lang="ko-KR" altLang="en-US" sz="1000" dirty="0">
                  <a:solidFill>
                    <a:schemeClr val="tx1"/>
                  </a:solidFill>
                </a:rPr>
                <a:t>사입단가</a:t>
              </a:r>
              <a:r>
                <a:rPr lang="en-US" altLang="ko-KR" sz="1000" dirty="0">
                  <a:solidFill>
                    <a:schemeClr val="tx1"/>
                  </a:solidFill>
                </a:rPr>
                <a:t>” </a:t>
              </a:r>
              <a:r>
                <a:rPr lang="ko-KR" altLang="en-US" sz="1000" dirty="0">
                  <a:solidFill>
                    <a:schemeClr val="tx1"/>
                  </a:solidFill>
                </a:rPr>
                <a:t>입력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A12D38F-E4BF-56C1-B727-8C4C402DE171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C96DFBC9-4F8F-696F-7F03-355D2A94236E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FDB9EE5-7DF5-38BA-F269-5E1CA30E9E2F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AD871159-D0F5-9917-BAA7-EB1614787DBC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래픽 8" descr="배지 윤곽선">
            <a:extLst>
              <a:ext uri="{FF2B5EF4-FFF2-40B4-BE49-F238E27FC236}">
                <a16:creationId xmlns:a16="http://schemas.microsoft.com/office/drawing/2014/main" id="{09C5A2D7-8EE1-CCF0-AA8F-E6E1F18417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501297" y="1198631"/>
            <a:ext cx="429853" cy="429853"/>
          </a:xfrm>
          <a:prstGeom prst="rect">
            <a:avLst/>
          </a:prstGeom>
        </p:spPr>
      </p:pic>
      <p:pic>
        <p:nvPicPr>
          <p:cNvPr id="12" name="그래픽 11" descr="배지 3 윤곽선">
            <a:extLst>
              <a:ext uri="{FF2B5EF4-FFF2-40B4-BE49-F238E27FC236}">
                <a16:creationId xmlns:a16="http://schemas.microsoft.com/office/drawing/2014/main" id="{4A060C05-8078-E6F6-CD9C-0641797C86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286370" y="3759215"/>
            <a:ext cx="429853" cy="42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8063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BA6F2-C482-B181-EAF0-B5B4FB77F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4687800-26C3-0F13-A6D8-9BF3B9EB26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2160" y="2687782"/>
            <a:ext cx="2324424" cy="49536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6188C50-650C-FFDA-3A23-497A568E9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2) </a:t>
            </a:r>
            <a:r>
              <a:rPr lang="ko-KR" altLang="en-US" sz="2400" dirty="0">
                <a:latin typeface="+mn-ea"/>
                <a:ea typeface="+mn-ea"/>
              </a:rPr>
              <a:t>나누텍 </a:t>
            </a:r>
            <a:r>
              <a:rPr lang="en-US" altLang="ko-KR" sz="2400" dirty="0">
                <a:latin typeface="+mn-ea"/>
                <a:ea typeface="+mn-ea"/>
              </a:rPr>
              <a:t>[</a:t>
            </a:r>
            <a:r>
              <a:rPr lang="ko-KR" altLang="en-US" sz="2400" dirty="0">
                <a:latin typeface="+mn-ea"/>
                <a:ea typeface="+mn-ea"/>
              </a:rPr>
              <a:t>대방</a:t>
            </a:r>
            <a:r>
              <a:rPr lang="en-US" altLang="ko-KR" sz="2400" dirty="0">
                <a:latin typeface="+mn-ea"/>
                <a:ea typeface="+mn-ea"/>
              </a:rPr>
              <a:t>(</a:t>
            </a:r>
            <a:r>
              <a:rPr lang="ko-KR" altLang="en-US" sz="2400" dirty="0">
                <a:latin typeface="+mn-ea"/>
                <a:ea typeface="+mn-ea"/>
              </a:rPr>
              <a:t>집단</a:t>
            </a:r>
            <a:r>
              <a:rPr lang="en-US" altLang="ko-KR" sz="2400" dirty="0">
                <a:latin typeface="+mn-ea"/>
                <a:ea typeface="+mn-ea"/>
              </a:rPr>
              <a:t>)</a:t>
            </a:r>
            <a:r>
              <a:rPr lang="ko-KR" altLang="en-US" sz="2400" dirty="0">
                <a:latin typeface="+mn-ea"/>
                <a:ea typeface="+mn-ea"/>
              </a:rPr>
              <a:t>현장 시트 생성</a:t>
            </a:r>
            <a:r>
              <a:rPr lang="en-US" altLang="ko-KR" sz="2400" dirty="0">
                <a:latin typeface="+mn-ea"/>
                <a:ea typeface="+mn-ea"/>
              </a:rPr>
              <a:t>]</a:t>
            </a: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0DAE83B-8DC4-25D9-F898-ACC40603FC2C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39EF59C7-BB74-3097-3556-E008BB0A9C69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CA18C20-4E48-B921-7778-D57683B20D3F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사용 파일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</a:t>
              </a: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“</a:t>
              </a:r>
              <a:r>
                <a:rPr lang="ko-KR" altLang="en-US" sz="1000" dirty="0">
                  <a:solidFill>
                    <a:schemeClr val="tx1"/>
                  </a:solidFill>
                </a:rPr>
                <a:t>집단현장</a:t>
              </a:r>
              <a:r>
                <a:rPr lang="en-US" altLang="ko-KR" sz="1000" dirty="0">
                  <a:solidFill>
                    <a:schemeClr val="tx1"/>
                  </a:solidFill>
                </a:rPr>
                <a:t>” </a:t>
              </a:r>
              <a:r>
                <a:rPr lang="ko-KR" altLang="en-US" sz="1000" dirty="0">
                  <a:solidFill>
                    <a:schemeClr val="tx1"/>
                  </a:solidFill>
                </a:rPr>
                <a:t>시트 생성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나누텍 시트에서 </a:t>
              </a:r>
              <a:r>
                <a:rPr lang="en-US" altLang="ko-KR" sz="1000" dirty="0">
                  <a:solidFill>
                    <a:schemeClr val="tx1"/>
                  </a:solidFill>
                </a:rPr>
                <a:t>[</a:t>
              </a:r>
              <a:r>
                <a:rPr lang="ko-KR" altLang="en-US" sz="1000" dirty="0">
                  <a:solidFill>
                    <a:schemeClr val="tx1"/>
                  </a:solidFill>
                </a:rPr>
                <a:t>현장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열에 </a:t>
              </a:r>
              <a:r>
                <a:rPr lang="en-US" altLang="ko-KR" sz="1000" dirty="0">
                  <a:solidFill>
                    <a:schemeClr val="tx1"/>
                  </a:solidFill>
                </a:rPr>
                <a:t>“</a:t>
              </a:r>
              <a:r>
                <a:rPr lang="ko-KR" altLang="en-US" sz="1000" dirty="0">
                  <a:solidFill>
                    <a:schemeClr val="tx1"/>
                  </a:solidFill>
                </a:rPr>
                <a:t>현장</a:t>
              </a:r>
              <a:r>
                <a:rPr lang="en-US" altLang="ko-KR" sz="1000" dirty="0">
                  <a:solidFill>
                    <a:schemeClr val="tx1"/>
                  </a:solidFill>
                </a:rPr>
                <a:t>”</a:t>
              </a:r>
              <a:r>
                <a:rPr lang="ko-KR" altLang="en-US" sz="1000" dirty="0">
                  <a:solidFill>
                    <a:schemeClr val="tx1"/>
                  </a:solidFill>
                </a:rPr>
                <a:t>이라는 단어가 포함된 데이터 필터링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“</a:t>
              </a:r>
              <a:r>
                <a:rPr lang="ko-KR" altLang="en-US" sz="1000" dirty="0">
                  <a:solidFill>
                    <a:schemeClr val="tx1"/>
                  </a:solidFill>
                </a:rPr>
                <a:t>집단현장</a:t>
              </a:r>
              <a:r>
                <a:rPr lang="en-US" altLang="ko-KR" sz="1000" dirty="0">
                  <a:solidFill>
                    <a:schemeClr val="tx1"/>
                  </a:solidFill>
                </a:rPr>
                <a:t>” </a:t>
              </a:r>
              <a:r>
                <a:rPr lang="ko-KR" altLang="en-US" sz="1000" dirty="0">
                  <a:solidFill>
                    <a:schemeClr val="tx1"/>
                  </a:solidFill>
                </a:rPr>
                <a:t>시트에 입력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CC80044-E93E-BDCB-2C09-059D3D2D7D33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915274B-1B45-443E-ABAC-237F5E2325FC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992A282-70A7-962F-A53B-A4C54C53483F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대방</a:t>
              </a:r>
              <a:r>
                <a:rPr lang="en-US" altLang="ko-KR" sz="1000" dirty="0">
                  <a:solidFill>
                    <a:schemeClr val="tx1"/>
                  </a:solidFill>
                </a:rPr>
                <a:t>(</a:t>
              </a:r>
              <a:r>
                <a:rPr lang="ko-KR" altLang="en-US" sz="1000" dirty="0">
                  <a:solidFill>
                    <a:schemeClr val="tx1"/>
                  </a:solidFill>
                </a:rPr>
                <a:t>집단</a:t>
              </a:r>
              <a:r>
                <a:rPr lang="en-US" altLang="ko-KR" sz="1000" dirty="0">
                  <a:solidFill>
                    <a:schemeClr val="tx1"/>
                  </a:solidFill>
                </a:rPr>
                <a:t>)</a:t>
              </a:r>
              <a:r>
                <a:rPr lang="ko-KR" altLang="en-US" sz="1000" dirty="0">
                  <a:solidFill>
                    <a:schemeClr val="tx1"/>
                  </a:solidFill>
                </a:rPr>
                <a:t>현장 데이터는 나누텍 시트에서 삭제되고</a:t>
              </a:r>
              <a:r>
                <a:rPr lang="en-US" altLang="ko-KR" sz="1000" dirty="0">
                  <a:solidFill>
                    <a:schemeClr val="tx1"/>
                  </a:solidFill>
                </a:rPr>
                <a:t>, </a:t>
              </a:r>
              <a:r>
                <a:rPr lang="ko-KR" altLang="en-US" sz="1000" dirty="0">
                  <a:solidFill>
                    <a:schemeClr val="tx1"/>
                  </a:solidFill>
                </a:rPr>
                <a:t>집단현장 시트에 작성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[</a:t>
              </a:r>
              <a:r>
                <a:rPr lang="ko-KR" altLang="en-US" sz="1000" dirty="0">
                  <a:solidFill>
                    <a:schemeClr val="tx1"/>
                  </a:solidFill>
                </a:rPr>
                <a:t>현장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열은 업무 담당자가 수정해야되는 열</a:t>
              </a:r>
              <a:r>
                <a:rPr lang="en-US" altLang="ko-KR" sz="1000" dirty="0">
                  <a:solidFill>
                    <a:schemeClr val="tx1"/>
                  </a:solidFill>
                </a:rPr>
                <a:t>(</a:t>
              </a:r>
              <a:r>
                <a:rPr lang="ko-KR" altLang="en-US" sz="1000" dirty="0">
                  <a:solidFill>
                    <a:schemeClr val="tx1"/>
                  </a:solidFill>
                </a:rPr>
                <a:t>사용자 매뉴얼</a:t>
              </a:r>
              <a:r>
                <a:rPr lang="en-US" altLang="ko-KR" sz="1000" dirty="0">
                  <a:solidFill>
                    <a:schemeClr val="tx1"/>
                  </a:solidFill>
                </a:rPr>
                <a:t>.pptx </a:t>
              </a:r>
              <a:r>
                <a:rPr lang="ko-KR" altLang="en-US" sz="1000" dirty="0">
                  <a:solidFill>
                    <a:schemeClr val="tx1"/>
                  </a:solidFill>
                </a:rPr>
                <a:t>참고</a:t>
              </a:r>
              <a:r>
                <a:rPr lang="en-US" altLang="ko-KR" sz="1000" dirty="0">
                  <a:solidFill>
                    <a:schemeClr val="tx1"/>
                  </a:solidFill>
                </a:rPr>
                <a:t>)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8920CD-11CA-04A5-D451-A53DCDE3ECDF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래픽 8" descr="배지 1 윤곽선">
            <a:extLst>
              <a:ext uri="{FF2B5EF4-FFF2-40B4-BE49-F238E27FC236}">
                <a16:creationId xmlns:a16="http://schemas.microsoft.com/office/drawing/2014/main" id="{93E8AFF6-43D2-8404-43E2-56B88F5866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29445" y="2184038"/>
            <a:ext cx="429853" cy="429853"/>
          </a:xfrm>
          <a:prstGeom prst="rect">
            <a:avLst/>
          </a:prstGeom>
        </p:spPr>
      </p:pic>
      <p:pic>
        <p:nvPicPr>
          <p:cNvPr id="17" name="그래픽 16" descr="배지 윤곽선">
            <a:extLst>
              <a:ext uri="{FF2B5EF4-FFF2-40B4-BE49-F238E27FC236}">
                <a16:creationId xmlns:a16="http://schemas.microsoft.com/office/drawing/2014/main" id="{0D9F0EAD-3917-B4E0-B634-EBDC01C6A1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999305" y="1852196"/>
            <a:ext cx="429853" cy="42985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72230D54-21F1-59CE-36FD-6A520C493D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4125" y="2479155"/>
            <a:ext cx="800212" cy="1533739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8CE8384D-2A19-2816-3135-C59344542E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669" y="4995852"/>
            <a:ext cx="6182337" cy="956984"/>
          </a:xfrm>
          <a:prstGeom prst="rect">
            <a:avLst/>
          </a:prstGeom>
        </p:spPr>
      </p:pic>
      <p:pic>
        <p:nvPicPr>
          <p:cNvPr id="20" name="그래픽 19" descr="배지 3 윤곽선">
            <a:extLst>
              <a:ext uri="{FF2B5EF4-FFF2-40B4-BE49-F238E27FC236}">
                <a16:creationId xmlns:a16="http://schemas.microsoft.com/office/drawing/2014/main" id="{825F2926-E0CD-55C8-B071-8AAE04326A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3566910" y="4492108"/>
            <a:ext cx="429853" cy="42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096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E0A77-A383-7500-4FFC-4C37A0531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BBF323-38F1-6EA4-4165-280FA2867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2) </a:t>
            </a:r>
            <a:r>
              <a:rPr lang="ko-KR" altLang="en-US" sz="2400" dirty="0">
                <a:latin typeface="+mn-ea"/>
                <a:ea typeface="+mn-ea"/>
              </a:rPr>
              <a:t>나누텍 </a:t>
            </a:r>
            <a:r>
              <a:rPr lang="en-US" altLang="ko-KR" sz="2400" dirty="0">
                <a:latin typeface="+mn-ea"/>
                <a:ea typeface="+mn-ea"/>
              </a:rPr>
              <a:t>[Serial]</a:t>
            </a: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07BC37A-680F-2AC1-E911-1778FDC5E890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D1AA553B-2655-D170-4032-49414BDF818B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7676995-1BBB-89A7-D67C-148D5E039B34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사용 파일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</a:t>
              </a: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시리얼 넘버 비정상 </a:t>
              </a:r>
              <a:r>
                <a:rPr lang="en-US" altLang="ko-KR" sz="1000" dirty="0">
                  <a:solidFill>
                    <a:schemeClr val="tx1"/>
                  </a:solidFill>
                </a:rPr>
                <a:t>or </a:t>
              </a:r>
              <a:r>
                <a:rPr lang="ko-KR" altLang="en-US" sz="1000" dirty="0">
                  <a:solidFill>
                    <a:schemeClr val="tx1"/>
                  </a:solidFill>
                </a:rPr>
                <a:t>대방</a:t>
              </a:r>
              <a:r>
                <a:rPr lang="en-US" altLang="ko-KR" sz="1000" dirty="0">
                  <a:solidFill>
                    <a:schemeClr val="tx1"/>
                  </a:solidFill>
                </a:rPr>
                <a:t>(</a:t>
              </a:r>
              <a:r>
                <a:rPr lang="ko-KR" altLang="en-US" sz="1000" dirty="0">
                  <a:solidFill>
                    <a:schemeClr val="tx1"/>
                  </a:solidFill>
                </a:rPr>
                <a:t>집단</a:t>
              </a:r>
              <a:r>
                <a:rPr lang="en-US" altLang="ko-KR" sz="1000" dirty="0">
                  <a:solidFill>
                    <a:schemeClr val="tx1"/>
                  </a:solidFill>
                </a:rPr>
                <a:t>)</a:t>
              </a:r>
              <a:r>
                <a:rPr lang="ko-KR" altLang="en-US" sz="1000" dirty="0">
                  <a:solidFill>
                    <a:schemeClr val="tx1"/>
                  </a:solidFill>
                </a:rPr>
                <a:t>현장</a:t>
              </a:r>
              <a:r>
                <a:rPr lang="en-US" altLang="ko-KR" sz="1000" dirty="0">
                  <a:solidFill>
                    <a:schemeClr val="tx1"/>
                  </a:solidFill>
                </a:rPr>
                <a:t> </a:t>
              </a:r>
              <a:r>
                <a:rPr lang="ko-KR" altLang="en-US" sz="1000" dirty="0">
                  <a:solidFill>
                    <a:schemeClr val="tx1"/>
                  </a:solidFill>
                </a:rPr>
                <a:t>삭제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</a:t>
              </a:r>
              <a:r>
                <a:rPr lang="ko-KR" altLang="en-US" sz="1000" dirty="0">
                  <a:solidFill>
                    <a:schemeClr val="tx1"/>
                  </a:solidFill>
                </a:rPr>
                <a:t>시리얼 넘버가 </a:t>
              </a:r>
              <a:r>
                <a:rPr lang="en-US" altLang="ko-KR" sz="1000" dirty="0">
                  <a:solidFill>
                    <a:schemeClr val="tx1"/>
                  </a:solidFill>
                </a:rPr>
                <a:t>10</a:t>
              </a:r>
              <a:r>
                <a:rPr lang="ko-KR" altLang="en-US" sz="1000" dirty="0">
                  <a:solidFill>
                    <a:schemeClr val="tx1"/>
                  </a:solidFill>
                </a:rPr>
                <a:t>자리가 아닌 데이터 삭제 </a:t>
              </a:r>
              <a:r>
                <a:rPr lang="en-US" altLang="ko-KR" sz="1000" dirty="0">
                  <a:solidFill>
                    <a:schemeClr val="tx1"/>
                  </a:solidFill>
                </a:rPr>
                <a:t>or [</a:t>
              </a:r>
              <a:r>
                <a:rPr lang="ko-KR" altLang="en-US" sz="1000" dirty="0">
                  <a:solidFill>
                    <a:schemeClr val="tx1"/>
                  </a:solidFill>
                </a:rPr>
                <a:t>현장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열에 대방</a:t>
              </a:r>
              <a:r>
                <a:rPr lang="en-US" altLang="ko-KR" sz="1000" dirty="0">
                  <a:solidFill>
                    <a:schemeClr val="tx1"/>
                  </a:solidFill>
                </a:rPr>
                <a:t>(</a:t>
              </a:r>
              <a:r>
                <a:rPr lang="ko-KR" altLang="en-US" sz="1000" dirty="0">
                  <a:solidFill>
                    <a:schemeClr val="tx1"/>
                  </a:solidFill>
                </a:rPr>
                <a:t>집단</a:t>
              </a:r>
              <a:r>
                <a:rPr lang="en-US" altLang="ko-KR" sz="1000" dirty="0">
                  <a:solidFill>
                    <a:schemeClr val="tx1"/>
                  </a:solidFill>
                </a:rPr>
                <a:t>)</a:t>
              </a:r>
              <a:r>
                <a:rPr lang="ko-KR" altLang="en-US" sz="1000" dirty="0">
                  <a:solidFill>
                    <a:schemeClr val="tx1"/>
                  </a:solidFill>
                </a:rPr>
                <a:t>현장인 데이터 삭제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시리얼 넘버로 제조년월 채우기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ND4BP04056 -&gt; 202504</a:t>
              </a:r>
            </a:p>
            <a:p>
              <a:pPr lvl="1">
                <a:lnSpc>
                  <a:spcPct val="15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※ </a:t>
              </a:r>
              <a:r>
                <a:rPr lang="ko-KR" altLang="en-US" sz="1000" dirty="0">
                  <a:solidFill>
                    <a:schemeClr val="tx1"/>
                  </a:solidFill>
                </a:rPr>
                <a:t>모든 데이터 수행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lvl="1">
                <a:lnSpc>
                  <a:spcPct val="15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※ </a:t>
              </a:r>
              <a:r>
                <a:rPr lang="ko-KR" altLang="en-US" sz="1000" dirty="0">
                  <a:solidFill>
                    <a:schemeClr val="tx1"/>
                  </a:solidFill>
                </a:rPr>
                <a:t>로직 참고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제조년월 기준 </a:t>
              </a:r>
              <a:r>
                <a:rPr lang="en-US" altLang="ko-KR" sz="1000" dirty="0">
                  <a:solidFill>
                    <a:schemeClr val="tx1"/>
                  </a:solidFill>
                </a:rPr>
                <a:t>15</a:t>
              </a:r>
              <a:r>
                <a:rPr lang="ko-KR" altLang="en-US" sz="1000" dirty="0">
                  <a:solidFill>
                    <a:schemeClr val="tx1"/>
                  </a:solidFill>
                </a:rPr>
                <a:t>개월 초과 삭제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5E04501-0C81-569C-EE2D-737ED7267151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225CA652-3F14-052B-9A6E-60883FA4D4FE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804A7D7-4746-6125-97A4-88C298E43ABB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[</a:t>
              </a:r>
              <a:r>
                <a:rPr lang="ko-KR" altLang="en-US" sz="1000" dirty="0">
                  <a:solidFill>
                    <a:schemeClr val="tx1"/>
                  </a:solidFill>
                </a:rPr>
                <a:t>현장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열은 업무 담당자가 수정해야되는 열</a:t>
              </a:r>
              <a:r>
                <a:rPr lang="en-US" altLang="ko-KR" sz="1000" dirty="0">
                  <a:solidFill>
                    <a:schemeClr val="tx1"/>
                  </a:solidFill>
                </a:rPr>
                <a:t>(</a:t>
              </a:r>
              <a:r>
                <a:rPr lang="ko-KR" altLang="en-US" sz="1000" dirty="0">
                  <a:solidFill>
                    <a:schemeClr val="tx1"/>
                  </a:solidFill>
                </a:rPr>
                <a:t>사용자 매뉴얼</a:t>
              </a:r>
              <a:r>
                <a:rPr lang="en-US" altLang="ko-KR" sz="1000" dirty="0">
                  <a:solidFill>
                    <a:schemeClr val="tx1"/>
                  </a:solidFill>
                </a:rPr>
                <a:t>.pptx </a:t>
              </a:r>
              <a:r>
                <a:rPr lang="ko-KR" altLang="en-US" sz="1000" dirty="0">
                  <a:solidFill>
                    <a:schemeClr val="tx1"/>
                  </a:solidFill>
                </a:rPr>
                <a:t>참고</a:t>
              </a:r>
              <a:r>
                <a:rPr lang="en-US" altLang="ko-KR" sz="1000" dirty="0">
                  <a:solidFill>
                    <a:schemeClr val="tx1"/>
                  </a:solidFill>
                </a:rPr>
                <a:t>)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B8B6CB5-F88F-7EF0-E7A0-FF9B9E330E34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래픽 8" descr="배지 1 윤곽선">
            <a:extLst>
              <a:ext uri="{FF2B5EF4-FFF2-40B4-BE49-F238E27FC236}">
                <a16:creationId xmlns:a16="http://schemas.microsoft.com/office/drawing/2014/main" id="{71AFB742-CF3E-FB93-8CC8-BE2C19C48E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87289" y="1609409"/>
            <a:ext cx="429853" cy="42985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26B9E41-8A50-6510-6C7A-EBBE94862F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2873" y="2113153"/>
            <a:ext cx="2238687" cy="355332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E49CA0A-5437-6CEB-5B05-9DA8F6E336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6487" y="2113153"/>
            <a:ext cx="2257740" cy="3467584"/>
          </a:xfrm>
          <a:prstGeom prst="rect">
            <a:avLst/>
          </a:prstGeom>
        </p:spPr>
      </p:pic>
      <p:pic>
        <p:nvPicPr>
          <p:cNvPr id="22" name="그래픽 21" descr="배지 3 윤곽선">
            <a:extLst>
              <a:ext uri="{FF2B5EF4-FFF2-40B4-BE49-F238E27FC236}">
                <a16:creationId xmlns:a16="http://schemas.microsoft.com/office/drawing/2014/main" id="{6055C0D2-EED8-89BC-B2F8-A7D7D183A4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127101" y="1898226"/>
            <a:ext cx="429853" cy="429853"/>
          </a:xfrm>
          <a:prstGeom prst="rect">
            <a:avLst/>
          </a:prstGeom>
        </p:spPr>
      </p:pic>
      <p:pic>
        <p:nvPicPr>
          <p:cNvPr id="17" name="그래픽 16" descr="배지 윤곽선">
            <a:extLst>
              <a:ext uri="{FF2B5EF4-FFF2-40B4-BE49-F238E27FC236}">
                <a16:creationId xmlns:a16="http://schemas.microsoft.com/office/drawing/2014/main" id="{8419A288-B3D2-E548-3BC3-1D9D84107B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238173" y="1898226"/>
            <a:ext cx="429853" cy="42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0846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3CF87-84EF-1C56-6563-EC0A386A1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7F885567-8941-B5E2-1BF7-B83165190F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588" y="1248995"/>
            <a:ext cx="3580859" cy="51959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9E1E34E-2C5C-3635-CC6B-9B2058A0F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2) </a:t>
            </a:r>
            <a:r>
              <a:rPr lang="ko-KR" altLang="en-US" sz="2400" dirty="0">
                <a:latin typeface="+mn-ea"/>
                <a:ea typeface="+mn-ea"/>
              </a:rPr>
              <a:t>나누텍 </a:t>
            </a:r>
            <a:r>
              <a:rPr lang="en-US" altLang="ko-KR" sz="2400" dirty="0">
                <a:latin typeface="+mn-ea"/>
                <a:ea typeface="+mn-ea"/>
              </a:rPr>
              <a:t>[</a:t>
            </a:r>
            <a:r>
              <a:rPr lang="ko-KR" altLang="en-US" sz="2400" dirty="0">
                <a:latin typeface="+mn-ea"/>
                <a:ea typeface="+mn-ea"/>
              </a:rPr>
              <a:t>조치 열 값 변경</a:t>
            </a:r>
            <a:r>
              <a:rPr lang="en-US" altLang="ko-KR" sz="2400" dirty="0">
                <a:latin typeface="+mn-ea"/>
                <a:ea typeface="+mn-ea"/>
              </a:rPr>
              <a:t>]</a:t>
            </a: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A58DAFB-4419-F74C-32F1-9C3B86E6F281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E472EAB-D443-7A60-438E-76C5CE6C05A0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7C8C08A-412C-8820-EFAA-4A67BCB24903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사용 파일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</a:t>
              </a: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부품코드가 </a:t>
              </a:r>
              <a:r>
                <a:rPr lang="en-US" altLang="ko-KR" sz="1000" dirty="0">
                  <a:solidFill>
                    <a:schemeClr val="tx1"/>
                  </a:solidFill>
                </a:rPr>
                <a:t>XX : [</a:t>
              </a:r>
              <a:r>
                <a:rPr lang="ko-KR" altLang="en-US" sz="1000" dirty="0">
                  <a:solidFill>
                    <a:schemeClr val="tx1"/>
                  </a:solidFill>
                </a:rPr>
                <a:t>조치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 </a:t>
              </a:r>
              <a:r>
                <a:rPr lang="en-US" altLang="ko-KR" sz="1000" dirty="0">
                  <a:solidFill>
                    <a:schemeClr val="tx1"/>
                  </a:solidFill>
                </a:rPr>
                <a:t>=&gt; </a:t>
              </a:r>
              <a:r>
                <a:rPr lang="ko-KR" altLang="en-US" sz="1000" dirty="0">
                  <a:solidFill>
                    <a:schemeClr val="tx1"/>
                  </a:solidFill>
                </a:rPr>
                <a:t>수리및조정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부품코드가 </a:t>
              </a:r>
              <a:r>
                <a:rPr lang="en-US" altLang="ko-KR" sz="1000" dirty="0">
                  <a:solidFill>
                    <a:schemeClr val="tx1"/>
                  </a:solidFill>
                </a:rPr>
                <a:t>XX</a:t>
              </a:r>
              <a:r>
                <a:rPr lang="ko-KR" altLang="en-US" sz="1000" dirty="0">
                  <a:solidFill>
                    <a:schemeClr val="tx1"/>
                  </a:solidFill>
                </a:rPr>
                <a:t>가 아님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[</a:t>
              </a:r>
              <a:r>
                <a:rPr lang="ko-KR" altLang="en-US" sz="1000" dirty="0">
                  <a:solidFill>
                    <a:schemeClr val="tx1"/>
                  </a:solidFill>
                </a:rPr>
                <a:t>조치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 </a:t>
              </a:r>
              <a:r>
                <a:rPr lang="en-US" altLang="ko-KR" sz="1000" dirty="0">
                  <a:solidFill>
                    <a:schemeClr val="tx1"/>
                  </a:solidFill>
                </a:rPr>
                <a:t>=&gt; </a:t>
              </a:r>
              <a:r>
                <a:rPr lang="ko-KR" altLang="en-US" sz="1000" dirty="0">
                  <a:solidFill>
                    <a:schemeClr val="tx1"/>
                  </a:solidFill>
                </a:rPr>
                <a:t>부품교환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611AFCB-72CD-A1CA-8643-5DE31E624AEB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2B3BFB35-1AA2-15A0-ECE7-1ADC9DA14E99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FA402AF-9471-9C30-4AD5-EF9DD70C4E39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[</a:t>
              </a:r>
              <a:r>
                <a:rPr lang="ko-KR" altLang="en-US" sz="1000" dirty="0">
                  <a:solidFill>
                    <a:schemeClr val="tx1"/>
                  </a:solidFill>
                </a:rPr>
                <a:t>원인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열은 업무 담당자가 수기 처리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37957D33-223D-3164-8C10-020599EB3703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래픽 8" descr="배지 1 윤곽선">
            <a:extLst>
              <a:ext uri="{FF2B5EF4-FFF2-40B4-BE49-F238E27FC236}">
                <a16:creationId xmlns:a16="http://schemas.microsoft.com/office/drawing/2014/main" id="{EB0A46EE-3145-1DB5-C6F4-DA75F44F4D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52090" y="960177"/>
            <a:ext cx="429853" cy="42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7137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D4950-8571-30F9-0D04-BE4D31DBC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008611-088C-B973-7CA1-D81D8E1A8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2) </a:t>
            </a:r>
            <a:r>
              <a:rPr lang="ko-KR" altLang="en-US" sz="2400" dirty="0">
                <a:latin typeface="+mn-ea"/>
                <a:ea typeface="+mn-ea"/>
              </a:rPr>
              <a:t>나누텍 </a:t>
            </a:r>
            <a:r>
              <a:rPr lang="en-US" altLang="ko-KR" sz="2400" dirty="0">
                <a:latin typeface="+mn-ea"/>
                <a:ea typeface="+mn-ea"/>
              </a:rPr>
              <a:t>[</a:t>
            </a:r>
            <a:r>
              <a:rPr lang="ko-KR" altLang="en-US" sz="2400" dirty="0">
                <a:latin typeface="+mn-ea"/>
                <a:ea typeface="+mn-ea"/>
              </a:rPr>
              <a:t>전화번호 관련 열 이름 변경</a:t>
            </a:r>
            <a:r>
              <a:rPr lang="en-US" altLang="ko-KR" sz="2400" dirty="0">
                <a:latin typeface="+mn-ea"/>
                <a:ea typeface="+mn-ea"/>
              </a:rPr>
              <a:t>]</a:t>
            </a: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3723F39-BCD8-F644-3710-67483D563A03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E1A9078-9793-784E-B67C-099AF88C8FCA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05E4430-6E5C-373D-A7DF-0376F65E5AE6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사용 파일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</a:t>
              </a: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전화번호 관련 열</a:t>
              </a:r>
              <a:r>
                <a:rPr lang="en-US" altLang="ko-KR" sz="1000" dirty="0">
                  <a:solidFill>
                    <a:schemeClr val="tx1"/>
                  </a:solidFill>
                </a:rPr>
                <a:t> </a:t>
              </a:r>
              <a:r>
                <a:rPr lang="ko-KR" altLang="en-US" sz="1000" dirty="0">
                  <a:solidFill>
                    <a:schemeClr val="tx1"/>
                  </a:solidFill>
                </a:rPr>
                <a:t>변경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유선전화</a:t>
              </a:r>
              <a:r>
                <a:rPr lang="en-US" altLang="ko-KR" sz="1000" dirty="0">
                  <a:solidFill>
                    <a:schemeClr val="tx1"/>
                  </a:solidFill>
                </a:rPr>
                <a:t>, </a:t>
              </a:r>
              <a:r>
                <a:rPr lang="ko-KR" altLang="en-US" sz="1000" dirty="0">
                  <a:solidFill>
                    <a:schemeClr val="tx1"/>
                  </a:solidFill>
                </a:rPr>
                <a:t>휴대전화</a:t>
              </a:r>
              <a:r>
                <a:rPr lang="en-US" altLang="ko-KR" sz="1000" dirty="0">
                  <a:solidFill>
                    <a:schemeClr val="tx1"/>
                  </a:solidFill>
                </a:rPr>
                <a:t>,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연락처 </a:t>
              </a:r>
              <a:r>
                <a:rPr lang="en-US" altLang="ko-KR" sz="1000" dirty="0">
                  <a:solidFill>
                    <a:schemeClr val="tx1"/>
                  </a:solidFill>
                </a:rPr>
                <a:t>-&gt; </a:t>
              </a:r>
              <a:r>
                <a:rPr lang="ko-KR" altLang="en-US" sz="1000" dirty="0">
                  <a:solidFill>
                    <a:schemeClr val="tx1"/>
                  </a:solidFill>
                </a:rPr>
                <a:t>전화번호</a:t>
              </a:r>
              <a:r>
                <a:rPr lang="en-US" altLang="ko-KR" sz="1000" dirty="0">
                  <a:solidFill>
                    <a:schemeClr val="tx1"/>
                  </a:solidFill>
                </a:rPr>
                <a:t>1,</a:t>
              </a:r>
              <a:r>
                <a:rPr lang="ko-KR" altLang="en-US" sz="1000" dirty="0">
                  <a:solidFill>
                    <a:schemeClr val="tx1"/>
                  </a:solidFill>
                </a:rPr>
                <a:t> 전화번호</a:t>
              </a:r>
              <a:r>
                <a:rPr lang="en-US" altLang="ko-KR" sz="1000" dirty="0">
                  <a:solidFill>
                    <a:schemeClr val="tx1"/>
                  </a:solidFill>
                </a:rPr>
                <a:t>2, </a:t>
              </a:r>
              <a:r>
                <a:rPr lang="ko-KR" altLang="en-US" sz="1000" dirty="0">
                  <a:solidFill>
                    <a:schemeClr val="tx1"/>
                  </a:solidFill>
                </a:rPr>
                <a:t>전화번호</a:t>
              </a:r>
              <a:r>
                <a:rPr lang="en-US" altLang="ko-KR" sz="1000" dirty="0">
                  <a:solidFill>
                    <a:schemeClr val="tx1"/>
                  </a:solidFill>
                </a:rPr>
                <a:t>3</a:t>
              </a: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EBBDFA78-2CF9-8D20-A93B-11FCCB499124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4FBDB106-4518-DD56-F9D3-DD1896EDFC3E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E18A9E2-FE6F-9E62-5CF2-2EDFB2EAAF6C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F02C9313-B0C6-670E-51D7-EB63D4016F8D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래픽 8" descr="배지 1 윤곽선">
            <a:extLst>
              <a:ext uri="{FF2B5EF4-FFF2-40B4-BE49-F238E27FC236}">
                <a16:creationId xmlns:a16="http://schemas.microsoft.com/office/drawing/2014/main" id="{F74CC393-8589-2924-C8B1-EF1D0A6B76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82631" y="2851365"/>
            <a:ext cx="429853" cy="42985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6420378-3112-40EE-D274-D0C7881764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11" y="1640284"/>
            <a:ext cx="3287437" cy="431255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61E818F-3BDF-E5E7-FAF6-523A3BA0F5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1558" y="1426087"/>
            <a:ext cx="3168884" cy="4762277"/>
          </a:xfrm>
          <a:prstGeom prst="rect">
            <a:avLst/>
          </a:prstGeom>
        </p:spPr>
      </p:pic>
      <p:pic>
        <p:nvPicPr>
          <p:cNvPr id="17" name="그래픽 16" descr="오른쪽 화살표 단색으로 채워진">
            <a:extLst>
              <a:ext uri="{FF2B5EF4-FFF2-40B4-BE49-F238E27FC236}">
                <a16:creationId xmlns:a16="http://schemas.microsoft.com/office/drawing/2014/main" id="{45BD02E6-DD3B-76A4-8584-7456F1477E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04003" y="333936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0975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E0024-2965-3124-D099-AC8FAD0C6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866E75-7D36-9D1A-2C62-0F4630115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2) </a:t>
            </a:r>
            <a:r>
              <a:rPr lang="ko-KR" altLang="en-US" sz="2400" dirty="0">
                <a:latin typeface="+mn-ea"/>
                <a:ea typeface="+mn-ea"/>
              </a:rPr>
              <a:t>나누텍 </a:t>
            </a:r>
            <a:r>
              <a:rPr lang="en-US" altLang="ko-KR" sz="2400" dirty="0">
                <a:latin typeface="+mn-ea"/>
                <a:ea typeface="+mn-ea"/>
              </a:rPr>
              <a:t>[AS </a:t>
            </a:r>
            <a:r>
              <a:rPr lang="ko-KR" altLang="en-US" sz="2400" dirty="0">
                <a:latin typeface="+mn-ea"/>
                <a:ea typeface="+mn-ea"/>
              </a:rPr>
              <a:t>대행료 변경</a:t>
            </a:r>
            <a:r>
              <a:rPr lang="en-US" altLang="ko-KR" sz="2400" dirty="0">
                <a:latin typeface="+mn-ea"/>
                <a:ea typeface="+mn-ea"/>
              </a:rPr>
              <a:t>]</a:t>
            </a: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A30759B-0E77-8413-9036-BBEE9388D60A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2F12FE3-8E90-C7DA-5E5B-0F7BE03030F0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0AF06C9-3BB0-B7BD-A2CA-9E49835A9D81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사용 파일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</a:t>
              </a: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[</a:t>
              </a:r>
              <a:r>
                <a:rPr lang="ko-KR" altLang="en-US" sz="1000" dirty="0">
                  <a:solidFill>
                    <a:schemeClr val="tx1"/>
                  </a:solidFill>
                </a:rPr>
                <a:t>라인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열이 </a:t>
              </a:r>
              <a:r>
                <a:rPr lang="en-US" altLang="ko-KR" sz="1000" dirty="0">
                  <a:solidFill>
                    <a:schemeClr val="tx1"/>
                  </a:solidFill>
                </a:rPr>
                <a:t>1</a:t>
              </a:r>
              <a:r>
                <a:rPr lang="ko-KR" altLang="en-US" sz="1000" dirty="0">
                  <a:solidFill>
                    <a:schemeClr val="tx1"/>
                  </a:solidFill>
                </a:rPr>
                <a:t>인 경우에만 </a:t>
              </a:r>
              <a:r>
                <a:rPr lang="en-US" altLang="ko-KR" sz="1000" dirty="0">
                  <a:solidFill>
                    <a:schemeClr val="tx1"/>
                  </a:solidFill>
                </a:rPr>
                <a:t>AS </a:t>
              </a:r>
              <a:r>
                <a:rPr lang="ko-KR" altLang="en-US" sz="1000" dirty="0">
                  <a:solidFill>
                    <a:schemeClr val="tx1"/>
                  </a:solidFill>
                </a:rPr>
                <a:t>대행료 변경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[</a:t>
              </a:r>
              <a:r>
                <a:rPr lang="ko-KR" altLang="en-US" sz="1000" dirty="0">
                  <a:solidFill>
                    <a:schemeClr val="tx1"/>
                  </a:solidFill>
                </a:rPr>
                <a:t>조치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열의 데이터에 따른 값 변경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685800" lvl="1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부품교환</a:t>
              </a:r>
              <a:r>
                <a:rPr lang="en-US" altLang="ko-KR" sz="1000" dirty="0">
                  <a:solidFill>
                    <a:schemeClr val="tx1"/>
                  </a:solidFill>
                </a:rPr>
                <a:t> : 20,000</a:t>
              </a:r>
            </a:p>
            <a:p>
              <a:pPr marL="685800" lvl="1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수리및조정</a:t>
              </a:r>
              <a:r>
                <a:rPr lang="en-US" altLang="ko-KR" sz="1000" dirty="0">
                  <a:solidFill>
                    <a:schemeClr val="tx1"/>
                  </a:solidFill>
                </a:rPr>
                <a:t> : 20,000</a:t>
              </a: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[AS</a:t>
              </a:r>
              <a:r>
                <a:rPr lang="ko-KR" altLang="en-US" sz="1000" dirty="0">
                  <a:solidFill>
                    <a:schemeClr val="tx1"/>
                  </a:solidFill>
                </a:rPr>
                <a:t>대행료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열에 데이터 업데이트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lvl="1"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F8524A9-FB99-8F71-FC8D-B4DCF6E6276A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5D7BE457-CC49-6754-665B-9FD136F9E34A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F918601E-FD29-91AB-F47C-0B39F5FD0D9E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[</a:t>
              </a:r>
              <a:r>
                <a:rPr lang="ko-KR" altLang="en-US" sz="1000" dirty="0">
                  <a:solidFill>
                    <a:schemeClr val="tx1"/>
                  </a:solidFill>
                </a:rPr>
                <a:t>라인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열이 </a:t>
              </a:r>
              <a:r>
                <a:rPr lang="en-US" altLang="ko-KR" sz="1000" dirty="0">
                  <a:solidFill>
                    <a:schemeClr val="tx1"/>
                  </a:solidFill>
                </a:rPr>
                <a:t>1</a:t>
              </a:r>
              <a:r>
                <a:rPr lang="ko-KR" altLang="en-US" sz="1000" dirty="0">
                  <a:solidFill>
                    <a:schemeClr val="tx1"/>
                  </a:solidFill>
                </a:rPr>
                <a:t>이 아닌 데이터는 </a:t>
              </a:r>
              <a:r>
                <a:rPr lang="en-US" altLang="ko-KR" sz="1000" dirty="0">
                  <a:solidFill>
                    <a:schemeClr val="tx1"/>
                  </a:solidFill>
                </a:rPr>
                <a:t>[AS</a:t>
              </a:r>
              <a:r>
                <a:rPr lang="ko-KR" altLang="en-US" sz="1000" dirty="0">
                  <a:solidFill>
                    <a:schemeClr val="tx1"/>
                  </a:solidFill>
                </a:rPr>
                <a:t>대행료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열에 </a:t>
              </a:r>
              <a:r>
                <a:rPr lang="en-US" altLang="ko-KR" sz="1000" dirty="0">
                  <a:solidFill>
                    <a:schemeClr val="tx1"/>
                  </a:solidFill>
                </a:rPr>
                <a:t>0</a:t>
              </a:r>
              <a:r>
                <a:rPr lang="ko-KR" altLang="en-US" sz="1000" dirty="0">
                  <a:solidFill>
                    <a:schemeClr val="tx1"/>
                  </a:solidFill>
                </a:rPr>
                <a:t>원으로 작성 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98BFCAC-5811-203F-9BF9-DA647D6A220D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래픽 8" descr="배지 1 윤곽선">
            <a:extLst>
              <a:ext uri="{FF2B5EF4-FFF2-40B4-BE49-F238E27FC236}">
                <a16:creationId xmlns:a16="http://schemas.microsoft.com/office/drawing/2014/main" id="{97E53230-1B11-4E58-0367-D6729108C7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6399" y="905164"/>
            <a:ext cx="429853" cy="42985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4F86F743-A7F5-C923-75D9-4681EFD973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260" y="1335017"/>
            <a:ext cx="1328133" cy="520930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5B67ADF6-B418-E12A-423A-9E23CC5D38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4492" y="1936532"/>
            <a:ext cx="1267002" cy="4172532"/>
          </a:xfrm>
          <a:prstGeom prst="rect">
            <a:avLst/>
          </a:prstGeom>
        </p:spPr>
      </p:pic>
      <p:pic>
        <p:nvPicPr>
          <p:cNvPr id="18" name="그래픽 17" descr="배지 윤곽선">
            <a:extLst>
              <a:ext uri="{FF2B5EF4-FFF2-40B4-BE49-F238E27FC236}">
                <a16:creationId xmlns:a16="http://schemas.microsoft.com/office/drawing/2014/main" id="{840E35B9-5E49-A61E-3F6E-86F8489BA0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2463066" y="1432788"/>
            <a:ext cx="429853" cy="429853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06B12AA0-A368-477D-FF3A-D853C9359E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8317" y="1520821"/>
            <a:ext cx="1220960" cy="5086208"/>
          </a:xfrm>
          <a:prstGeom prst="rect">
            <a:avLst/>
          </a:prstGeom>
        </p:spPr>
      </p:pic>
      <p:pic>
        <p:nvPicPr>
          <p:cNvPr id="21" name="그래픽 20" descr="오른쪽 화살표 단색으로 채워진">
            <a:extLst>
              <a:ext uri="{FF2B5EF4-FFF2-40B4-BE49-F238E27FC236}">
                <a16:creationId xmlns:a16="http://schemas.microsoft.com/office/drawing/2014/main" id="{53AC5732-0745-1AB4-C8D0-4BBBB1AD66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04003" y="3339360"/>
            <a:ext cx="914400" cy="914400"/>
          </a:xfrm>
          <a:prstGeom prst="rect">
            <a:avLst/>
          </a:prstGeom>
        </p:spPr>
      </p:pic>
      <p:pic>
        <p:nvPicPr>
          <p:cNvPr id="22" name="그래픽 21" descr="배지 3 윤곽선">
            <a:extLst>
              <a:ext uri="{FF2B5EF4-FFF2-40B4-BE49-F238E27FC236}">
                <a16:creationId xmlns:a16="http://schemas.microsoft.com/office/drawing/2014/main" id="{47722B16-1611-12C5-5104-25875A030E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5156987" y="1089891"/>
            <a:ext cx="429853" cy="42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7630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B628E-3534-D4C9-62AE-135620DD4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929648-953B-DC09-F269-36A2A5C28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2) </a:t>
            </a:r>
            <a:r>
              <a:rPr lang="ko-KR" altLang="en-US" sz="2400" dirty="0">
                <a:latin typeface="+mn-ea"/>
                <a:ea typeface="+mn-ea"/>
              </a:rPr>
              <a:t>나누텍 </a:t>
            </a:r>
            <a:r>
              <a:rPr lang="en-US" altLang="ko-KR" sz="2400" dirty="0">
                <a:latin typeface="+mn-ea"/>
                <a:ea typeface="+mn-ea"/>
              </a:rPr>
              <a:t>[</a:t>
            </a:r>
            <a:r>
              <a:rPr lang="ko-KR" altLang="en-US" sz="2400" dirty="0">
                <a:latin typeface="+mn-ea"/>
                <a:ea typeface="+mn-ea"/>
              </a:rPr>
              <a:t>수량 </a:t>
            </a:r>
            <a:r>
              <a:rPr lang="en-US" altLang="ko-KR" sz="2400" dirty="0">
                <a:latin typeface="+mn-ea"/>
                <a:ea typeface="+mn-ea"/>
              </a:rPr>
              <a:t>* </a:t>
            </a:r>
            <a:r>
              <a:rPr lang="ko-KR" altLang="en-US" sz="2400" dirty="0">
                <a:latin typeface="+mn-ea"/>
                <a:ea typeface="+mn-ea"/>
              </a:rPr>
              <a:t>사입단가 </a:t>
            </a:r>
            <a:r>
              <a:rPr lang="en-US" altLang="ko-KR" sz="2400" dirty="0">
                <a:latin typeface="+mn-ea"/>
                <a:ea typeface="+mn-ea"/>
              </a:rPr>
              <a:t>= </a:t>
            </a:r>
            <a:r>
              <a:rPr lang="ko-KR" altLang="en-US" sz="2400" dirty="0">
                <a:latin typeface="+mn-ea"/>
                <a:ea typeface="+mn-ea"/>
              </a:rPr>
              <a:t>사입금액</a:t>
            </a:r>
            <a:r>
              <a:rPr lang="en-US" altLang="ko-KR" sz="2400" dirty="0">
                <a:latin typeface="+mn-ea"/>
                <a:ea typeface="+mn-ea"/>
              </a:rPr>
              <a:t>]</a:t>
            </a: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11628A-6A20-D9F3-B023-87BE7E8D8B70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62AC9B8-DEC1-68F3-708D-44F769E422D5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B1DC889-71D6-D0BD-36D1-C8F1034145AE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사용 파일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</a:t>
              </a: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[</a:t>
              </a:r>
              <a:r>
                <a:rPr lang="ko-KR" altLang="en-US" sz="1000" dirty="0">
                  <a:solidFill>
                    <a:schemeClr val="tx1"/>
                  </a:solidFill>
                </a:rPr>
                <a:t>수량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 </a:t>
              </a:r>
              <a:r>
                <a:rPr lang="en-US" altLang="ko-KR" sz="1000" dirty="0">
                  <a:solidFill>
                    <a:schemeClr val="tx1"/>
                  </a:solidFill>
                </a:rPr>
                <a:t>* [</a:t>
              </a:r>
              <a:r>
                <a:rPr lang="ko-KR" altLang="en-US" sz="1000" dirty="0">
                  <a:solidFill>
                    <a:schemeClr val="tx1"/>
                  </a:solidFill>
                </a:rPr>
                <a:t>사입단가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열으로 계산된 데이터를 </a:t>
              </a:r>
              <a:r>
                <a:rPr lang="en-US" altLang="ko-KR" sz="1000" dirty="0">
                  <a:solidFill>
                    <a:schemeClr val="tx1"/>
                  </a:solidFill>
                </a:rPr>
                <a:t>[</a:t>
              </a:r>
              <a:r>
                <a:rPr lang="ko-KR" altLang="en-US" sz="1000" dirty="0">
                  <a:solidFill>
                    <a:schemeClr val="tx1"/>
                  </a:solidFill>
                </a:rPr>
                <a:t>사입금액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열에 업데이트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99B8736-444F-81C6-5406-DBCD639910C6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F5B1155-02B1-4544-03DC-99DBB07491A9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B7EF441-0139-7869-F69B-9CF2CBCD6F89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D3F1E6A-4931-072D-9521-DC28F1A3096E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래픽 8" descr="배지 1 윤곽선">
            <a:extLst>
              <a:ext uri="{FF2B5EF4-FFF2-40B4-BE49-F238E27FC236}">
                <a16:creationId xmlns:a16="http://schemas.microsoft.com/office/drawing/2014/main" id="{61771A8D-051D-F616-0298-31F8843333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52090" y="905164"/>
            <a:ext cx="429853" cy="42985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81DC68C-1EA0-9CB4-C0F6-1221044476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0937" y="1408908"/>
            <a:ext cx="2910808" cy="516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1699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BFC5C-5CBB-5E25-C0DD-9B9CD8DCA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51EE54-B41D-8AF6-929D-9DD32A96C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2) </a:t>
            </a:r>
            <a:r>
              <a:rPr lang="ko-KR" altLang="en-US" sz="2400" dirty="0">
                <a:latin typeface="+mn-ea"/>
                <a:ea typeface="+mn-ea"/>
              </a:rPr>
              <a:t>나누텍 </a:t>
            </a:r>
            <a:r>
              <a:rPr lang="en-US" altLang="ko-KR" sz="2400" dirty="0">
                <a:latin typeface="+mn-ea"/>
                <a:ea typeface="+mn-ea"/>
              </a:rPr>
              <a:t>[</a:t>
            </a:r>
            <a:r>
              <a:rPr lang="ko-KR" altLang="en-US" sz="2400" dirty="0">
                <a:latin typeface="+mn-ea"/>
                <a:ea typeface="+mn-ea"/>
              </a:rPr>
              <a:t>처리구분 생성</a:t>
            </a:r>
            <a:r>
              <a:rPr lang="en-US" altLang="ko-KR" sz="2400" dirty="0">
                <a:latin typeface="+mn-ea"/>
                <a:ea typeface="+mn-ea"/>
              </a:rPr>
              <a:t>]</a:t>
            </a: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AC8C258-1C2D-75F9-2225-770DA83E3182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B334487-1714-42C0-83FB-DCC39063B3FC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075D84E-64F7-C943-6B37-173B2286D09D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사용 파일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</a:t>
              </a: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[</a:t>
              </a:r>
              <a:r>
                <a:rPr lang="ko-KR" altLang="en-US" sz="1000" dirty="0">
                  <a:solidFill>
                    <a:schemeClr val="tx1"/>
                  </a:solidFill>
                </a:rPr>
                <a:t>처리구분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 생성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a. [</a:t>
              </a:r>
              <a:r>
                <a:rPr lang="ko-KR" altLang="en-US" sz="1000" dirty="0">
                  <a:solidFill>
                    <a:schemeClr val="tx1"/>
                  </a:solidFill>
                </a:rPr>
                <a:t>부품코드</a:t>
              </a:r>
              <a:r>
                <a:rPr lang="en-US" altLang="ko-KR" sz="1000" dirty="0">
                  <a:solidFill>
                    <a:schemeClr val="tx1"/>
                  </a:solidFill>
                </a:rPr>
                <a:t>]</a:t>
              </a:r>
              <a:r>
                <a:rPr lang="ko-KR" altLang="en-US" sz="1000" dirty="0">
                  <a:solidFill>
                    <a:schemeClr val="tx1"/>
                  </a:solidFill>
                </a:rPr>
                <a:t>의 데이터가 </a:t>
              </a:r>
              <a:r>
                <a:rPr lang="en-US" altLang="ko-KR" sz="1000" dirty="0">
                  <a:solidFill>
                    <a:schemeClr val="tx1"/>
                  </a:solidFill>
                </a:rPr>
                <a:t>“XX”</a:t>
              </a:r>
              <a:r>
                <a:rPr lang="ko-KR" altLang="en-US" sz="1000" dirty="0">
                  <a:solidFill>
                    <a:schemeClr val="tx1"/>
                  </a:solidFill>
                </a:rPr>
                <a:t>인 경우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[</a:t>
              </a:r>
              <a:r>
                <a:rPr lang="ko-KR" altLang="en-US" sz="1000" dirty="0">
                  <a:solidFill>
                    <a:schemeClr val="tx1"/>
                  </a:solidFill>
                </a:rPr>
                <a:t>처리구분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</a:t>
              </a:r>
              <a:r>
                <a:rPr lang="ko-KR" altLang="en-US" sz="1000" dirty="0">
                  <a:solidFill>
                    <a:schemeClr val="tx1"/>
                  </a:solidFill>
                </a:rPr>
                <a:t>간단조정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b. [</a:t>
              </a:r>
              <a:r>
                <a:rPr lang="ko-KR" altLang="en-US" sz="1000" dirty="0">
                  <a:solidFill>
                    <a:schemeClr val="tx1"/>
                  </a:solidFill>
                </a:rPr>
                <a:t>부품코드</a:t>
              </a:r>
              <a:r>
                <a:rPr lang="en-US" altLang="ko-KR" sz="1000" dirty="0">
                  <a:solidFill>
                    <a:schemeClr val="tx1"/>
                  </a:solidFill>
                </a:rPr>
                <a:t>]</a:t>
              </a:r>
              <a:r>
                <a:rPr lang="ko-KR" altLang="en-US" sz="1000" dirty="0">
                  <a:solidFill>
                    <a:schemeClr val="tx1"/>
                  </a:solidFill>
                </a:rPr>
                <a:t>의 데이터가 </a:t>
              </a:r>
              <a:r>
                <a:rPr lang="en-US" altLang="ko-KR" sz="1000" dirty="0">
                  <a:solidFill>
                    <a:schemeClr val="tx1"/>
                  </a:solidFill>
                </a:rPr>
                <a:t>“XX”</a:t>
              </a:r>
              <a:r>
                <a:rPr lang="ko-KR" altLang="en-US" sz="1000" dirty="0">
                  <a:solidFill>
                    <a:schemeClr val="tx1"/>
                  </a:solidFill>
                </a:rPr>
                <a:t>가 아닌 경우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[</a:t>
              </a:r>
              <a:r>
                <a:rPr lang="ko-KR" altLang="en-US" sz="1000" dirty="0">
                  <a:solidFill>
                    <a:schemeClr val="tx1"/>
                  </a:solidFill>
                </a:rPr>
                <a:t>처리구분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</a:t>
              </a:r>
              <a:r>
                <a:rPr lang="ko-KR" altLang="en-US" sz="1000" dirty="0">
                  <a:solidFill>
                    <a:schemeClr val="tx1"/>
                  </a:solidFill>
                </a:rPr>
                <a:t>교환 및 분해조립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8708E00-E2C0-BA61-BF6D-322FB29EBBFB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8639DAB1-FE87-D67D-2089-C5A33CC34106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E1F02A2-4051-52D7-3400-EEA867CBCE58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7ED87D9-E55A-AC27-2B97-329C4DB89164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래픽 8" descr="배지 1 윤곽선">
            <a:extLst>
              <a:ext uri="{FF2B5EF4-FFF2-40B4-BE49-F238E27FC236}">
                <a16:creationId xmlns:a16="http://schemas.microsoft.com/office/drawing/2014/main" id="{F6B0F68D-B45E-343F-7AA7-F77E4522CC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52089" y="1774540"/>
            <a:ext cx="429853" cy="42985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338A740-C7AC-8AA1-5AA5-C745FDA78B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0329" y="2278284"/>
            <a:ext cx="3753374" cy="355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0564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BD4FE-914E-7B18-DB3F-062344214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406A8456-4C82-C754-D89D-C8F139C6B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562" y="1489544"/>
            <a:ext cx="7030431" cy="506800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57B65DA-97F9-6FF4-D2CB-8B2CB1492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2) </a:t>
            </a:r>
            <a:r>
              <a:rPr lang="ko-KR" altLang="en-US" sz="2400" dirty="0">
                <a:latin typeface="+mn-ea"/>
                <a:ea typeface="+mn-ea"/>
              </a:rPr>
              <a:t>나누텍 </a:t>
            </a:r>
            <a:r>
              <a:rPr lang="en-US" altLang="ko-KR" sz="2400" dirty="0">
                <a:latin typeface="+mn-ea"/>
                <a:ea typeface="+mn-ea"/>
              </a:rPr>
              <a:t>[</a:t>
            </a:r>
            <a:r>
              <a:rPr lang="ko-KR" altLang="en-US" sz="2400" dirty="0">
                <a:latin typeface="+mn-ea"/>
                <a:ea typeface="+mn-ea"/>
              </a:rPr>
              <a:t>접수</a:t>
            </a:r>
            <a:r>
              <a:rPr lang="en-US" altLang="ko-KR" sz="2400" dirty="0">
                <a:latin typeface="+mn-ea"/>
                <a:ea typeface="+mn-ea"/>
              </a:rPr>
              <a:t>, </a:t>
            </a:r>
            <a:r>
              <a:rPr lang="ko-KR" altLang="en-US" sz="2400" dirty="0">
                <a:latin typeface="+mn-ea"/>
                <a:ea typeface="+mn-ea"/>
              </a:rPr>
              <a:t>완료 열 생성</a:t>
            </a:r>
            <a:r>
              <a:rPr lang="en-US" altLang="ko-KR" sz="2400" dirty="0">
                <a:latin typeface="+mn-ea"/>
                <a:ea typeface="+mn-ea"/>
              </a:rPr>
              <a:t>]</a:t>
            </a: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B72BEF6-D8CF-2460-8A64-282DE4429079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A9F6757-C1FC-9440-13CA-1EF60E27CA7F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153C543-75F7-3375-82A7-28E8279EB3E6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사용 파일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</a:t>
              </a: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[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접수일</a:t>
              </a:r>
              <a:r>
                <a:rPr lang="en-US" altLang="ko-KR" sz="1000" dirty="0">
                  <a:solidFill>
                    <a:schemeClr val="tx1"/>
                  </a:solidFill>
                </a:rPr>
                <a:t>], [</a:t>
              </a:r>
              <a:r>
                <a:rPr lang="ko-KR" altLang="en-US" sz="1000" dirty="0">
                  <a:solidFill>
                    <a:schemeClr val="tx1"/>
                  </a:solidFill>
                </a:rPr>
                <a:t>완료일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열을 기준으로 </a:t>
              </a:r>
              <a:r>
                <a:rPr lang="en-US" altLang="ko-KR" sz="1000" dirty="0">
                  <a:solidFill>
                    <a:schemeClr val="tx1"/>
                  </a:solidFill>
                </a:rPr>
                <a:t>[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],[</a:t>
              </a:r>
              <a:r>
                <a:rPr lang="ko-KR" altLang="en-US" sz="1000" dirty="0">
                  <a:solidFill>
                    <a:schemeClr val="tx1"/>
                  </a:solidFill>
                </a:rPr>
                <a:t>완료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 생성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685800" lvl="1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yyyy-MM-dd =&gt; MMdd </a:t>
              </a:r>
              <a:r>
                <a:rPr lang="ko-KR" altLang="en-US" sz="1000" dirty="0">
                  <a:solidFill>
                    <a:schemeClr val="tx1"/>
                  </a:solidFill>
                </a:rPr>
                <a:t>형식으로 변환하여 입력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lvl="1"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436E1F1A-C0BA-8ADC-4EF9-551E77ADC2E2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2570962B-91AB-22D6-ECEB-E292641E1040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DF097F3-B6C0-55AB-8461-05BB01971DCA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DE595DB-F8B9-470C-007E-DF2EA78A3FD1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래픽 8" descr="배지 1 윤곽선">
            <a:extLst>
              <a:ext uri="{FF2B5EF4-FFF2-40B4-BE49-F238E27FC236}">
                <a16:creationId xmlns:a16="http://schemas.microsoft.com/office/drawing/2014/main" id="{4F44C78B-7FD8-A999-6FF6-504A85D1DD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52850" y="1022745"/>
            <a:ext cx="429853" cy="42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901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4BED9-9FB5-329E-7D86-67B644626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1CBAF4-3895-2E10-3A20-710A29801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2) </a:t>
            </a:r>
            <a:r>
              <a:rPr lang="ko-KR" altLang="en-US" sz="2400" dirty="0">
                <a:latin typeface="+mn-ea"/>
                <a:ea typeface="+mn-ea"/>
              </a:rPr>
              <a:t>나누텍 </a:t>
            </a:r>
            <a:r>
              <a:rPr lang="en-US" altLang="ko-KR" sz="2400" dirty="0">
                <a:latin typeface="+mn-ea"/>
                <a:ea typeface="+mn-ea"/>
              </a:rPr>
              <a:t>[</a:t>
            </a:r>
            <a:r>
              <a:rPr lang="ko-KR" altLang="en-US" sz="2400" dirty="0">
                <a:latin typeface="+mn-ea"/>
                <a:ea typeface="+mn-ea"/>
              </a:rPr>
              <a:t>미회수품 시트 생성</a:t>
            </a:r>
            <a:r>
              <a:rPr lang="en-US" altLang="ko-KR" sz="2400" dirty="0">
                <a:latin typeface="+mn-ea"/>
                <a:ea typeface="+mn-ea"/>
              </a:rPr>
              <a:t>]</a:t>
            </a: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86DDABF-7807-F2DD-C1CA-DF4963EB322B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AB2D5F5-DB34-2E38-F5FF-F38F6B752B48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44045BD6-9F37-AC3B-9BDF-DD5532E8E243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사용 파일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</a:t>
              </a: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나누텍 시트의 </a:t>
              </a:r>
              <a:r>
                <a:rPr lang="en-US" altLang="ko-KR" sz="1000" dirty="0">
                  <a:solidFill>
                    <a:schemeClr val="tx1"/>
                  </a:solidFill>
                </a:rPr>
                <a:t>[</a:t>
              </a:r>
              <a:r>
                <a:rPr lang="ko-KR" altLang="en-US" sz="1000" dirty="0">
                  <a:solidFill>
                    <a:schemeClr val="tx1"/>
                  </a:solidFill>
                </a:rPr>
                <a:t>비고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열에 </a:t>
              </a:r>
              <a:r>
                <a:rPr lang="en-US" altLang="ko-KR" sz="1000" dirty="0">
                  <a:solidFill>
                    <a:schemeClr val="tx1"/>
                  </a:solidFill>
                </a:rPr>
                <a:t>“</a:t>
              </a:r>
              <a:r>
                <a:rPr lang="ko-KR" altLang="en-US" sz="1000" dirty="0">
                  <a:solidFill>
                    <a:schemeClr val="tx1"/>
                  </a:solidFill>
                </a:rPr>
                <a:t>미회수품</a:t>
              </a:r>
              <a:r>
                <a:rPr lang="en-US" altLang="ko-KR" sz="1000" dirty="0">
                  <a:solidFill>
                    <a:schemeClr val="tx1"/>
                  </a:solidFill>
                </a:rPr>
                <a:t>”</a:t>
              </a:r>
              <a:r>
                <a:rPr lang="ko-KR" altLang="en-US" sz="1000" dirty="0">
                  <a:solidFill>
                    <a:schemeClr val="tx1"/>
                  </a:solidFill>
                </a:rPr>
                <a:t>이 포함된 데이터 읽기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“</a:t>
              </a:r>
              <a:r>
                <a:rPr lang="ko-KR" altLang="en-US" sz="1000" dirty="0">
                  <a:solidFill>
                    <a:schemeClr val="tx1"/>
                  </a:solidFill>
                </a:rPr>
                <a:t>미회수품</a:t>
              </a:r>
              <a:r>
                <a:rPr lang="en-US" altLang="ko-KR" sz="1000" dirty="0">
                  <a:solidFill>
                    <a:schemeClr val="tx1"/>
                  </a:solidFill>
                </a:rPr>
                <a:t>” </a:t>
              </a:r>
              <a:r>
                <a:rPr lang="ko-KR" altLang="en-US" sz="1000" dirty="0">
                  <a:solidFill>
                    <a:schemeClr val="tx1"/>
                  </a:solidFill>
                </a:rPr>
                <a:t>시트를 생성하여 작성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6FEBBFC-75B7-3E46-530A-F15D7B9CF175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8C8A4D0E-7744-1017-FA0F-E72147002AD5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FFC80A8B-38AC-6247-5B77-9AB1404B9403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FontTx/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나누텍 시트에서 삭제하지 않고 미회수품 시트에 작성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FontTx/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ABAEB6F-E2D0-CF10-1934-14F0EC04FE64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EE979364-F82B-0F8A-E48B-658447B9F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198" y="1004199"/>
            <a:ext cx="2938911" cy="31635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A4D7F25-79BA-70DB-1637-724B82C13D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189" y="3494921"/>
            <a:ext cx="6803147" cy="3077791"/>
          </a:xfrm>
          <a:prstGeom prst="rect">
            <a:avLst/>
          </a:prstGeom>
        </p:spPr>
      </p:pic>
      <p:pic>
        <p:nvPicPr>
          <p:cNvPr id="9" name="그래픽 8" descr="배지 1 윤곽선">
            <a:extLst>
              <a:ext uri="{FF2B5EF4-FFF2-40B4-BE49-F238E27FC236}">
                <a16:creationId xmlns:a16="http://schemas.microsoft.com/office/drawing/2014/main" id="{85D66FAB-60D9-512C-4E95-26F13AF06D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67783" y="1527177"/>
            <a:ext cx="409740" cy="409740"/>
          </a:xfrm>
          <a:prstGeom prst="rect">
            <a:avLst/>
          </a:prstGeom>
        </p:spPr>
      </p:pic>
      <p:pic>
        <p:nvPicPr>
          <p:cNvPr id="16" name="그래픽 15" descr="배지 윤곽선">
            <a:extLst>
              <a:ext uri="{FF2B5EF4-FFF2-40B4-BE49-F238E27FC236}">
                <a16:creationId xmlns:a16="http://schemas.microsoft.com/office/drawing/2014/main" id="{AD50DE71-40FA-F76D-8A57-6D1F1C4637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3967018" y="4664363"/>
            <a:ext cx="409740" cy="409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4840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CD554-EE40-F57D-3CCC-595F70092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E2C21E8E-52B3-5209-6409-B9E8F6CA8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54" y="2316133"/>
            <a:ext cx="7620128" cy="293781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3FEED6A-09D7-3B0B-4163-3C943D580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2) </a:t>
            </a:r>
            <a:r>
              <a:rPr lang="ko-KR" altLang="en-US" sz="2400" dirty="0">
                <a:latin typeface="+mn-ea"/>
                <a:ea typeface="+mn-ea"/>
              </a:rPr>
              <a:t>나누텍 </a:t>
            </a:r>
            <a:r>
              <a:rPr lang="en-US" altLang="ko-KR" sz="2400" dirty="0">
                <a:latin typeface="+mn-ea"/>
                <a:ea typeface="+mn-ea"/>
              </a:rPr>
              <a:t>[</a:t>
            </a:r>
            <a:r>
              <a:rPr lang="ko-KR" altLang="en-US" sz="2400" dirty="0">
                <a:latin typeface="+mn-ea"/>
                <a:ea typeface="+mn-ea"/>
              </a:rPr>
              <a:t>피벗테이블 생성</a:t>
            </a:r>
            <a:r>
              <a:rPr lang="en-US" altLang="ko-KR" sz="2400" dirty="0">
                <a:latin typeface="+mn-ea"/>
                <a:ea typeface="+mn-ea"/>
              </a:rPr>
              <a:t>(</a:t>
            </a:r>
            <a:r>
              <a:rPr lang="ko-KR" altLang="en-US" sz="2400" dirty="0">
                <a:latin typeface="+mn-ea"/>
                <a:ea typeface="+mn-ea"/>
              </a:rPr>
              <a:t>나누텍피벗</a:t>
            </a:r>
            <a:r>
              <a:rPr lang="en-US" altLang="ko-KR" sz="2400" dirty="0">
                <a:latin typeface="+mn-ea"/>
                <a:ea typeface="+mn-ea"/>
              </a:rPr>
              <a:t>1)]</a:t>
            </a: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3447A79-CA88-C66D-C260-BD12F46DE179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FC11FE1-5FD9-95F2-0F6C-3872A971A961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837FF08-63BB-3055-4514-0ABC460CD0AE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사용 파일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</a:t>
              </a: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“</a:t>
              </a:r>
              <a:r>
                <a:rPr lang="ko-KR" altLang="en-US" sz="1000" dirty="0">
                  <a:solidFill>
                    <a:schemeClr val="tx1"/>
                  </a:solidFill>
                </a:rPr>
                <a:t>나누텍피벗</a:t>
              </a:r>
              <a:r>
                <a:rPr lang="en-US" altLang="ko-KR" sz="1000" dirty="0">
                  <a:solidFill>
                    <a:schemeClr val="tx1"/>
                  </a:solidFill>
                </a:rPr>
                <a:t>1” </a:t>
              </a:r>
              <a:r>
                <a:rPr lang="ko-KR" altLang="en-US" sz="1000" dirty="0">
                  <a:solidFill>
                    <a:schemeClr val="tx1"/>
                  </a:solidFill>
                </a:rPr>
                <a:t>시트 생성 후 피벗 테이블 생성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행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"</a:t>
              </a:r>
              <a:r>
                <a:rPr lang="ko-KR" altLang="en-US" sz="1000" dirty="0">
                  <a:solidFill>
                    <a:schemeClr val="tx1"/>
                  </a:solidFill>
                </a:rPr>
                <a:t>처리구분</a:t>
              </a:r>
              <a:r>
                <a:rPr lang="en-US" altLang="ko-KR" sz="1000" dirty="0">
                  <a:solidFill>
                    <a:schemeClr val="tx1"/>
                  </a:solidFill>
                </a:rPr>
                <a:t>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완료</a:t>
              </a:r>
              <a:r>
                <a:rPr lang="en-US" altLang="ko-KR" sz="1000" dirty="0">
                  <a:solidFill>
                    <a:schemeClr val="tx1"/>
                  </a:solidFill>
                </a:rPr>
                <a:t>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주소</a:t>
              </a:r>
              <a:r>
                <a:rPr lang="en-US" altLang="ko-KR" sz="1000" dirty="0">
                  <a:solidFill>
                    <a:schemeClr val="tx1"/>
                  </a:solidFill>
                </a:rPr>
                <a:t>2",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주소</a:t>
              </a:r>
              <a:r>
                <a:rPr lang="en-US" altLang="ko-KR" sz="1000" dirty="0">
                  <a:solidFill>
                    <a:schemeClr val="tx1"/>
                  </a:solidFill>
                </a:rPr>
                <a:t>3",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주소</a:t>
              </a:r>
              <a:r>
                <a:rPr lang="en-US" altLang="ko-KR" sz="1000" dirty="0">
                  <a:solidFill>
                    <a:schemeClr val="tx1"/>
                  </a:solidFill>
                </a:rPr>
                <a:t>4",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전화번호</a:t>
              </a:r>
              <a:r>
                <a:rPr lang="en-US" altLang="ko-KR" sz="1000" dirty="0">
                  <a:solidFill>
                    <a:schemeClr val="tx1"/>
                  </a:solidFill>
                </a:rPr>
                <a:t>3",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제품코드</a:t>
              </a:r>
              <a:r>
                <a:rPr lang="en-US" altLang="ko-KR" sz="1000" dirty="0">
                  <a:solidFill>
                    <a:schemeClr val="tx1"/>
                  </a:solidFill>
                </a:rPr>
                <a:t>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부품코드</a:t>
              </a:r>
              <a:r>
                <a:rPr lang="en-US" altLang="ko-KR" sz="1000" dirty="0">
                  <a:solidFill>
                    <a:schemeClr val="tx1"/>
                  </a:solidFill>
                </a:rPr>
                <a:t>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부품코드명</a:t>
              </a:r>
              <a:r>
                <a:rPr lang="en-US" altLang="ko-KR" sz="1000" dirty="0">
                  <a:solidFill>
                    <a:schemeClr val="tx1"/>
                  </a:solidFill>
                </a:rPr>
                <a:t>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고장내역</a:t>
              </a:r>
              <a:r>
                <a:rPr lang="en-US" altLang="ko-KR" sz="1000" dirty="0">
                  <a:solidFill>
                    <a:schemeClr val="tx1"/>
                  </a:solidFill>
                </a:rPr>
                <a:t>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증상</a:t>
              </a:r>
              <a:r>
                <a:rPr lang="en-US" altLang="ko-KR" sz="1000" dirty="0">
                  <a:solidFill>
                    <a:schemeClr val="tx1"/>
                  </a:solidFill>
                </a:rPr>
                <a:t>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원인</a:t>
              </a:r>
              <a:r>
                <a:rPr lang="en-US" altLang="ko-KR" sz="1000" dirty="0">
                  <a:solidFill>
                    <a:schemeClr val="tx1"/>
                  </a:solidFill>
                </a:rPr>
                <a:t>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조치</a:t>
              </a:r>
              <a:r>
                <a:rPr lang="en-US" altLang="ko-KR" sz="1000" dirty="0">
                  <a:solidFill>
                    <a:schemeClr val="tx1"/>
                  </a:solidFill>
                </a:rPr>
                <a:t>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전문점명</a:t>
              </a:r>
              <a:r>
                <a:rPr lang="en-US" altLang="ko-KR" sz="1000" dirty="0">
                  <a:solidFill>
                    <a:schemeClr val="tx1"/>
                  </a:solidFill>
                </a:rPr>
                <a:t>", "Serial",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제조년월</a:t>
              </a:r>
              <a:r>
                <a:rPr lang="en-US" altLang="ko-KR" sz="1000" dirty="0">
                  <a:solidFill>
                    <a:schemeClr val="tx1"/>
                  </a:solidFill>
                </a:rPr>
                <a:t>“</a:t>
              </a: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값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"</a:t>
              </a:r>
              <a:r>
                <a:rPr lang="ko-KR" altLang="en-US" sz="1000" dirty="0">
                  <a:solidFill>
                    <a:schemeClr val="tx1"/>
                  </a:solidFill>
                </a:rPr>
                <a:t>합계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</a:t>
              </a:r>
              <a:r>
                <a:rPr lang="ko-KR" altLang="en-US" sz="1000" dirty="0">
                  <a:solidFill>
                    <a:schemeClr val="tx1"/>
                  </a:solidFill>
                </a:rPr>
                <a:t>수량</a:t>
              </a:r>
              <a:r>
                <a:rPr lang="en-US" altLang="ko-KR" sz="1000" dirty="0">
                  <a:solidFill>
                    <a:schemeClr val="tx1"/>
                  </a:solidFill>
                </a:rPr>
                <a:t>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 합계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</a:t>
              </a:r>
              <a:r>
                <a:rPr lang="ko-KR" altLang="en-US" sz="1000" dirty="0">
                  <a:solidFill>
                    <a:schemeClr val="tx1"/>
                  </a:solidFill>
                </a:rPr>
                <a:t>사입금액</a:t>
              </a:r>
              <a:r>
                <a:rPr lang="en-US" altLang="ko-KR" sz="1000" dirty="0">
                  <a:solidFill>
                    <a:schemeClr val="tx1"/>
                  </a:solidFill>
                </a:rPr>
                <a:t>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 합계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AS</a:t>
              </a:r>
              <a:r>
                <a:rPr lang="ko-KR" altLang="en-US" sz="1000" dirty="0">
                  <a:solidFill>
                    <a:schemeClr val="tx1"/>
                  </a:solidFill>
                </a:rPr>
                <a:t>대행료</a:t>
              </a:r>
              <a:r>
                <a:rPr lang="en-US" altLang="ko-KR" sz="1000" dirty="0">
                  <a:solidFill>
                    <a:schemeClr val="tx1"/>
                  </a:solidFill>
                </a:rPr>
                <a:t>"</a:t>
              </a: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F3A523C-7BA7-8991-D4B7-09065A44D4EF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C5674A6-6C9A-05BA-80A1-731D102C35BE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EFFE0B56-A530-30DB-EEEC-58E89FBE401B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FontTx/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38BB40EE-E309-C329-5B70-FCE7EF50DD39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래픽 8" descr="배지 1 윤곽선">
            <a:extLst>
              <a:ext uri="{FF2B5EF4-FFF2-40B4-BE49-F238E27FC236}">
                <a16:creationId xmlns:a16="http://schemas.microsoft.com/office/drawing/2014/main" id="{57717B52-B2A6-FA51-2DE1-996B72F49C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62148" y="1906393"/>
            <a:ext cx="409740" cy="409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8057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A9C33-03CD-C417-39E8-0123B6BF9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288DBC-695C-E198-19CF-AF6AF5390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2) </a:t>
            </a:r>
            <a:r>
              <a:rPr lang="ko-KR" altLang="en-US" sz="2400" dirty="0">
                <a:latin typeface="+mn-ea"/>
                <a:ea typeface="+mn-ea"/>
              </a:rPr>
              <a:t>나누텍 </a:t>
            </a:r>
            <a:r>
              <a:rPr lang="en-US" altLang="ko-KR" sz="2400" dirty="0">
                <a:latin typeface="+mn-ea"/>
                <a:ea typeface="+mn-ea"/>
              </a:rPr>
              <a:t>[</a:t>
            </a:r>
            <a:r>
              <a:rPr lang="ko-KR" altLang="en-US" sz="2400" dirty="0">
                <a:latin typeface="+mn-ea"/>
                <a:ea typeface="+mn-ea"/>
              </a:rPr>
              <a:t>피벗테이블 생성</a:t>
            </a:r>
            <a:r>
              <a:rPr lang="en-US" altLang="ko-KR" sz="2400" dirty="0">
                <a:latin typeface="+mn-ea"/>
                <a:ea typeface="+mn-ea"/>
              </a:rPr>
              <a:t>(</a:t>
            </a:r>
            <a:r>
              <a:rPr lang="ko-KR" altLang="en-US" sz="2400" dirty="0">
                <a:latin typeface="+mn-ea"/>
                <a:ea typeface="+mn-ea"/>
              </a:rPr>
              <a:t>나누텍피벗</a:t>
            </a:r>
            <a:r>
              <a:rPr lang="en-US" altLang="ko-KR" sz="2400" dirty="0">
                <a:latin typeface="+mn-ea"/>
                <a:ea typeface="+mn-ea"/>
              </a:rPr>
              <a:t>2)]</a:t>
            </a: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FE760D3-1161-1A08-CA8C-96BEFAA83A09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914B123-803B-C48E-8051-DDFECDF5391C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4962D26-40B1-78D3-B7AE-724E0AC395AA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사용 파일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</a:t>
              </a: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“</a:t>
              </a:r>
              <a:r>
                <a:rPr lang="ko-KR" altLang="en-US" sz="1000" dirty="0">
                  <a:solidFill>
                    <a:schemeClr val="tx1"/>
                  </a:solidFill>
                </a:rPr>
                <a:t>나누텍피벗</a:t>
              </a:r>
              <a:r>
                <a:rPr lang="en-US" altLang="ko-KR" sz="1000" dirty="0">
                  <a:solidFill>
                    <a:schemeClr val="tx1"/>
                  </a:solidFill>
                </a:rPr>
                <a:t>2” </a:t>
              </a:r>
              <a:r>
                <a:rPr lang="ko-KR" altLang="en-US" sz="1000" dirty="0">
                  <a:solidFill>
                    <a:schemeClr val="tx1"/>
                  </a:solidFill>
                </a:rPr>
                <a:t>시트 생성 후 피벗 테이블 생성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행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"</a:t>
              </a:r>
              <a:r>
                <a:rPr lang="ko-KR" altLang="en-US" sz="1000" dirty="0">
                  <a:solidFill>
                    <a:schemeClr val="tx1"/>
                  </a:solidFill>
                </a:rPr>
                <a:t>부품코드</a:t>
              </a:r>
              <a:r>
                <a:rPr lang="en-US" altLang="ko-KR" sz="1000" dirty="0">
                  <a:solidFill>
                    <a:schemeClr val="tx1"/>
                  </a:solidFill>
                </a:rPr>
                <a:t>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부품코드명</a:t>
              </a:r>
              <a:r>
                <a:rPr lang="en-US" altLang="ko-KR" sz="1000" dirty="0">
                  <a:solidFill>
                    <a:schemeClr val="tx1"/>
                  </a:solidFill>
                </a:rPr>
                <a:t>"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값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"</a:t>
              </a:r>
              <a:r>
                <a:rPr lang="ko-KR" altLang="en-US" sz="1000" dirty="0">
                  <a:solidFill>
                    <a:schemeClr val="tx1"/>
                  </a:solidFill>
                </a:rPr>
                <a:t>합계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</a:t>
              </a:r>
              <a:r>
                <a:rPr lang="ko-KR" altLang="en-US" sz="1000" dirty="0">
                  <a:solidFill>
                    <a:schemeClr val="tx1"/>
                  </a:solidFill>
                </a:rPr>
                <a:t>수량</a:t>
              </a:r>
              <a:r>
                <a:rPr lang="en-US" altLang="ko-KR" sz="1000" dirty="0">
                  <a:solidFill>
                    <a:schemeClr val="tx1"/>
                  </a:solidFill>
                </a:rPr>
                <a:t>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 합계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</a:t>
              </a:r>
              <a:r>
                <a:rPr lang="ko-KR" altLang="en-US" sz="1000" dirty="0">
                  <a:solidFill>
                    <a:schemeClr val="tx1"/>
                  </a:solidFill>
                </a:rPr>
                <a:t>단가</a:t>
              </a:r>
              <a:r>
                <a:rPr lang="en-US" altLang="ko-KR" sz="1000" dirty="0">
                  <a:solidFill>
                    <a:schemeClr val="tx1"/>
                  </a:solidFill>
                </a:rPr>
                <a:t>＂, “</a:t>
              </a:r>
              <a:r>
                <a:rPr lang="ko-KR" altLang="en-US" sz="1000" dirty="0">
                  <a:solidFill>
                    <a:schemeClr val="tx1"/>
                  </a:solidFill>
                </a:rPr>
                <a:t>합계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</a:t>
              </a:r>
              <a:r>
                <a:rPr lang="ko-KR" altLang="en-US" sz="1000" dirty="0">
                  <a:solidFill>
                    <a:schemeClr val="tx1"/>
                  </a:solidFill>
                </a:rPr>
                <a:t>사입금액</a:t>
              </a:r>
              <a:r>
                <a:rPr lang="en-US" altLang="ko-KR" sz="1000" dirty="0">
                  <a:solidFill>
                    <a:schemeClr val="tx1"/>
                  </a:solidFill>
                </a:rPr>
                <a:t>"</a:t>
              </a: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D53F129-A73A-1695-54B2-A241F7ADA6E2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A4936BC-FBDF-E5E7-DE30-4FE019277040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B4FA08F-1EA4-3BAB-552B-2F9EE50BB086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FontTx/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CCE87C4-6F2C-F706-F223-1C4B2A4003D7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래픽 8" descr="배지 1 윤곽선">
            <a:extLst>
              <a:ext uri="{FF2B5EF4-FFF2-40B4-BE49-F238E27FC236}">
                <a16:creationId xmlns:a16="http://schemas.microsoft.com/office/drawing/2014/main" id="{098A4753-EF77-6941-1FB5-897688592F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34691" y="1780784"/>
            <a:ext cx="409740" cy="40974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4666FB81-CB58-04E0-A476-188AC91B1A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041" y="2227469"/>
            <a:ext cx="6401693" cy="323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0958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80B35-B2AA-C031-7AD4-506101C7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1A721A-54C5-F3EA-DF5F-D988AC294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3) </a:t>
            </a:r>
            <a:r>
              <a:rPr lang="ko-KR" altLang="en-US" sz="2400" dirty="0">
                <a:latin typeface="+mn-ea"/>
                <a:ea typeface="+mn-ea"/>
              </a:rPr>
              <a:t>제이원프라임 </a:t>
            </a:r>
            <a:r>
              <a:rPr lang="en-US" altLang="ko-KR" sz="2400" dirty="0">
                <a:latin typeface="+mn-ea"/>
                <a:ea typeface="+mn-ea"/>
              </a:rPr>
              <a:t>[</a:t>
            </a:r>
            <a:r>
              <a:rPr lang="ko-KR" altLang="en-US" sz="2400" dirty="0">
                <a:latin typeface="+mn-ea"/>
                <a:ea typeface="+mn-ea"/>
              </a:rPr>
              <a:t>데이터 필터링</a:t>
            </a:r>
            <a:r>
              <a:rPr lang="en-US" altLang="ko-KR" sz="2400" dirty="0">
                <a:latin typeface="+mn-ea"/>
                <a:ea typeface="+mn-ea"/>
              </a:rPr>
              <a:t>]</a:t>
            </a: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A1A7BF1-9B08-DE9A-7EC8-2BAA41F50D1E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824FEC44-3893-92E6-D211-0276731D65A1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F2E2D94-FFE6-D44E-D245-2415436D511E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사용 파일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</a:t>
              </a: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업체 필터링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[</a:t>
              </a:r>
              <a:r>
                <a:rPr lang="ko-KR" altLang="en-US" sz="1000" dirty="0">
                  <a:solidFill>
                    <a:schemeClr val="tx1"/>
                  </a:solidFill>
                </a:rPr>
                <a:t>제품사입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열에서 </a:t>
              </a:r>
              <a:r>
                <a:rPr lang="en-US" altLang="ko-KR" sz="1000" dirty="0">
                  <a:solidFill>
                    <a:schemeClr val="tx1"/>
                  </a:solidFill>
                </a:rPr>
                <a:t>“</a:t>
              </a:r>
              <a:r>
                <a:rPr lang="ko-KR" altLang="en-US" sz="1000" dirty="0">
                  <a:solidFill>
                    <a:schemeClr val="tx1"/>
                  </a:solidFill>
                </a:rPr>
                <a:t>나누텍</a:t>
              </a:r>
              <a:r>
                <a:rPr lang="en-US" altLang="ko-KR" sz="1000" dirty="0">
                  <a:solidFill>
                    <a:schemeClr val="tx1"/>
                  </a:solidFill>
                </a:rPr>
                <a:t>”</a:t>
              </a:r>
              <a:r>
                <a:rPr lang="ko-KR" altLang="en-US" sz="1000" dirty="0">
                  <a:solidFill>
                    <a:schemeClr val="tx1"/>
                  </a:solidFill>
                </a:rPr>
                <a:t>이 포함된 데이터 필터링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유무상 필터링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[</a:t>
              </a:r>
              <a:r>
                <a:rPr lang="ko-KR" altLang="en-US" sz="1000" dirty="0">
                  <a:solidFill>
                    <a:schemeClr val="tx1"/>
                  </a:solidFill>
                </a:rPr>
                <a:t>유무상</a:t>
              </a:r>
              <a:r>
                <a:rPr lang="en-US" altLang="ko-KR" sz="1000" dirty="0">
                  <a:solidFill>
                    <a:schemeClr val="tx1"/>
                  </a:solidFill>
                </a:rPr>
                <a:t>(</a:t>
              </a:r>
              <a:r>
                <a:rPr lang="ko-KR" altLang="en-US" sz="1000" dirty="0">
                  <a:solidFill>
                    <a:schemeClr val="tx1"/>
                  </a:solidFill>
                </a:rPr>
                <a:t>부품</a:t>
              </a:r>
              <a:r>
                <a:rPr lang="en-US" altLang="ko-KR" sz="1000" dirty="0">
                  <a:solidFill>
                    <a:schemeClr val="tx1"/>
                  </a:solidFill>
                </a:rPr>
                <a:t>)]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열에서 </a:t>
              </a:r>
              <a:r>
                <a:rPr lang="en-US" altLang="ko-KR" sz="1000" dirty="0">
                  <a:solidFill>
                    <a:schemeClr val="tx1"/>
                  </a:solidFill>
                </a:rPr>
                <a:t>“N”</a:t>
              </a:r>
              <a:r>
                <a:rPr lang="ko-KR" altLang="en-US" sz="1000" dirty="0">
                  <a:solidFill>
                    <a:schemeClr val="tx1"/>
                  </a:solidFill>
                </a:rPr>
                <a:t>인 데이터 필터링</a:t>
              </a:r>
              <a:r>
                <a:rPr lang="en-US" altLang="ko-KR" sz="1000" dirty="0">
                  <a:solidFill>
                    <a:schemeClr val="tx1"/>
                  </a:solidFill>
                </a:rPr>
                <a:t>(</a:t>
              </a:r>
              <a:r>
                <a:rPr lang="ko-KR" altLang="en-US" sz="1000" dirty="0">
                  <a:solidFill>
                    <a:schemeClr val="tx1"/>
                  </a:solidFill>
                </a:rPr>
                <a:t>비어있는 경우 </a:t>
              </a:r>
              <a:r>
                <a:rPr lang="en-US" altLang="ko-KR" sz="1000" dirty="0">
                  <a:solidFill>
                    <a:schemeClr val="tx1"/>
                  </a:solidFill>
                </a:rPr>
                <a:t>“N”</a:t>
              </a:r>
              <a:r>
                <a:rPr lang="ko-KR" altLang="en-US" sz="1000" dirty="0">
                  <a:solidFill>
                    <a:schemeClr val="tx1"/>
                  </a:solidFill>
                </a:rPr>
                <a:t>으로 업데이트</a:t>
              </a:r>
              <a:r>
                <a:rPr lang="en-US" altLang="ko-KR" sz="1000" dirty="0">
                  <a:solidFill>
                    <a:schemeClr val="tx1"/>
                  </a:solidFill>
                </a:rPr>
                <a:t>)</a:t>
              </a: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조치 필터링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[</a:t>
              </a:r>
              <a:r>
                <a:rPr lang="ko-KR" altLang="en-US" sz="1000" dirty="0">
                  <a:solidFill>
                    <a:schemeClr val="tx1"/>
                  </a:solidFill>
                </a:rPr>
                <a:t>조치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열에서 </a:t>
              </a:r>
              <a:r>
                <a:rPr lang="en-US" altLang="ko-KR" sz="1000" dirty="0">
                  <a:solidFill>
                    <a:schemeClr val="tx1"/>
                  </a:solidFill>
                </a:rPr>
                <a:t>“</a:t>
              </a:r>
              <a:r>
                <a:rPr lang="ko-KR" altLang="en-US" sz="1000" dirty="0">
                  <a:solidFill>
                    <a:schemeClr val="tx1"/>
                  </a:solidFill>
                </a:rPr>
                <a:t>유상거부</a:t>
              </a:r>
              <a:r>
                <a:rPr lang="en-US" altLang="ko-KR" sz="1000" dirty="0">
                  <a:solidFill>
                    <a:schemeClr val="tx1"/>
                  </a:solidFill>
                </a:rPr>
                <a:t>”, ”</a:t>
              </a:r>
              <a:r>
                <a:rPr lang="ko-KR" altLang="en-US" sz="1000" dirty="0">
                  <a:solidFill>
                    <a:schemeClr val="tx1"/>
                  </a:solidFill>
                </a:rPr>
                <a:t>타사품</a:t>
              </a:r>
              <a:r>
                <a:rPr lang="en-US" altLang="ko-KR" sz="1000" dirty="0">
                  <a:solidFill>
                    <a:schemeClr val="tx1"/>
                  </a:solidFill>
                </a:rPr>
                <a:t>”, “</a:t>
              </a:r>
              <a:r>
                <a:rPr lang="ko-KR" altLang="en-US" sz="1000" dirty="0">
                  <a:solidFill>
                    <a:schemeClr val="tx1"/>
                  </a:solidFill>
                </a:rPr>
                <a:t>전화처리</a:t>
              </a:r>
              <a:r>
                <a:rPr lang="en-US" altLang="ko-KR" sz="1000" dirty="0">
                  <a:solidFill>
                    <a:schemeClr val="tx1"/>
                  </a:solidFill>
                </a:rPr>
                <a:t>”, “</a:t>
              </a:r>
              <a:r>
                <a:rPr lang="ko-KR" altLang="en-US" sz="1000" dirty="0">
                  <a:solidFill>
                    <a:schemeClr val="tx1"/>
                  </a:solidFill>
                </a:rPr>
                <a:t>처리이관</a:t>
              </a:r>
              <a:r>
                <a:rPr lang="en-US" altLang="ko-KR" sz="1000" dirty="0">
                  <a:solidFill>
                    <a:schemeClr val="tx1"/>
                  </a:solidFill>
                </a:rPr>
                <a:t>”, “</a:t>
              </a:r>
              <a:r>
                <a:rPr lang="ko-KR" altLang="en-US" sz="1000" dirty="0">
                  <a:solidFill>
                    <a:schemeClr val="tx1"/>
                  </a:solidFill>
                </a:rPr>
                <a:t>사용설명</a:t>
              </a:r>
              <a:r>
                <a:rPr lang="en-US" altLang="ko-KR" sz="1000" dirty="0">
                  <a:solidFill>
                    <a:schemeClr val="tx1"/>
                  </a:solidFill>
                </a:rPr>
                <a:t>”</a:t>
              </a:r>
              <a:r>
                <a:rPr lang="ko-KR" altLang="en-US" sz="1000" dirty="0">
                  <a:solidFill>
                    <a:schemeClr val="tx1"/>
                  </a:solidFill>
                </a:rPr>
                <a:t>이 아닌 데이터 필터링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“</a:t>
              </a:r>
              <a:r>
                <a:rPr lang="ko-KR" altLang="en-US" sz="1000" dirty="0">
                  <a:solidFill>
                    <a:schemeClr val="tx1"/>
                  </a:solidFill>
                </a:rPr>
                <a:t>제이원프라임</a:t>
              </a:r>
              <a:r>
                <a:rPr lang="en-US" altLang="ko-KR" sz="1000" dirty="0">
                  <a:solidFill>
                    <a:schemeClr val="tx1"/>
                  </a:solidFill>
                </a:rPr>
                <a:t>” </a:t>
              </a:r>
              <a:r>
                <a:rPr lang="ko-KR" altLang="en-US" sz="1000" dirty="0">
                  <a:solidFill>
                    <a:schemeClr val="tx1"/>
                  </a:solidFill>
                </a:rPr>
                <a:t>시트 생성 후 필터링된 데이터 작성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6AAD948-627C-F9AB-03EF-0C6511D0788A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9E7ABDBB-1762-7572-5361-9FE6329F0083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4509C98-627A-58A7-55A0-B7D7C4B69555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사전 작업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 </a:t>
              </a:r>
              <a:r>
                <a:rPr lang="ko-KR" altLang="en-US" sz="1000" dirty="0">
                  <a:solidFill>
                    <a:schemeClr val="tx1"/>
                  </a:solidFill>
                </a:rPr>
                <a:t>시트 명 변경</a:t>
              </a:r>
              <a:r>
                <a:rPr lang="en-US" altLang="ko-KR" sz="1000" dirty="0">
                  <a:solidFill>
                    <a:schemeClr val="tx1"/>
                  </a:solidFill>
                </a:rPr>
                <a:t>(Table1 -&gt; </a:t>
              </a:r>
              <a:r>
                <a:rPr lang="ko-KR" altLang="en-US" sz="1000" dirty="0">
                  <a:solidFill>
                    <a:schemeClr val="tx1"/>
                  </a:solidFill>
                </a:rPr>
                <a:t>원본</a:t>
              </a:r>
              <a:r>
                <a:rPr lang="en-US" altLang="ko-KR" sz="1000" dirty="0">
                  <a:solidFill>
                    <a:schemeClr val="tx1"/>
                  </a:solidFill>
                </a:rPr>
                <a:t>)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83023EA-815D-AD29-DC11-52B6AFCC165B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래픽 8" descr="배지 1 윤곽선">
            <a:extLst>
              <a:ext uri="{FF2B5EF4-FFF2-40B4-BE49-F238E27FC236}">
                <a16:creationId xmlns:a16="http://schemas.microsoft.com/office/drawing/2014/main" id="{A5B05C79-E7DB-DF98-6D2E-D38811AB86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4009" y="1430824"/>
            <a:ext cx="429853" cy="42985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0EC3E67B-336F-70B8-6961-A3971E0109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6451" y="1882595"/>
            <a:ext cx="2321133" cy="4348982"/>
          </a:xfrm>
          <a:prstGeom prst="rect">
            <a:avLst/>
          </a:prstGeom>
        </p:spPr>
      </p:pic>
      <p:pic>
        <p:nvPicPr>
          <p:cNvPr id="17" name="그래픽 16" descr="배지 윤곽선">
            <a:extLst>
              <a:ext uri="{FF2B5EF4-FFF2-40B4-BE49-F238E27FC236}">
                <a16:creationId xmlns:a16="http://schemas.microsoft.com/office/drawing/2014/main" id="{B8D398E6-3099-68AD-3DF3-2AEB416D96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752090" y="1433458"/>
            <a:ext cx="429853" cy="429853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DCDFD5A8-DA26-8061-DA97-9343845E20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7159" y="1882595"/>
            <a:ext cx="2335879" cy="4348982"/>
          </a:xfrm>
          <a:prstGeom prst="rect">
            <a:avLst/>
          </a:prstGeom>
        </p:spPr>
      </p:pic>
      <p:pic>
        <p:nvPicPr>
          <p:cNvPr id="20" name="그래픽 19" descr="배지 3 윤곽선">
            <a:extLst>
              <a:ext uri="{FF2B5EF4-FFF2-40B4-BE49-F238E27FC236}">
                <a16:creationId xmlns:a16="http://schemas.microsoft.com/office/drawing/2014/main" id="{A6D325E4-EB72-23F9-DAD6-EBB354140C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6340171" y="1430825"/>
            <a:ext cx="429853" cy="42985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C145141-FA8E-4827-AE1F-5549FF006B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4223" y="1882595"/>
            <a:ext cx="2321133" cy="4307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4698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29EFE-AB06-25C0-F19A-E211C4519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E0F1FB6F-B222-0A6C-C8D6-4B530C92E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565" y="1115290"/>
            <a:ext cx="3324995" cy="546331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1B628A5-B704-611D-D074-95FC163C3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3) </a:t>
            </a:r>
            <a:r>
              <a:rPr lang="ko-KR" altLang="en-US" sz="2400" dirty="0">
                <a:latin typeface="+mn-ea"/>
                <a:ea typeface="+mn-ea"/>
              </a:rPr>
              <a:t>제이원프라임 </a:t>
            </a:r>
            <a:r>
              <a:rPr lang="en-US" altLang="ko-KR" sz="2400" dirty="0">
                <a:latin typeface="+mn-ea"/>
                <a:ea typeface="+mn-ea"/>
              </a:rPr>
              <a:t>[</a:t>
            </a:r>
            <a:r>
              <a:rPr lang="ko-KR" altLang="en-US" sz="2400" dirty="0">
                <a:latin typeface="+mn-ea"/>
                <a:ea typeface="+mn-ea"/>
              </a:rPr>
              <a:t>불필요 칼럼 삭제</a:t>
            </a:r>
            <a:r>
              <a:rPr lang="en-US" altLang="ko-KR" sz="2400" dirty="0">
                <a:latin typeface="+mn-ea"/>
                <a:ea typeface="+mn-ea"/>
              </a:rPr>
              <a:t>]</a:t>
            </a: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1E54A41-2FC8-2B67-DF17-9B0FC51519BD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AD51615-95DF-9C42-140D-6E7BCC9E49CB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5DB6E5F-247A-1096-B6C6-ABD8ADC0CF80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사용 파일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.xlsx, </a:t>
              </a:r>
              <a:r>
                <a:rPr lang="ko-KR" altLang="en-US" sz="1000" dirty="0">
                  <a:solidFill>
                    <a:schemeClr val="tx1"/>
                  </a:solidFill>
                </a:rPr>
                <a:t>삭제 열 리스트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</a:t>
              </a: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삭제 열 리스트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</a:t>
              </a:r>
              <a:r>
                <a:rPr lang="ko-KR" altLang="en-US" sz="1000" dirty="0">
                  <a:solidFill>
                    <a:schemeClr val="tx1"/>
                  </a:solidFill>
                </a:rPr>
                <a:t>에서 </a:t>
              </a:r>
              <a:r>
                <a:rPr lang="en-US" altLang="ko-KR" sz="1000" dirty="0">
                  <a:solidFill>
                    <a:schemeClr val="tx1"/>
                  </a:solidFill>
                </a:rPr>
                <a:t>“</a:t>
              </a:r>
              <a:r>
                <a:rPr lang="ko-KR" altLang="en-US" sz="1000" dirty="0">
                  <a:solidFill>
                    <a:schemeClr val="tx1"/>
                  </a:solidFill>
                </a:rPr>
                <a:t>제이원프라임</a:t>
              </a:r>
              <a:r>
                <a:rPr lang="en-US" altLang="ko-KR" sz="1000" dirty="0">
                  <a:solidFill>
                    <a:schemeClr val="tx1"/>
                  </a:solidFill>
                </a:rPr>
                <a:t>”</a:t>
              </a:r>
              <a:r>
                <a:rPr lang="ko-KR" altLang="en-US" sz="1000" dirty="0">
                  <a:solidFill>
                    <a:schemeClr val="tx1"/>
                  </a:solidFill>
                </a:rPr>
                <a:t> 시트의 데이터 읽기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</a:t>
              </a:r>
              <a:r>
                <a:rPr lang="ko-KR" altLang="en-US" sz="1000" dirty="0">
                  <a:solidFill>
                    <a:schemeClr val="tx1"/>
                  </a:solidFill>
                </a:rPr>
                <a:t>에서 </a:t>
              </a:r>
              <a:r>
                <a:rPr lang="en-US" altLang="ko-KR" sz="1000" dirty="0">
                  <a:solidFill>
                    <a:schemeClr val="tx1"/>
                  </a:solidFill>
                </a:rPr>
                <a:t>“</a:t>
              </a:r>
              <a:r>
                <a:rPr lang="ko-KR" altLang="en-US" sz="1000" dirty="0">
                  <a:solidFill>
                    <a:schemeClr val="tx1"/>
                  </a:solidFill>
                </a:rPr>
                <a:t>제이원프라임</a:t>
              </a:r>
              <a:r>
                <a:rPr lang="en-US" altLang="ko-KR" sz="1000" dirty="0">
                  <a:solidFill>
                    <a:schemeClr val="tx1"/>
                  </a:solidFill>
                </a:rPr>
                <a:t>”</a:t>
              </a:r>
              <a:r>
                <a:rPr lang="ko-KR" altLang="en-US" sz="1000" dirty="0">
                  <a:solidFill>
                    <a:schemeClr val="tx1"/>
                  </a:solidFill>
                </a:rPr>
                <a:t> 시트의 칼럼 삭제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4DFB8ED6-6A41-798B-8241-695BF16F6E7B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F3B8337-9CD2-FA4A-38B2-5712601F89AA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5F18161-99F1-7928-BF4A-969BFF4AE978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삭제할 칼럼이 수정될 시 삭제 열 리스트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 </a:t>
              </a:r>
              <a:r>
                <a:rPr lang="ko-KR" altLang="en-US" sz="1000" dirty="0">
                  <a:solidFill>
                    <a:schemeClr val="tx1"/>
                  </a:solidFill>
                </a:rPr>
                <a:t>파일에 업데이트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0922F9A-F85F-21F9-9A52-372CCF660AFB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래픽 8" descr="배지 1 윤곽선">
            <a:extLst>
              <a:ext uri="{FF2B5EF4-FFF2-40B4-BE49-F238E27FC236}">
                <a16:creationId xmlns:a16="http://schemas.microsoft.com/office/drawing/2014/main" id="{0ACF98CB-881E-72C8-00C9-B5685474A1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5334" y="2034127"/>
            <a:ext cx="429853" cy="429853"/>
          </a:xfrm>
          <a:prstGeom prst="rect">
            <a:avLst/>
          </a:prstGeom>
        </p:spPr>
      </p:pic>
      <p:pic>
        <p:nvPicPr>
          <p:cNvPr id="17" name="그래픽 16" descr="배지 윤곽선">
            <a:extLst>
              <a:ext uri="{FF2B5EF4-FFF2-40B4-BE49-F238E27FC236}">
                <a16:creationId xmlns:a16="http://schemas.microsoft.com/office/drawing/2014/main" id="{CFCC87A6-3A73-68E5-B240-E6B9BD5979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530273" y="3580397"/>
            <a:ext cx="429853" cy="42985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3D86F03-F9F2-F143-4288-55B8DE11B6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6436" y="4084141"/>
            <a:ext cx="6017528" cy="2494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0122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C1AF1-EF82-9957-63E9-DE3D6FBFE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A3473E-AABE-F342-F1EE-F6FBDACA0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3) </a:t>
            </a:r>
            <a:r>
              <a:rPr lang="ko-KR" altLang="en-US" sz="2400" dirty="0">
                <a:latin typeface="+mn-ea"/>
                <a:ea typeface="+mn-ea"/>
              </a:rPr>
              <a:t>제이원프라임 </a:t>
            </a:r>
            <a:r>
              <a:rPr lang="en-US" altLang="ko-KR" sz="2400" dirty="0">
                <a:latin typeface="+mn-ea"/>
                <a:ea typeface="+mn-ea"/>
              </a:rPr>
              <a:t>[Serial]</a:t>
            </a: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2D1800F-2F92-7C73-192F-D75FC11E87CA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197DB120-C7E8-A7AE-61DD-0AEBEAAC6B44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A28C15E-D18F-D37B-738B-10ED8EEE94AB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사용 파일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</a:t>
              </a: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제조년월이 비어있는 데이터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“999999”</a:t>
              </a:r>
              <a:r>
                <a:rPr lang="ko-KR" altLang="en-US" sz="1000" dirty="0">
                  <a:solidFill>
                    <a:schemeClr val="tx1"/>
                  </a:solidFill>
                </a:rPr>
                <a:t>로 값 업데이트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738D6E89-BAC6-3494-9AFE-ECFD197C7858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D07AF1EF-9180-198A-B494-D12745927F3E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CFC5BD4-B19C-6F5C-358D-04DED6F2DBEE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D1BA8AE-7E34-C758-E2B1-3CED398EFB12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래픽 8" descr="배지 1 윤곽선">
            <a:extLst>
              <a:ext uri="{FF2B5EF4-FFF2-40B4-BE49-F238E27FC236}">
                <a16:creationId xmlns:a16="http://schemas.microsoft.com/office/drawing/2014/main" id="{AA9E8CBA-8447-454A-A1B1-4F53C7CD1A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52091" y="1723236"/>
            <a:ext cx="429853" cy="42985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9752424-773A-6DEC-311A-4200AB36EA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386" y="2190035"/>
            <a:ext cx="819264" cy="402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6601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AE446-5DA9-70EE-F986-9E9E7988A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73E6965C-2E8D-7A02-9E55-1CF668360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588" y="1248995"/>
            <a:ext cx="3580859" cy="51959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7B7E684-CD25-9BAB-F6AA-7D208C325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3) </a:t>
            </a:r>
            <a:r>
              <a:rPr lang="ko-KR" altLang="en-US" sz="2400" dirty="0">
                <a:latin typeface="+mn-ea"/>
                <a:ea typeface="+mn-ea"/>
              </a:rPr>
              <a:t>제이원프라임 </a:t>
            </a:r>
            <a:r>
              <a:rPr lang="en-US" altLang="ko-KR" sz="2400" dirty="0">
                <a:latin typeface="+mn-ea"/>
                <a:ea typeface="+mn-ea"/>
              </a:rPr>
              <a:t>[</a:t>
            </a:r>
            <a:r>
              <a:rPr lang="ko-KR" altLang="en-US" sz="2400" dirty="0">
                <a:latin typeface="+mn-ea"/>
                <a:ea typeface="+mn-ea"/>
              </a:rPr>
              <a:t>조치 열 값 변경</a:t>
            </a:r>
            <a:r>
              <a:rPr lang="en-US" altLang="ko-KR" sz="2400" dirty="0">
                <a:latin typeface="+mn-ea"/>
                <a:ea typeface="+mn-ea"/>
              </a:rPr>
              <a:t>]</a:t>
            </a: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09F843F-F279-44BE-4DED-4504910088C2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BB4296C-FE02-B22B-7088-1E22E09464C8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D5EC277-CDF1-0BB2-5837-EB611F38BF42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사용 파일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</a:t>
              </a: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부품코드가 </a:t>
              </a:r>
              <a:r>
                <a:rPr lang="en-US" altLang="ko-KR" sz="1000" dirty="0">
                  <a:solidFill>
                    <a:schemeClr val="tx1"/>
                  </a:solidFill>
                </a:rPr>
                <a:t>XX : [</a:t>
              </a:r>
              <a:r>
                <a:rPr lang="ko-KR" altLang="en-US" sz="1000" dirty="0">
                  <a:solidFill>
                    <a:schemeClr val="tx1"/>
                  </a:solidFill>
                </a:rPr>
                <a:t>조치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 </a:t>
              </a:r>
              <a:r>
                <a:rPr lang="en-US" altLang="ko-KR" sz="1000" dirty="0">
                  <a:solidFill>
                    <a:schemeClr val="tx1"/>
                  </a:solidFill>
                </a:rPr>
                <a:t>=&gt; </a:t>
              </a:r>
              <a:r>
                <a:rPr lang="ko-KR" altLang="en-US" sz="1000" dirty="0">
                  <a:solidFill>
                    <a:schemeClr val="tx1"/>
                  </a:solidFill>
                </a:rPr>
                <a:t>수리및조정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부품코드가 </a:t>
              </a:r>
              <a:r>
                <a:rPr lang="en-US" altLang="ko-KR" sz="1000" dirty="0">
                  <a:solidFill>
                    <a:schemeClr val="tx1"/>
                  </a:solidFill>
                </a:rPr>
                <a:t>XX</a:t>
              </a:r>
              <a:r>
                <a:rPr lang="ko-KR" altLang="en-US" sz="1000" dirty="0">
                  <a:solidFill>
                    <a:schemeClr val="tx1"/>
                  </a:solidFill>
                </a:rPr>
                <a:t>가 아님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[</a:t>
              </a:r>
              <a:r>
                <a:rPr lang="ko-KR" altLang="en-US" sz="1000" dirty="0">
                  <a:solidFill>
                    <a:schemeClr val="tx1"/>
                  </a:solidFill>
                </a:rPr>
                <a:t>조치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 </a:t>
              </a:r>
              <a:r>
                <a:rPr lang="en-US" altLang="ko-KR" sz="1000" dirty="0">
                  <a:solidFill>
                    <a:schemeClr val="tx1"/>
                  </a:solidFill>
                </a:rPr>
                <a:t>=&gt; </a:t>
              </a:r>
              <a:r>
                <a:rPr lang="ko-KR" altLang="en-US" sz="1000" dirty="0">
                  <a:solidFill>
                    <a:schemeClr val="tx1"/>
                  </a:solidFill>
                </a:rPr>
                <a:t>부품교환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8AA54AC-6E71-9532-3C68-7717345B3B3A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A159C915-2587-9A78-E3CF-9B70AEE4C423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43D4C16-3470-A3B5-C517-648E483AC658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[</a:t>
              </a:r>
              <a:r>
                <a:rPr lang="ko-KR" altLang="en-US" sz="1000" dirty="0">
                  <a:solidFill>
                    <a:schemeClr val="tx1"/>
                  </a:solidFill>
                </a:rPr>
                <a:t>원인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열은 업무 담당자가 수기 처리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38210334-AE38-1F52-9008-C8499940E193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래픽 8" descr="배지 1 윤곽선">
            <a:extLst>
              <a:ext uri="{FF2B5EF4-FFF2-40B4-BE49-F238E27FC236}">
                <a16:creationId xmlns:a16="http://schemas.microsoft.com/office/drawing/2014/main" id="{CDBE5921-6D86-80BD-DCA9-6113F98345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52090" y="960177"/>
            <a:ext cx="429853" cy="42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9579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53D6F-679E-1B03-46E0-08F5FB9E7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8A671F-21A0-E7FA-EFDF-9DFD7B36A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3) </a:t>
            </a:r>
            <a:r>
              <a:rPr lang="ko-KR" altLang="en-US" sz="2400" dirty="0">
                <a:latin typeface="+mn-ea"/>
              </a:rPr>
              <a:t>제이원프라임</a:t>
            </a:r>
            <a:r>
              <a:rPr lang="ko-KR" altLang="en-US" sz="2400" dirty="0">
                <a:latin typeface="+mn-ea"/>
                <a:ea typeface="+mn-ea"/>
              </a:rPr>
              <a:t> </a:t>
            </a:r>
            <a:r>
              <a:rPr lang="en-US" altLang="ko-KR" sz="2400" dirty="0">
                <a:latin typeface="+mn-ea"/>
                <a:ea typeface="+mn-ea"/>
              </a:rPr>
              <a:t>[</a:t>
            </a:r>
            <a:r>
              <a:rPr lang="ko-KR" altLang="en-US" sz="2400" dirty="0">
                <a:latin typeface="+mn-ea"/>
                <a:ea typeface="+mn-ea"/>
              </a:rPr>
              <a:t>전화번호 관련 열 이름 변경</a:t>
            </a:r>
            <a:r>
              <a:rPr lang="en-US" altLang="ko-KR" sz="2400" dirty="0">
                <a:latin typeface="+mn-ea"/>
                <a:ea typeface="+mn-ea"/>
              </a:rPr>
              <a:t>]</a:t>
            </a: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2B3E70C-5DD4-83A5-A3CC-7E4F6AD7A5D3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3270385-B49E-2292-36E5-7E467E6F73C8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6666043-703D-2CBB-A157-B62CF5E2AC4B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사용 파일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</a:t>
              </a: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전화번호 관련 열</a:t>
              </a:r>
              <a:r>
                <a:rPr lang="en-US" altLang="ko-KR" sz="1000" dirty="0">
                  <a:solidFill>
                    <a:schemeClr val="tx1"/>
                  </a:solidFill>
                </a:rPr>
                <a:t> </a:t>
              </a:r>
              <a:r>
                <a:rPr lang="ko-KR" altLang="en-US" sz="1000" dirty="0">
                  <a:solidFill>
                    <a:schemeClr val="tx1"/>
                  </a:solidFill>
                </a:rPr>
                <a:t>변경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유선전화</a:t>
              </a:r>
              <a:r>
                <a:rPr lang="en-US" altLang="ko-KR" sz="1000" dirty="0">
                  <a:solidFill>
                    <a:schemeClr val="tx1"/>
                  </a:solidFill>
                </a:rPr>
                <a:t>, </a:t>
              </a:r>
              <a:r>
                <a:rPr lang="ko-KR" altLang="en-US" sz="1000" dirty="0">
                  <a:solidFill>
                    <a:schemeClr val="tx1"/>
                  </a:solidFill>
                </a:rPr>
                <a:t>휴대전화</a:t>
              </a:r>
              <a:r>
                <a:rPr lang="en-US" altLang="ko-KR" sz="1000" dirty="0">
                  <a:solidFill>
                    <a:schemeClr val="tx1"/>
                  </a:solidFill>
                </a:rPr>
                <a:t>,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연락처 </a:t>
              </a:r>
              <a:r>
                <a:rPr lang="en-US" altLang="ko-KR" sz="1000" dirty="0">
                  <a:solidFill>
                    <a:schemeClr val="tx1"/>
                  </a:solidFill>
                </a:rPr>
                <a:t>-&gt; </a:t>
              </a:r>
              <a:r>
                <a:rPr lang="ko-KR" altLang="en-US" sz="1000" dirty="0">
                  <a:solidFill>
                    <a:schemeClr val="tx1"/>
                  </a:solidFill>
                </a:rPr>
                <a:t>전화번호</a:t>
              </a:r>
              <a:r>
                <a:rPr lang="en-US" altLang="ko-KR" sz="1000" dirty="0">
                  <a:solidFill>
                    <a:schemeClr val="tx1"/>
                  </a:solidFill>
                </a:rPr>
                <a:t>1,</a:t>
              </a:r>
              <a:r>
                <a:rPr lang="ko-KR" altLang="en-US" sz="1000" dirty="0">
                  <a:solidFill>
                    <a:schemeClr val="tx1"/>
                  </a:solidFill>
                </a:rPr>
                <a:t> 전화번호</a:t>
              </a:r>
              <a:r>
                <a:rPr lang="en-US" altLang="ko-KR" sz="1000" dirty="0">
                  <a:solidFill>
                    <a:schemeClr val="tx1"/>
                  </a:solidFill>
                </a:rPr>
                <a:t>2, </a:t>
              </a:r>
              <a:r>
                <a:rPr lang="ko-KR" altLang="en-US" sz="1000" dirty="0">
                  <a:solidFill>
                    <a:schemeClr val="tx1"/>
                  </a:solidFill>
                </a:rPr>
                <a:t>전화번호</a:t>
              </a:r>
              <a:r>
                <a:rPr lang="en-US" altLang="ko-KR" sz="1000" dirty="0">
                  <a:solidFill>
                    <a:schemeClr val="tx1"/>
                  </a:solidFill>
                </a:rPr>
                <a:t>3</a:t>
              </a: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BFBF3B4-800B-DF43-3F36-75DE8F4D6EE2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8D823449-4616-46D0-EE7D-DCF296BBC2CE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E3DF34C-B5EB-A9D5-A125-8982CBE14A40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3F419C5-DF79-8856-958E-BB79104A44E6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래픽 8" descr="배지 1 윤곽선">
            <a:extLst>
              <a:ext uri="{FF2B5EF4-FFF2-40B4-BE49-F238E27FC236}">
                <a16:creationId xmlns:a16="http://schemas.microsoft.com/office/drawing/2014/main" id="{FE6B3AB8-1D4E-F1CE-BDD7-481B3D6346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82631" y="2851365"/>
            <a:ext cx="429853" cy="42985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35B3924-1A5C-958F-4510-B0281856A0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11" y="1640284"/>
            <a:ext cx="3287437" cy="431255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A56A31F-E585-590D-3CE8-DEBFF4B8A1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1558" y="1426087"/>
            <a:ext cx="3168884" cy="4762277"/>
          </a:xfrm>
          <a:prstGeom prst="rect">
            <a:avLst/>
          </a:prstGeom>
        </p:spPr>
      </p:pic>
      <p:pic>
        <p:nvPicPr>
          <p:cNvPr id="17" name="그래픽 16" descr="오른쪽 화살표 단색으로 채워진">
            <a:extLst>
              <a:ext uri="{FF2B5EF4-FFF2-40B4-BE49-F238E27FC236}">
                <a16:creationId xmlns:a16="http://schemas.microsoft.com/office/drawing/2014/main" id="{0F0EC58C-E0A7-90A9-989F-1EE92E6F31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04003" y="333936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9160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F0BA3-A4C6-9F73-B881-7ED12ADBB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ED5007-C334-868F-2DE4-7E3D49159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3) </a:t>
            </a:r>
            <a:r>
              <a:rPr lang="ko-KR" altLang="en-US" sz="2400" dirty="0">
                <a:latin typeface="+mn-ea"/>
              </a:rPr>
              <a:t>제이원프라임</a:t>
            </a:r>
            <a:r>
              <a:rPr lang="ko-KR" altLang="en-US" sz="2400" dirty="0">
                <a:latin typeface="+mn-ea"/>
                <a:ea typeface="+mn-ea"/>
              </a:rPr>
              <a:t> </a:t>
            </a:r>
            <a:r>
              <a:rPr lang="en-US" altLang="ko-KR" sz="2400" dirty="0">
                <a:latin typeface="+mn-ea"/>
                <a:ea typeface="+mn-ea"/>
              </a:rPr>
              <a:t>[AS </a:t>
            </a:r>
            <a:r>
              <a:rPr lang="ko-KR" altLang="en-US" sz="2400" dirty="0">
                <a:latin typeface="+mn-ea"/>
                <a:ea typeface="+mn-ea"/>
              </a:rPr>
              <a:t>대행료 변경</a:t>
            </a:r>
            <a:r>
              <a:rPr lang="en-US" altLang="ko-KR" sz="2400" dirty="0">
                <a:latin typeface="+mn-ea"/>
                <a:ea typeface="+mn-ea"/>
              </a:rPr>
              <a:t>]</a:t>
            </a: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917737F-3739-776A-7AE7-428811DF86D6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77F49BF-8A3E-A7E6-1984-F6A6C76A860E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B64F580-3B73-854C-86B2-51D4893F963E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사용 파일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</a:t>
              </a: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[</a:t>
              </a:r>
              <a:r>
                <a:rPr lang="ko-KR" altLang="en-US" sz="1000" dirty="0">
                  <a:solidFill>
                    <a:schemeClr val="tx1"/>
                  </a:solidFill>
                </a:rPr>
                <a:t>라인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열이 </a:t>
              </a:r>
              <a:r>
                <a:rPr lang="en-US" altLang="ko-KR" sz="1000" dirty="0">
                  <a:solidFill>
                    <a:schemeClr val="tx1"/>
                  </a:solidFill>
                </a:rPr>
                <a:t>1</a:t>
              </a:r>
              <a:r>
                <a:rPr lang="ko-KR" altLang="en-US" sz="1000" dirty="0">
                  <a:solidFill>
                    <a:schemeClr val="tx1"/>
                  </a:solidFill>
                </a:rPr>
                <a:t>인 경우에만 </a:t>
              </a:r>
              <a:r>
                <a:rPr lang="en-US" altLang="ko-KR" sz="1000" dirty="0">
                  <a:solidFill>
                    <a:schemeClr val="tx1"/>
                  </a:solidFill>
                </a:rPr>
                <a:t>AS </a:t>
              </a:r>
              <a:r>
                <a:rPr lang="ko-KR" altLang="en-US" sz="1000" dirty="0">
                  <a:solidFill>
                    <a:schemeClr val="tx1"/>
                  </a:solidFill>
                </a:rPr>
                <a:t>대행료 변경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[</a:t>
              </a:r>
              <a:r>
                <a:rPr lang="ko-KR" altLang="en-US" sz="1000" dirty="0">
                  <a:solidFill>
                    <a:schemeClr val="tx1"/>
                  </a:solidFill>
                </a:rPr>
                <a:t>지역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열의 </a:t>
              </a:r>
              <a:r>
                <a:rPr lang="en-US" altLang="ko-KR" sz="1000" dirty="0">
                  <a:solidFill>
                    <a:schemeClr val="tx1"/>
                  </a:solidFill>
                </a:rPr>
                <a:t>ZONE</a:t>
              </a:r>
              <a:r>
                <a:rPr lang="ko-KR" altLang="en-US" sz="1000" dirty="0">
                  <a:solidFill>
                    <a:schemeClr val="tx1"/>
                  </a:solidFill>
                </a:rPr>
                <a:t>에 따른 값 변경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685800" lvl="1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ZONE1 : 13,000</a:t>
              </a:r>
            </a:p>
            <a:p>
              <a:pPr marL="685800" lvl="1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ZONE2 : 22,000</a:t>
              </a:r>
            </a:p>
            <a:p>
              <a:pPr marL="685800" lvl="1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ZONE3 : 33,000</a:t>
              </a: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[AS</a:t>
              </a:r>
              <a:r>
                <a:rPr lang="ko-KR" altLang="en-US" sz="1000" dirty="0">
                  <a:solidFill>
                    <a:schemeClr val="tx1"/>
                  </a:solidFill>
                </a:rPr>
                <a:t>대행료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열에 데이터 업데이트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lvl="1"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03DA4A9-1E30-D52F-D31B-89AF37C6C1BF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C7376420-E76F-F5CF-475E-D93743000AD1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462CCBF-276D-368A-4251-FAB7F642FD96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[</a:t>
              </a:r>
              <a:r>
                <a:rPr lang="ko-KR" altLang="en-US" sz="1000" dirty="0">
                  <a:solidFill>
                    <a:schemeClr val="tx1"/>
                  </a:solidFill>
                </a:rPr>
                <a:t>라인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열이 </a:t>
              </a:r>
              <a:r>
                <a:rPr lang="en-US" altLang="ko-KR" sz="1000" dirty="0">
                  <a:solidFill>
                    <a:schemeClr val="tx1"/>
                  </a:solidFill>
                </a:rPr>
                <a:t>1</a:t>
              </a:r>
              <a:r>
                <a:rPr lang="ko-KR" altLang="en-US" sz="1000" dirty="0">
                  <a:solidFill>
                    <a:schemeClr val="tx1"/>
                  </a:solidFill>
                </a:rPr>
                <a:t>이 아닌 데이터는 </a:t>
              </a:r>
              <a:r>
                <a:rPr lang="en-US" altLang="ko-KR" sz="1000" dirty="0">
                  <a:solidFill>
                    <a:schemeClr val="tx1"/>
                  </a:solidFill>
                </a:rPr>
                <a:t>[AS</a:t>
              </a:r>
              <a:r>
                <a:rPr lang="ko-KR" altLang="en-US" sz="1000" dirty="0">
                  <a:solidFill>
                    <a:schemeClr val="tx1"/>
                  </a:solidFill>
                </a:rPr>
                <a:t>대행료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열에 </a:t>
              </a:r>
              <a:r>
                <a:rPr lang="en-US" altLang="ko-KR" sz="1000" dirty="0">
                  <a:solidFill>
                    <a:schemeClr val="tx1"/>
                  </a:solidFill>
                </a:rPr>
                <a:t>0</a:t>
              </a:r>
              <a:r>
                <a:rPr lang="ko-KR" altLang="en-US" sz="1000" dirty="0">
                  <a:solidFill>
                    <a:schemeClr val="tx1"/>
                  </a:solidFill>
                </a:rPr>
                <a:t>원으로 작성 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E0EE2BAD-3661-FAC7-0A2B-09EE1D94A769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래픽 8" descr="배지 1 윤곽선">
            <a:extLst>
              <a:ext uri="{FF2B5EF4-FFF2-40B4-BE49-F238E27FC236}">
                <a16:creationId xmlns:a16="http://schemas.microsoft.com/office/drawing/2014/main" id="{838059E1-1A77-1E76-83AA-F9582B6C88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6399" y="905164"/>
            <a:ext cx="429853" cy="42985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CA722D0-8952-FE9F-F402-1DC429F6F7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260" y="1335017"/>
            <a:ext cx="1328133" cy="520930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5068A2BC-EFF0-B7A0-FAD8-51AFA4D0BE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4492" y="1936532"/>
            <a:ext cx="1267002" cy="4172532"/>
          </a:xfrm>
          <a:prstGeom prst="rect">
            <a:avLst/>
          </a:prstGeom>
        </p:spPr>
      </p:pic>
      <p:pic>
        <p:nvPicPr>
          <p:cNvPr id="18" name="그래픽 17" descr="배지 윤곽선">
            <a:extLst>
              <a:ext uri="{FF2B5EF4-FFF2-40B4-BE49-F238E27FC236}">
                <a16:creationId xmlns:a16="http://schemas.microsoft.com/office/drawing/2014/main" id="{401AA8CD-F9E3-3A77-7588-D2CBF1F20B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2463066" y="1432788"/>
            <a:ext cx="429853" cy="429853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7526D9BE-47A4-1FF7-9D71-3C67180434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8317" y="1520821"/>
            <a:ext cx="1220960" cy="5086208"/>
          </a:xfrm>
          <a:prstGeom prst="rect">
            <a:avLst/>
          </a:prstGeom>
        </p:spPr>
      </p:pic>
      <p:pic>
        <p:nvPicPr>
          <p:cNvPr id="21" name="그래픽 20" descr="오른쪽 화살표 단색으로 채워진">
            <a:extLst>
              <a:ext uri="{FF2B5EF4-FFF2-40B4-BE49-F238E27FC236}">
                <a16:creationId xmlns:a16="http://schemas.microsoft.com/office/drawing/2014/main" id="{6E3301CF-0141-2104-5299-81BED18085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04003" y="3339360"/>
            <a:ext cx="914400" cy="914400"/>
          </a:xfrm>
          <a:prstGeom prst="rect">
            <a:avLst/>
          </a:prstGeom>
        </p:spPr>
      </p:pic>
      <p:pic>
        <p:nvPicPr>
          <p:cNvPr id="22" name="그래픽 21" descr="배지 3 윤곽선">
            <a:extLst>
              <a:ext uri="{FF2B5EF4-FFF2-40B4-BE49-F238E27FC236}">
                <a16:creationId xmlns:a16="http://schemas.microsoft.com/office/drawing/2014/main" id="{946372B3-2614-DC84-31AE-CF466EB7A1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5156987" y="1089891"/>
            <a:ext cx="429853" cy="42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1071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87C45-508F-55B1-7B37-39612EA76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5972078-922B-7BBC-51DC-723444CCD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6795" y="1335017"/>
            <a:ext cx="3333797" cy="526898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5CFB685-F512-A202-1693-F48C9A71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3) </a:t>
            </a:r>
            <a:r>
              <a:rPr lang="ko-KR" altLang="en-US" sz="2400" dirty="0">
                <a:latin typeface="+mn-ea"/>
                <a:ea typeface="+mn-ea"/>
              </a:rPr>
              <a:t>제이원프라임 </a:t>
            </a:r>
            <a:r>
              <a:rPr lang="en-US" altLang="ko-KR" sz="2400" dirty="0">
                <a:latin typeface="+mn-ea"/>
                <a:ea typeface="+mn-ea"/>
              </a:rPr>
              <a:t>[</a:t>
            </a:r>
            <a:r>
              <a:rPr lang="ko-KR" altLang="en-US" sz="2400" dirty="0">
                <a:latin typeface="+mn-ea"/>
                <a:ea typeface="+mn-ea"/>
              </a:rPr>
              <a:t>처리구분 생성</a:t>
            </a:r>
            <a:r>
              <a:rPr lang="en-US" altLang="ko-KR" sz="2400" dirty="0">
                <a:latin typeface="+mn-ea"/>
                <a:ea typeface="+mn-ea"/>
              </a:rPr>
              <a:t>]</a:t>
            </a: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DADDE96-16C7-1514-D7F7-61D4690B0092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54A192F-3562-A7D7-88F7-530E3ECC5F51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DDCFBEE-3F2B-62F6-4F10-1B7FF97EAA40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사용 파일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</a:t>
              </a: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[</a:t>
              </a:r>
              <a:r>
                <a:rPr lang="ko-KR" altLang="en-US" sz="1000" dirty="0">
                  <a:solidFill>
                    <a:schemeClr val="tx1"/>
                  </a:solidFill>
                </a:rPr>
                <a:t>처리구분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 생성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a. [</a:t>
              </a:r>
              <a:r>
                <a:rPr lang="ko-KR" altLang="en-US" sz="1000" dirty="0">
                  <a:solidFill>
                    <a:schemeClr val="tx1"/>
                  </a:solidFill>
                </a:rPr>
                <a:t>부품코드</a:t>
              </a:r>
              <a:r>
                <a:rPr lang="en-US" altLang="ko-KR" sz="1000" dirty="0">
                  <a:solidFill>
                    <a:schemeClr val="tx1"/>
                  </a:solidFill>
                </a:rPr>
                <a:t>]</a:t>
              </a:r>
              <a:r>
                <a:rPr lang="ko-KR" altLang="en-US" sz="1000" dirty="0">
                  <a:solidFill>
                    <a:schemeClr val="tx1"/>
                  </a:solidFill>
                </a:rPr>
                <a:t>의 데이터가 </a:t>
              </a:r>
              <a:r>
                <a:rPr lang="en-US" altLang="ko-KR" sz="1000" dirty="0">
                  <a:solidFill>
                    <a:schemeClr val="tx1"/>
                  </a:solidFill>
                </a:rPr>
                <a:t>“XX”</a:t>
              </a:r>
              <a:r>
                <a:rPr lang="ko-KR" altLang="en-US" sz="1000" dirty="0">
                  <a:solidFill>
                    <a:schemeClr val="tx1"/>
                  </a:solidFill>
                </a:rPr>
                <a:t>인 경우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[</a:t>
              </a:r>
              <a:r>
                <a:rPr lang="ko-KR" altLang="en-US" sz="1000" dirty="0">
                  <a:solidFill>
                    <a:schemeClr val="tx1"/>
                  </a:solidFill>
                </a:rPr>
                <a:t>처리구분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</a:t>
              </a:r>
              <a:r>
                <a:rPr lang="ko-KR" altLang="en-US" sz="1000" dirty="0">
                  <a:solidFill>
                    <a:schemeClr val="tx1"/>
                  </a:solidFill>
                </a:rPr>
                <a:t>점검 및 수리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b. [</a:t>
              </a:r>
              <a:r>
                <a:rPr lang="ko-KR" altLang="en-US" sz="1000" dirty="0">
                  <a:solidFill>
                    <a:schemeClr val="tx1"/>
                  </a:solidFill>
                </a:rPr>
                <a:t>부품코드</a:t>
              </a:r>
              <a:r>
                <a:rPr lang="en-US" altLang="ko-KR" sz="1000" dirty="0">
                  <a:solidFill>
                    <a:schemeClr val="tx1"/>
                  </a:solidFill>
                </a:rPr>
                <a:t>]</a:t>
              </a:r>
              <a:r>
                <a:rPr lang="ko-KR" altLang="en-US" sz="1000" dirty="0">
                  <a:solidFill>
                    <a:schemeClr val="tx1"/>
                  </a:solidFill>
                </a:rPr>
                <a:t>의 데이터가 </a:t>
              </a:r>
              <a:r>
                <a:rPr lang="en-US" altLang="ko-KR" sz="1000" dirty="0">
                  <a:solidFill>
                    <a:schemeClr val="tx1"/>
                  </a:solidFill>
                </a:rPr>
                <a:t>“XX”</a:t>
              </a:r>
              <a:r>
                <a:rPr lang="ko-KR" altLang="en-US" sz="1000" dirty="0">
                  <a:solidFill>
                    <a:schemeClr val="tx1"/>
                  </a:solidFill>
                </a:rPr>
                <a:t>가 아닌 경우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[</a:t>
              </a:r>
              <a:r>
                <a:rPr lang="ko-KR" altLang="en-US" sz="1000" dirty="0">
                  <a:solidFill>
                    <a:schemeClr val="tx1"/>
                  </a:solidFill>
                </a:rPr>
                <a:t>처리구분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</a:t>
              </a:r>
              <a:r>
                <a:rPr lang="ko-KR" altLang="en-US" sz="1000" dirty="0">
                  <a:solidFill>
                    <a:schemeClr val="tx1"/>
                  </a:solidFill>
                </a:rPr>
                <a:t>부품교환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E764B205-A65E-D3D2-193B-F1B7E576CABB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31089E95-863F-B213-4B1D-4A901C46529A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4674D44-4460-FA83-1CD9-E78F43293915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BE89F8D-B2CB-C387-3A71-5AF1274B8653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래픽 8" descr="배지 1 윤곽선">
            <a:extLst>
              <a:ext uri="{FF2B5EF4-FFF2-40B4-BE49-F238E27FC236}">
                <a16:creationId xmlns:a16="http://schemas.microsoft.com/office/drawing/2014/main" id="{47B5EF13-1BD5-BBBC-E9FD-5FE9AE57C6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52090" y="905164"/>
            <a:ext cx="429853" cy="42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5974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BCF37-D9F9-BC77-09B1-0F9C2C139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DEA7E2D4-4B10-1836-310D-5B285CE8F9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562" y="1489544"/>
            <a:ext cx="7030431" cy="506800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F40A9A7-EAF0-72CE-007F-EF0C5B5E6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3) </a:t>
            </a:r>
            <a:r>
              <a:rPr lang="ko-KR" altLang="en-US" sz="2400" dirty="0">
                <a:latin typeface="+mn-ea"/>
                <a:ea typeface="+mn-ea"/>
              </a:rPr>
              <a:t>제이원프라임 </a:t>
            </a:r>
            <a:r>
              <a:rPr lang="en-US" altLang="ko-KR" sz="2400" dirty="0">
                <a:latin typeface="+mn-ea"/>
                <a:ea typeface="+mn-ea"/>
              </a:rPr>
              <a:t>[</a:t>
            </a:r>
            <a:r>
              <a:rPr lang="ko-KR" altLang="en-US" sz="2400" dirty="0">
                <a:latin typeface="+mn-ea"/>
                <a:ea typeface="+mn-ea"/>
              </a:rPr>
              <a:t>접수</a:t>
            </a:r>
            <a:r>
              <a:rPr lang="en-US" altLang="ko-KR" sz="2400" dirty="0">
                <a:latin typeface="+mn-ea"/>
                <a:ea typeface="+mn-ea"/>
              </a:rPr>
              <a:t>, </a:t>
            </a:r>
            <a:r>
              <a:rPr lang="ko-KR" altLang="en-US" sz="2400" dirty="0">
                <a:latin typeface="+mn-ea"/>
                <a:ea typeface="+mn-ea"/>
              </a:rPr>
              <a:t>완료 열 생성</a:t>
            </a:r>
            <a:r>
              <a:rPr lang="en-US" altLang="ko-KR" sz="2400" dirty="0">
                <a:latin typeface="+mn-ea"/>
                <a:ea typeface="+mn-ea"/>
              </a:rPr>
              <a:t>]</a:t>
            </a: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933B505-226B-AAB7-3FAF-C81849B9BAD3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590A92F-5433-8CC3-C8B2-4B1314E8D270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50C0FFC-B570-CA8F-1DA5-3E4808B93D90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사용 파일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</a:t>
              </a: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[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접수일</a:t>
              </a:r>
              <a:r>
                <a:rPr lang="en-US" altLang="ko-KR" sz="1000" dirty="0">
                  <a:solidFill>
                    <a:schemeClr val="tx1"/>
                  </a:solidFill>
                </a:rPr>
                <a:t>], [</a:t>
              </a:r>
              <a:r>
                <a:rPr lang="ko-KR" altLang="en-US" sz="1000" dirty="0">
                  <a:solidFill>
                    <a:schemeClr val="tx1"/>
                  </a:solidFill>
                </a:rPr>
                <a:t>완료일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열을 기준으로 </a:t>
              </a:r>
              <a:r>
                <a:rPr lang="en-US" altLang="ko-KR" sz="1000" dirty="0">
                  <a:solidFill>
                    <a:schemeClr val="tx1"/>
                  </a:solidFill>
                </a:rPr>
                <a:t>[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],[</a:t>
              </a:r>
              <a:r>
                <a:rPr lang="ko-KR" altLang="en-US" sz="1000" dirty="0">
                  <a:solidFill>
                    <a:schemeClr val="tx1"/>
                  </a:solidFill>
                </a:rPr>
                <a:t>완료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 생성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685800" lvl="1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yyyy-MM-dd =&gt; MMdd </a:t>
              </a:r>
              <a:r>
                <a:rPr lang="ko-KR" altLang="en-US" sz="1000" dirty="0">
                  <a:solidFill>
                    <a:schemeClr val="tx1"/>
                  </a:solidFill>
                </a:rPr>
                <a:t>형식으로 변환하여 입력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lvl="1"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6430DBF-59EA-594A-6201-86168CD37F55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236CDC0-ADD4-D476-50E5-D374F464172D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E57FF1C-F341-62FA-5A4F-05784D09A549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92EBEBBE-D6B4-B2D9-1B31-CA575BA4F833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래픽 8" descr="배지 1 윤곽선">
            <a:extLst>
              <a:ext uri="{FF2B5EF4-FFF2-40B4-BE49-F238E27FC236}">
                <a16:creationId xmlns:a16="http://schemas.microsoft.com/office/drawing/2014/main" id="{32FE88DA-7D7F-5CAA-3DA5-D4D3ABC17F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52850" y="1022745"/>
            <a:ext cx="429853" cy="42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5591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780B9-1C52-3210-493D-3D96C0B85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2C1CC3-E2EF-DCB3-21ED-4D550C798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3) </a:t>
            </a:r>
            <a:r>
              <a:rPr lang="ko-KR" altLang="en-US" sz="2400" dirty="0">
                <a:latin typeface="+mn-ea"/>
                <a:ea typeface="+mn-ea"/>
              </a:rPr>
              <a:t>제이원프라임 </a:t>
            </a:r>
            <a:r>
              <a:rPr lang="en-US" altLang="ko-KR" sz="2400" dirty="0">
                <a:latin typeface="+mn-ea"/>
                <a:ea typeface="+mn-ea"/>
              </a:rPr>
              <a:t>[</a:t>
            </a:r>
            <a:r>
              <a:rPr lang="ko-KR" altLang="en-US" sz="2400" dirty="0">
                <a:latin typeface="+mn-ea"/>
                <a:ea typeface="+mn-ea"/>
              </a:rPr>
              <a:t>미회수품 시트 생성</a:t>
            </a:r>
            <a:r>
              <a:rPr lang="en-US" altLang="ko-KR" sz="2400" dirty="0">
                <a:latin typeface="+mn-ea"/>
                <a:ea typeface="+mn-ea"/>
              </a:rPr>
              <a:t>]</a:t>
            </a: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51BFFD0-D6C2-22EE-1A60-395F9FF60ED9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7AA6F89D-B24B-6F32-8D8C-384BCC601EE9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304F8E4-95FF-E688-2145-AA9AB116B3EF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사용 파일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</a:t>
              </a: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제이원프라임 시트의 </a:t>
              </a:r>
              <a:r>
                <a:rPr lang="en-US" altLang="ko-KR" sz="1000" dirty="0">
                  <a:solidFill>
                    <a:schemeClr val="tx1"/>
                  </a:solidFill>
                </a:rPr>
                <a:t>[</a:t>
              </a:r>
              <a:r>
                <a:rPr lang="ko-KR" altLang="en-US" sz="1000" dirty="0">
                  <a:solidFill>
                    <a:schemeClr val="tx1"/>
                  </a:solidFill>
                </a:rPr>
                <a:t>비고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열에 </a:t>
              </a:r>
              <a:r>
                <a:rPr lang="en-US" altLang="ko-KR" sz="1000" dirty="0">
                  <a:solidFill>
                    <a:schemeClr val="tx1"/>
                  </a:solidFill>
                </a:rPr>
                <a:t>“</a:t>
              </a:r>
              <a:r>
                <a:rPr lang="ko-KR" altLang="en-US" sz="1000" dirty="0">
                  <a:solidFill>
                    <a:schemeClr val="tx1"/>
                  </a:solidFill>
                </a:rPr>
                <a:t>미회수품</a:t>
              </a:r>
              <a:r>
                <a:rPr lang="en-US" altLang="ko-KR" sz="1000" dirty="0">
                  <a:solidFill>
                    <a:schemeClr val="tx1"/>
                  </a:solidFill>
                </a:rPr>
                <a:t>”</a:t>
              </a:r>
              <a:r>
                <a:rPr lang="ko-KR" altLang="en-US" sz="1000" dirty="0">
                  <a:solidFill>
                    <a:schemeClr val="tx1"/>
                  </a:solidFill>
                </a:rPr>
                <a:t>이 포함된 데이터 읽기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“</a:t>
              </a:r>
              <a:r>
                <a:rPr lang="ko-KR" altLang="en-US" sz="1000" dirty="0">
                  <a:solidFill>
                    <a:schemeClr val="tx1"/>
                  </a:solidFill>
                </a:rPr>
                <a:t>미회수품</a:t>
              </a:r>
              <a:r>
                <a:rPr lang="en-US" altLang="ko-KR" sz="1000" dirty="0">
                  <a:solidFill>
                    <a:schemeClr val="tx1"/>
                  </a:solidFill>
                </a:rPr>
                <a:t>” </a:t>
              </a:r>
              <a:r>
                <a:rPr lang="ko-KR" altLang="en-US" sz="1000" dirty="0">
                  <a:solidFill>
                    <a:schemeClr val="tx1"/>
                  </a:solidFill>
                </a:rPr>
                <a:t>시트를 생성하여 작성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54D63598-22C1-068C-C703-F537E5BB32EC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D99A9DFF-A19E-41A1-9F78-C5B08979F524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FE6B4D0-D5C8-C0C0-8A1B-B83D83A089A2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FontTx/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제이원프라임 시트에서 삭제하지 않고 미회수품 시트에 작성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FontTx/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5EEFAA42-F0B8-C8D9-8C63-6F4B87C85F11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EAA2815C-FA05-88BE-B161-5E156876B2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198" y="1004199"/>
            <a:ext cx="2938911" cy="31635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EB43A5D-0F2B-E2EC-187E-B742DFD99D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189" y="3494921"/>
            <a:ext cx="6803147" cy="3077791"/>
          </a:xfrm>
          <a:prstGeom prst="rect">
            <a:avLst/>
          </a:prstGeom>
        </p:spPr>
      </p:pic>
      <p:pic>
        <p:nvPicPr>
          <p:cNvPr id="9" name="그래픽 8" descr="배지 1 윤곽선">
            <a:extLst>
              <a:ext uri="{FF2B5EF4-FFF2-40B4-BE49-F238E27FC236}">
                <a16:creationId xmlns:a16="http://schemas.microsoft.com/office/drawing/2014/main" id="{0CB434A3-A327-46F0-F3E5-B7125AF17B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67783" y="1527177"/>
            <a:ext cx="409740" cy="409740"/>
          </a:xfrm>
          <a:prstGeom prst="rect">
            <a:avLst/>
          </a:prstGeom>
        </p:spPr>
      </p:pic>
      <p:pic>
        <p:nvPicPr>
          <p:cNvPr id="16" name="그래픽 15" descr="배지 윤곽선">
            <a:extLst>
              <a:ext uri="{FF2B5EF4-FFF2-40B4-BE49-F238E27FC236}">
                <a16:creationId xmlns:a16="http://schemas.microsoft.com/office/drawing/2014/main" id="{B81F6099-0BFC-B5A1-09F4-CB6203499E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3967018" y="4664363"/>
            <a:ext cx="409740" cy="409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680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951C0-52BD-39B2-3D8A-B6F9B16C5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D7594023-2657-DBD6-FF8B-94D53B2A8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54" y="2316133"/>
            <a:ext cx="7620128" cy="293781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EAC8E4A-6F90-5FDA-D52C-620E57EFE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3) </a:t>
            </a:r>
            <a:r>
              <a:rPr lang="ko-KR" altLang="en-US" sz="2400" dirty="0">
                <a:latin typeface="+mn-ea"/>
                <a:ea typeface="+mn-ea"/>
              </a:rPr>
              <a:t>제이원프라임 </a:t>
            </a:r>
            <a:r>
              <a:rPr lang="en-US" altLang="ko-KR" sz="2400" dirty="0">
                <a:latin typeface="+mn-ea"/>
                <a:ea typeface="+mn-ea"/>
              </a:rPr>
              <a:t>[</a:t>
            </a:r>
            <a:r>
              <a:rPr lang="ko-KR" altLang="en-US" sz="2400" dirty="0">
                <a:latin typeface="+mn-ea"/>
                <a:ea typeface="+mn-ea"/>
              </a:rPr>
              <a:t>피벗테이블 생성</a:t>
            </a:r>
            <a:r>
              <a:rPr lang="en-US" altLang="ko-KR" sz="2400" dirty="0">
                <a:latin typeface="+mn-ea"/>
                <a:ea typeface="+mn-ea"/>
              </a:rPr>
              <a:t>(</a:t>
            </a:r>
            <a:r>
              <a:rPr lang="ko-KR" altLang="en-US" sz="2400" dirty="0">
                <a:latin typeface="+mn-ea"/>
                <a:ea typeface="+mn-ea"/>
              </a:rPr>
              <a:t>제이원피벗</a:t>
            </a:r>
            <a:r>
              <a:rPr lang="en-US" altLang="ko-KR" sz="2400" dirty="0">
                <a:latin typeface="+mn-ea"/>
                <a:ea typeface="+mn-ea"/>
              </a:rPr>
              <a:t>)]</a:t>
            </a: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447254E-9807-2031-481D-4DA9A671AB6F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5761FC5-46D5-CEF3-1C72-3D6797A32445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F8C15E1-55D7-31C6-A730-3A3A303E4521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사용 파일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</a:t>
              </a: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“</a:t>
              </a:r>
              <a:r>
                <a:rPr lang="ko-KR" altLang="en-US" sz="1000" dirty="0">
                  <a:solidFill>
                    <a:schemeClr val="tx1"/>
                  </a:solidFill>
                </a:rPr>
                <a:t>제이원피벗</a:t>
              </a:r>
              <a:r>
                <a:rPr lang="en-US" altLang="ko-KR" sz="1000" dirty="0">
                  <a:solidFill>
                    <a:schemeClr val="tx1"/>
                  </a:solidFill>
                </a:rPr>
                <a:t>” </a:t>
              </a:r>
              <a:r>
                <a:rPr lang="ko-KR" altLang="en-US" sz="1000" dirty="0">
                  <a:solidFill>
                    <a:schemeClr val="tx1"/>
                  </a:solidFill>
                </a:rPr>
                <a:t>시트 생성 후 피벗 테이블 생성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행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"</a:t>
              </a:r>
              <a:r>
                <a:rPr lang="ko-KR" altLang="en-US" sz="1000" dirty="0">
                  <a:solidFill>
                    <a:schemeClr val="tx1"/>
                  </a:solidFill>
                </a:rPr>
                <a:t>처리구분</a:t>
              </a:r>
              <a:r>
                <a:rPr lang="en-US" altLang="ko-KR" sz="1000" dirty="0">
                  <a:solidFill>
                    <a:schemeClr val="tx1"/>
                  </a:solidFill>
                </a:rPr>
                <a:t>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완료</a:t>
              </a:r>
              <a:r>
                <a:rPr lang="en-US" altLang="ko-KR" sz="1000" dirty="0">
                  <a:solidFill>
                    <a:schemeClr val="tx1"/>
                  </a:solidFill>
                </a:rPr>
                <a:t>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주소</a:t>
              </a:r>
              <a:r>
                <a:rPr lang="en-US" altLang="ko-KR" sz="1000" dirty="0">
                  <a:solidFill>
                    <a:schemeClr val="tx1"/>
                  </a:solidFill>
                </a:rPr>
                <a:t>2",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주소</a:t>
              </a:r>
              <a:r>
                <a:rPr lang="en-US" altLang="ko-KR" sz="1000" dirty="0">
                  <a:solidFill>
                    <a:schemeClr val="tx1"/>
                  </a:solidFill>
                </a:rPr>
                <a:t>3",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주소</a:t>
              </a:r>
              <a:r>
                <a:rPr lang="en-US" altLang="ko-KR" sz="1000" dirty="0">
                  <a:solidFill>
                    <a:schemeClr val="tx1"/>
                  </a:solidFill>
                </a:rPr>
                <a:t>4",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전화번호</a:t>
              </a:r>
              <a:r>
                <a:rPr lang="en-US" altLang="ko-KR" sz="1000" dirty="0">
                  <a:solidFill>
                    <a:schemeClr val="tx1"/>
                  </a:solidFill>
                </a:rPr>
                <a:t>3",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제품코드</a:t>
              </a:r>
              <a:r>
                <a:rPr lang="en-US" altLang="ko-KR" sz="1000" dirty="0">
                  <a:solidFill>
                    <a:schemeClr val="tx1"/>
                  </a:solidFill>
                </a:rPr>
                <a:t>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부품코드</a:t>
              </a:r>
              <a:r>
                <a:rPr lang="en-US" altLang="ko-KR" sz="1000" dirty="0">
                  <a:solidFill>
                    <a:schemeClr val="tx1"/>
                  </a:solidFill>
                </a:rPr>
                <a:t>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부품코드명</a:t>
              </a:r>
              <a:r>
                <a:rPr lang="en-US" altLang="ko-KR" sz="1000" dirty="0">
                  <a:solidFill>
                    <a:schemeClr val="tx1"/>
                  </a:solidFill>
                </a:rPr>
                <a:t>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고장내역</a:t>
              </a:r>
              <a:r>
                <a:rPr lang="en-US" altLang="ko-KR" sz="1000" dirty="0">
                  <a:solidFill>
                    <a:schemeClr val="tx1"/>
                  </a:solidFill>
                </a:rPr>
                <a:t>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원인</a:t>
              </a:r>
              <a:r>
                <a:rPr lang="en-US" altLang="ko-KR" sz="1000" dirty="0">
                  <a:solidFill>
                    <a:schemeClr val="tx1"/>
                  </a:solidFill>
                </a:rPr>
                <a:t>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조치</a:t>
              </a:r>
              <a:r>
                <a:rPr lang="en-US" altLang="ko-KR" sz="1000" dirty="0">
                  <a:solidFill>
                    <a:schemeClr val="tx1"/>
                  </a:solidFill>
                </a:rPr>
                <a:t>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전문점명</a:t>
              </a:r>
              <a:r>
                <a:rPr lang="en-US" altLang="ko-KR" sz="1000" dirty="0">
                  <a:solidFill>
                    <a:schemeClr val="tx1"/>
                  </a:solidFill>
                </a:rPr>
                <a:t>"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값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"</a:t>
              </a:r>
              <a:r>
                <a:rPr lang="ko-KR" altLang="en-US" sz="1000" dirty="0">
                  <a:solidFill>
                    <a:schemeClr val="tx1"/>
                  </a:solidFill>
                </a:rPr>
                <a:t>합계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</a:t>
              </a:r>
              <a:r>
                <a:rPr lang="ko-KR" altLang="en-US" sz="1000" dirty="0">
                  <a:solidFill>
                    <a:schemeClr val="tx1"/>
                  </a:solidFill>
                </a:rPr>
                <a:t>수량</a:t>
              </a:r>
              <a:r>
                <a:rPr lang="en-US" altLang="ko-KR" sz="1000" dirty="0">
                  <a:solidFill>
                    <a:schemeClr val="tx1"/>
                  </a:solidFill>
                </a:rPr>
                <a:t>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 합계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AS</a:t>
              </a:r>
              <a:r>
                <a:rPr lang="ko-KR" altLang="en-US" sz="1000" dirty="0">
                  <a:solidFill>
                    <a:schemeClr val="tx1"/>
                  </a:solidFill>
                </a:rPr>
                <a:t>대행료</a:t>
              </a:r>
              <a:r>
                <a:rPr lang="en-US" altLang="ko-KR" sz="1000" dirty="0">
                  <a:solidFill>
                    <a:schemeClr val="tx1"/>
                  </a:solidFill>
                </a:rPr>
                <a:t>"</a:t>
              </a: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C2B6D1F-011C-0565-5D67-4B691E4864BB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C52F9995-F45E-B77F-68F2-F2DA9ECB0B37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ADEAE88-5E74-A30D-01F1-A4894C09A3AA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FontTx/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1B01D45-6384-8DAC-19BC-671A26C4C440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래픽 8" descr="배지 1 윤곽선">
            <a:extLst>
              <a:ext uri="{FF2B5EF4-FFF2-40B4-BE49-F238E27FC236}">
                <a16:creationId xmlns:a16="http://schemas.microsoft.com/office/drawing/2014/main" id="{3D9D2D73-58FD-87AD-745A-C14C2E24FC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62148" y="1906393"/>
            <a:ext cx="409740" cy="409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0301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A3C80-DFEC-F4BB-561D-FA5AB45B0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E21BCF-43C2-61C4-B356-1076E058E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4) </a:t>
            </a:r>
            <a:r>
              <a:rPr lang="ko-KR" altLang="en-US" sz="2400" dirty="0">
                <a:latin typeface="+mn-ea"/>
                <a:ea typeface="+mn-ea"/>
              </a:rPr>
              <a:t>씨랩시스 </a:t>
            </a:r>
            <a:r>
              <a:rPr lang="en-US" altLang="ko-KR" sz="2400" dirty="0">
                <a:latin typeface="+mn-ea"/>
                <a:ea typeface="+mn-ea"/>
              </a:rPr>
              <a:t>[</a:t>
            </a:r>
            <a:r>
              <a:rPr lang="ko-KR" altLang="en-US" sz="2400" dirty="0">
                <a:latin typeface="+mn-ea"/>
                <a:ea typeface="+mn-ea"/>
              </a:rPr>
              <a:t>데이터 필터링</a:t>
            </a:r>
            <a:r>
              <a:rPr lang="en-US" altLang="ko-KR" sz="2400" dirty="0">
                <a:latin typeface="+mn-ea"/>
                <a:ea typeface="+mn-ea"/>
              </a:rPr>
              <a:t>]</a:t>
            </a: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DF92A79-8EBD-4E44-A815-0FBDEC708067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F22C69D-F688-1AF8-2EAD-BCBDF893DCF7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217C2923-3CD8-4983-4164-0578AD6322CA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사용 파일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</a:t>
              </a: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업체 필터링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[</a:t>
              </a:r>
              <a:r>
                <a:rPr lang="ko-KR" altLang="en-US" sz="1000" dirty="0">
                  <a:solidFill>
                    <a:schemeClr val="tx1"/>
                  </a:solidFill>
                </a:rPr>
                <a:t>제품사입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열에서 </a:t>
              </a:r>
              <a:r>
                <a:rPr lang="en-US" altLang="ko-KR" sz="1000" dirty="0">
                  <a:solidFill>
                    <a:schemeClr val="tx1"/>
                  </a:solidFill>
                </a:rPr>
                <a:t>“</a:t>
              </a:r>
              <a:r>
                <a:rPr lang="ko-KR" altLang="en-US" sz="1000" dirty="0">
                  <a:solidFill>
                    <a:schemeClr val="tx1"/>
                  </a:solidFill>
                </a:rPr>
                <a:t>에이스라이프</a:t>
              </a:r>
              <a:r>
                <a:rPr lang="en-US" altLang="ko-KR" sz="1000" dirty="0">
                  <a:solidFill>
                    <a:schemeClr val="tx1"/>
                  </a:solidFill>
                </a:rPr>
                <a:t>”</a:t>
              </a:r>
              <a:r>
                <a:rPr lang="ko-KR" altLang="en-US" sz="1000" dirty="0">
                  <a:solidFill>
                    <a:schemeClr val="tx1"/>
                  </a:solidFill>
                </a:rPr>
                <a:t>가 포함된 데이터 필터링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유무상 필터링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[</a:t>
              </a:r>
              <a:r>
                <a:rPr lang="ko-KR" altLang="en-US" sz="1000" dirty="0">
                  <a:solidFill>
                    <a:schemeClr val="tx1"/>
                  </a:solidFill>
                </a:rPr>
                <a:t>유무상</a:t>
              </a:r>
              <a:r>
                <a:rPr lang="en-US" altLang="ko-KR" sz="1000" dirty="0">
                  <a:solidFill>
                    <a:schemeClr val="tx1"/>
                  </a:solidFill>
                </a:rPr>
                <a:t>(</a:t>
              </a:r>
              <a:r>
                <a:rPr lang="ko-KR" altLang="en-US" sz="1000" dirty="0">
                  <a:solidFill>
                    <a:schemeClr val="tx1"/>
                  </a:solidFill>
                </a:rPr>
                <a:t>부품</a:t>
              </a:r>
              <a:r>
                <a:rPr lang="en-US" altLang="ko-KR" sz="1000" dirty="0">
                  <a:solidFill>
                    <a:schemeClr val="tx1"/>
                  </a:solidFill>
                </a:rPr>
                <a:t>)]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열에서 </a:t>
              </a:r>
              <a:r>
                <a:rPr lang="en-US" altLang="ko-KR" sz="1000" dirty="0">
                  <a:solidFill>
                    <a:schemeClr val="tx1"/>
                  </a:solidFill>
                </a:rPr>
                <a:t>“N”</a:t>
              </a:r>
              <a:r>
                <a:rPr lang="ko-KR" altLang="en-US" sz="1000" dirty="0">
                  <a:solidFill>
                    <a:schemeClr val="tx1"/>
                  </a:solidFill>
                </a:rPr>
                <a:t>인 데이터 필터링</a:t>
              </a:r>
              <a:r>
                <a:rPr lang="en-US" altLang="ko-KR" sz="1000" dirty="0">
                  <a:solidFill>
                    <a:schemeClr val="tx1"/>
                  </a:solidFill>
                </a:rPr>
                <a:t>(</a:t>
              </a:r>
              <a:r>
                <a:rPr lang="ko-KR" altLang="en-US" sz="1000" dirty="0">
                  <a:solidFill>
                    <a:schemeClr val="tx1"/>
                  </a:solidFill>
                </a:rPr>
                <a:t>비어있는 경우 </a:t>
              </a:r>
              <a:r>
                <a:rPr lang="en-US" altLang="ko-KR" sz="1000" dirty="0">
                  <a:solidFill>
                    <a:schemeClr val="tx1"/>
                  </a:solidFill>
                </a:rPr>
                <a:t>“N”</a:t>
              </a:r>
              <a:r>
                <a:rPr lang="ko-KR" altLang="en-US" sz="1000" dirty="0">
                  <a:solidFill>
                    <a:schemeClr val="tx1"/>
                  </a:solidFill>
                </a:rPr>
                <a:t>으로 업데이트</a:t>
              </a:r>
              <a:r>
                <a:rPr lang="en-US" altLang="ko-KR" sz="1000" dirty="0">
                  <a:solidFill>
                    <a:schemeClr val="tx1"/>
                  </a:solidFill>
                </a:rPr>
                <a:t>)</a:t>
              </a: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조치 필터링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[</a:t>
              </a:r>
              <a:r>
                <a:rPr lang="ko-KR" altLang="en-US" sz="1000" dirty="0">
                  <a:solidFill>
                    <a:schemeClr val="tx1"/>
                  </a:solidFill>
                </a:rPr>
                <a:t>조치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열에서 </a:t>
              </a:r>
              <a:r>
                <a:rPr lang="en-US" altLang="ko-KR" sz="1000" dirty="0">
                  <a:solidFill>
                    <a:schemeClr val="tx1"/>
                  </a:solidFill>
                </a:rPr>
                <a:t>“</a:t>
              </a:r>
              <a:r>
                <a:rPr lang="ko-KR" altLang="en-US" sz="1000" dirty="0">
                  <a:solidFill>
                    <a:schemeClr val="tx1"/>
                  </a:solidFill>
                </a:rPr>
                <a:t>유상거부</a:t>
              </a:r>
              <a:r>
                <a:rPr lang="en-US" altLang="ko-KR" sz="1000" dirty="0">
                  <a:solidFill>
                    <a:schemeClr val="tx1"/>
                  </a:solidFill>
                </a:rPr>
                <a:t>”, ”</a:t>
              </a:r>
              <a:r>
                <a:rPr lang="ko-KR" altLang="en-US" sz="1000" dirty="0">
                  <a:solidFill>
                    <a:schemeClr val="tx1"/>
                  </a:solidFill>
                </a:rPr>
                <a:t>타사품</a:t>
              </a:r>
              <a:r>
                <a:rPr lang="en-US" altLang="ko-KR" sz="1000" dirty="0">
                  <a:solidFill>
                    <a:schemeClr val="tx1"/>
                  </a:solidFill>
                </a:rPr>
                <a:t>”, “</a:t>
              </a:r>
              <a:r>
                <a:rPr lang="ko-KR" altLang="en-US" sz="1000" dirty="0">
                  <a:solidFill>
                    <a:schemeClr val="tx1"/>
                  </a:solidFill>
                </a:rPr>
                <a:t>전화처리</a:t>
              </a:r>
              <a:r>
                <a:rPr lang="en-US" altLang="ko-KR" sz="1000" dirty="0">
                  <a:solidFill>
                    <a:schemeClr val="tx1"/>
                  </a:solidFill>
                </a:rPr>
                <a:t>”, “</a:t>
              </a:r>
              <a:r>
                <a:rPr lang="ko-KR" altLang="en-US" sz="1000" dirty="0">
                  <a:solidFill>
                    <a:schemeClr val="tx1"/>
                  </a:solidFill>
                </a:rPr>
                <a:t>처리이관</a:t>
              </a:r>
              <a:r>
                <a:rPr lang="en-US" altLang="ko-KR" sz="1000" dirty="0">
                  <a:solidFill>
                    <a:schemeClr val="tx1"/>
                  </a:solidFill>
                </a:rPr>
                <a:t>”, “</a:t>
              </a:r>
              <a:r>
                <a:rPr lang="ko-KR" altLang="en-US" sz="1000" dirty="0">
                  <a:solidFill>
                    <a:schemeClr val="tx1"/>
                  </a:solidFill>
                </a:rPr>
                <a:t>사용설명</a:t>
              </a:r>
              <a:r>
                <a:rPr lang="en-US" altLang="ko-KR" sz="1000" dirty="0">
                  <a:solidFill>
                    <a:schemeClr val="tx1"/>
                  </a:solidFill>
                </a:rPr>
                <a:t>”</a:t>
              </a:r>
              <a:r>
                <a:rPr lang="ko-KR" altLang="en-US" sz="1000" dirty="0">
                  <a:solidFill>
                    <a:schemeClr val="tx1"/>
                  </a:solidFill>
                </a:rPr>
                <a:t>이 아닌 데이터 필터링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“</a:t>
              </a:r>
              <a:r>
                <a:rPr lang="ko-KR" altLang="en-US" sz="1000" dirty="0">
                  <a:solidFill>
                    <a:schemeClr val="tx1"/>
                  </a:solidFill>
                </a:rPr>
                <a:t>씨랩시스</a:t>
              </a:r>
              <a:r>
                <a:rPr lang="en-US" altLang="ko-KR" sz="1000" dirty="0">
                  <a:solidFill>
                    <a:schemeClr val="tx1"/>
                  </a:solidFill>
                </a:rPr>
                <a:t>” </a:t>
              </a:r>
              <a:r>
                <a:rPr lang="ko-KR" altLang="en-US" sz="1000" dirty="0">
                  <a:solidFill>
                    <a:schemeClr val="tx1"/>
                  </a:solidFill>
                </a:rPr>
                <a:t>시트 생성 후 필터링된 데이터 작성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F36E55C-BED1-57BB-9FF7-0956682BD9FA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A4EE5CBA-735E-BD25-C1CD-CBA1D36CC90B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FB025CF9-DCF1-5456-D605-35E1ED1B2BAE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사전 작업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 </a:t>
              </a:r>
              <a:r>
                <a:rPr lang="ko-KR" altLang="en-US" sz="1000" dirty="0">
                  <a:solidFill>
                    <a:schemeClr val="tx1"/>
                  </a:solidFill>
                </a:rPr>
                <a:t>시트 명 변경</a:t>
              </a:r>
              <a:r>
                <a:rPr lang="en-US" altLang="ko-KR" sz="1000" dirty="0">
                  <a:solidFill>
                    <a:schemeClr val="tx1"/>
                  </a:solidFill>
                </a:rPr>
                <a:t>(Table1 -&gt; </a:t>
              </a:r>
              <a:r>
                <a:rPr lang="ko-KR" altLang="en-US" sz="1000" dirty="0">
                  <a:solidFill>
                    <a:schemeClr val="tx1"/>
                  </a:solidFill>
                </a:rPr>
                <a:t>원본</a:t>
              </a:r>
              <a:r>
                <a:rPr lang="en-US" altLang="ko-KR" sz="1000" dirty="0">
                  <a:solidFill>
                    <a:schemeClr val="tx1"/>
                  </a:solidFill>
                </a:rPr>
                <a:t>)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FC150449-8CB9-7223-87FF-2F46D88C3E58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7C82A2A5-867A-B836-14D8-A608871E4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17" y="1882595"/>
            <a:ext cx="2371410" cy="4307084"/>
          </a:xfrm>
          <a:prstGeom prst="rect">
            <a:avLst/>
          </a:prstGeom>
        </p:spPr>
      </p:pic>
      <p:pic>
        <p:nvPicPr>
          <p:cNvPr id="9" name="그래픽 8" descr="배지 1 윤곽선">
            <a:extLst>
              <a:ext uri="{FF2B5EF4-FFF2-40B4-BE49-F238E27FC236}">
                <a16:creationId xmlns:a16="http://schemas.microsoft.com/office/drawing/2014/main" id="{CB94E368-C5CF-CCEE-2D54-C1F805A018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4009" y="1430824"/>
            <a:ext cx="429853" cy="42985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4F32733-352D-CD70-3349-0DDC811618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6451" y="1882595"/>
            <a:ext cx="2321133" cy="4348982"/>
          </a:xfrm>
          <a:prstGeom prst="rect">
            <a:avLst/>
          </a:prstGeom>
        </p:spPr>
      </p:pic>
      <p:pic>
        <p:nvPicPr>
          <p:cNvPr id="17" name="그래픽 16" descr="배지 윤곽선">
            <a:extLst>
              <a:ext uri="{FF2B5EF4-FFF2-40B4-BE49-F238E27FC236}">
                <a16:creationId xmlns:a16="http://schemas.microsoft.com/office/drawing/2014/main" id="{5E31CDB7-5E43-DD2F-2986-650A6DD2B0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3752090" y="1433458"/>
            <a:ext cx="429853" cy="429853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FAA93ED2-FC88-2652-5380-EB7E15EDAE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87159" y="1882595"/>
            <a:ext cx="2335879" cy="4348982"/>
          </a:xfrm>
          <a:prstGeom prst="rect">
            <a:avLst/>
          </a:prstGeom>
        </p:spPr>
      </p:pic>
      <p:pic>
        <p:nvPicPr>
          <p:cNvPr id="20" name="그래픽 19" descr="배지 3 윤곽선">
            <a:extLst>
              <a:ext uri="{FF2B5EF4-FFF2-40B4-BE49-F238E27FC236}">
                <a16:creationId xmlns:a16="http://schemas.microsoft.com/office/drawing/2014/main" id="{9E2059DC-E1E5-E697-0779-736271D298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6340171" y="1430825"/>
            <a:ext cx="429853" cy="42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6433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2573D-9420-DAA1-6FA3-E8C5F8BF6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453AE8-A679-065B-B267-D943BA263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4) </a:t>
            </a:r>
            <a:r>
              <a:rPr lang="ko-KR" altLang="en-US" sz="2400" dirty="0">
                <a:latin typeface="+mn-ea"/>
                <a:ea typeface="+mn-ea"/>
              </a:rPr>
              <a:t>씨랩시스 </a:t>
            </a:r>
            <a:r>
              <a:rPr lang="en-US" altLang="ko-KR" sz="2400" dirty="0">
                <a:latin typeface="+mn-ea"/>
                <a:ea typeface="+mn-ea"/>
              </a:rPr>
              <a:t>[</a:t>
            </a:r>
            <a:r>
              <a:rPr lang="ko-KR" altLang="en-US" sz="2400" dirty="0">
                <a:latin typeface="+mn-ea"/>
                <a:ea typeface="+mn-ea"/>
              </a:rPr>
              <a:t>코드 필터링</a:t>
            </a:r>
            <a:r>
              <a:rPr lang="en-US" altLang="ko-KR" sz="2400" dirty="0">
                <a:latin typeface="+mn-ea"/>
                <a:ea typeface="+mn-ea"/>
              </a:rPr>
              <a:t>]</a:t>
            </a: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7B12F51-E8DC-8E9F-DABA-A3284D2BF782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8EA84EBD-87FE-DAC3-46CF-D89AF7D940D8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72CBECC-8004-FD61-5915-AD6D907893C5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사용 파일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</a:t>
              </a: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코드 필터링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RB1600,RB1650,RB1680 / </a:t>
              </a:r>
              <a:r>
                <a:rPr lang="ko-KR" altLang="en-US" sz="1000" dirty="0">
                  <a:solidFill>
                    <a:schemeClr val="tx1"/>
                  </a:solidFill>
                </a:rPr>
                <a:t>부품코드명 </a:t>
              </a:r>
              <a:r>
                <a:rPr lang="en-US" altLang="ko-KR" sz="1000" dirty="0">
                  <a:solidFill>
                    <a:schemeClr val="tx1"/>
                  </a:solidFill>
                </a:rPr>
                <a:t>= </a:t>
              </a:r>
              <a:r>
                <a:rPr lang="ko-KR" altLang="en-US" sz="1000" dirty="0">
                  <a:solidFill>
                    <a:schemeClr val="tx1"/>
                  </a:solidFill>
                </a:rPr>
                <a:t>조작부</a:t>
              </a:r>
              <a:r>
                <a:rPr lang="en-US" altLang="ko-KR" sz="1000" dirty="0">
                  <a:solidFill>
                    <a:schemeClr val="tx1"/>
                  </a:solidFill>
                </a:rPr>
                <a:t>, </a:t>
              </a:r>
              <a:r>
                <a:rPr lang="ko-KR" altLang="en-US" sz="1000" dirty="0">
                  <a:solidFill>
                    <a:schemeClr val="tx1"/>
                  </a:solidFill>
                </a:rPr>
                <a:t>컨트롤러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F7F8B78-2FA5-E503-4ED1-69ABCD7ADF04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665FECB-1C14-B43C-AB19-508AFE2E8A59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FACEEDF-093E-74EE-15B5-D75928262D3C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E53F49E-6CFF-837A-91F7-6E31E85CBC91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래픽 8" descr="배지 1 윤곽선">
            <a:extLst>
              <a:ext uri="{FF2B5EF4-FFF2-40B4-BE49-F238E27FC236}">
                <a16:creationId xmlns:a16="http://schemas.microsoft.com/office/drawing/2014/main" id="{D4EFAFDA-523F-F5D8-A6CA-8DD3C97DA8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52089" y="1433458"/>
            <a:ext cx="429853" cy="42985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2671CB7-7FDB-B807-7ECB-0A50093F60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1435" y="1937202"/>
            <a:ext cx="2591162" cy="468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3562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64C94-59E9-8328-FEEC-8FEFECA9E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DB1CF0B5-BB22-0BF5-1824-2274D0513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565" y="1115290"/>
            <a:ext cx="3324995" cy="546331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C6A5DDD-1264-8444-B524-366592BEC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1) </a:t>
            </a:r>
            <a:r>
              <a:rPr lang="ko-KR" altLang="en-US" sz="2400" dirty="0">
                <a:latin typeface="+mn-ea"/>
                <a:ea typeface="+mn-ea"/>
              </a:rPr>
              <a:t>에이스 라이프 </a:t>
            </a:r>
            <a:r>
              <a:rPr lang="en-US" altLang="ko-KR" sz="2400" dirty="0">
                <a:latin typeface="+mn-ea"/>
                <a:ea typeface="+mn-ea"/>
              </a:rPr>
              <a:t>[</a:t>
            </a:r>
            <a:r>
              <a:rPr lang="ko-KR" altLang="en-US" sz="2400" dirty="0">
                <a:latin typeface="+mn-ea"/>
                <a:ea typeface="+mn-ea"/>
              </a:rPr>
              <a:t>불필요 칼럼 삭제</a:t>
            </a:r>
            <a:r>
              <a:rPr lang="en-US" altLang="ko-KR" sz="2400" dirty="0">
                <a:latin typeface="+mn-ea"/>
                <a:ea typeface="+mn-ea"/>
              </a:rPr>
              <a:t>]</a:t>
            </a: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A006D40-5CF6-3088-D196-A471EDCAE357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38E736D5-6DC8-D583-9863-E00A7E283FAC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5D00D1A-C0BC-EB33-26F8-3B703BD5409B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사용 파일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.xlsx, </a:t>
              </a:r>
              <a:r>
                <a:rPr lang="ko-KR" altLang="en-US" sz="1000" dirty="0">
                  <a:solidFill>
                    <a:schemeClr val="tx1"/>
                  </a:solidFill>
                </a:rPr>
                <a:t>삭제 열 리스트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</a:t>
              </a: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삭제 열 리스트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</a:t>
              </a:r>
              <a:r>
                <a:rPr lang="ko-KR" altLang="en-US" sz="1000" dirty="0">
                  <a:solidFill>
                    <a:schemeClr val="tx1"/>
                  </a:solidFill>
                </a:rPr>
                <a:t>에서 </a:t>
              </a:r>
              <a:r>
                <a:rPr lang="en-US" altLang="ko-KR" sz="1000" dirty="0">
                  <a:solidFill>
                    <a:schemeClr val="tx1"/>
                  </a:solidFill>
                </a:rPr>
                <a:t>“</a:t>
              </a:r>
              <a:r>
                <a:rPr lang="ko-KR" altLang="en-US" sz="1000" dirty="0">
                  <a:solidFill>
                    <a:schemeClr val="tx1"/>
                  </a:solidFill>
                </a:rPr>
                <a:t>에이스라이프</a:t>
              </a:r>
              <a:r>
                <a:rPr lang="en-US" altLang="ko-KR" sz="1000" dirty="0">
                  <a:solidFill>
                    <a:schemeClr val="tx1"/>
                  </a:solidFill>
                </a:rPr>
                <a:t>”</a:t>
              </a:r>
              <a:r>
                <a:rPr lang="ko-KR" altLang="en-US" sz="1000" dirty="0">
                  <a:solidFill>
                    <a:schemeClr val="tx1"/>
                  </a:solidFill>
                </a:rPr>
                <a:t> 시트의 데이터 읽기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</a:t>
              </a:r>
              <a:r>
                <a:rPr lang="ko-KR" altLang="en-US" sz="1000" dirty="0">
                  <a:solidFill>
                    <a:schemeClr val="tx1"/>
                  </a:solidFill>
                </a:rPr>
                <a:t>에서 </a:t>
              </a:r>
              <a:r>
                <a:rPr lang="en-US" altLang="ko-KR" sz="1000" dirty="0">
                  <a:solidFill>
                    <a:schemeClr val="tx1"/>
                  </a:solidFill>
                </a:rPr>
                <a:t>“</a:t>
              </a:r>
              <a:r>
                <a:rPr lang="ko-KR" altLang="en-US" sz="1000" dirty="0">
                  <a:solidFill>
                    <a:schemeClr val="tx1"/>
                  </a:solidFill>
                </a:rPr>
                <a:t>에이스라이프</a:t>
              </a:r>
              <a:r>
                <a:rPr lang="en-US" altLang="ko-KR" sz="1000" dirty="0">
                  <a:solidFill>
                    <a:schemeClr val="tx1"/>
                  </a:solidFill>
                </a:rPr>
                <a:t>”</a:t>
              </a:r>
              <a:r>
                <a:rPr lang="ko-KR" altLang="en-US" sz="1000" dirty="0">
                  <a:solidFill>
                    <a:schemeClr val="tx1"/>
                  </a:solidFill>
                </a:rPr>
                <a:t> 시트의 칼럼 삭제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FE7F190-BA3E-291F-6324-C77C1B1ECD34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CB8283E-5DAA-6325-33B1-413CBF960A5A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F089132-2C1B-313E-E9C3-DB45C9311BE3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삭제할 칼럼이 수정될 시 삭제 열 리스트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 </a:t>
              </a:r>
              <a:r>
                <a:rPr lang="ko-KR" altLang="en-US" sz="1000" dirty="0">
                  <a:solidFill>
                    <a:schemeClr val="tx1"/>
                  </a:solidFill>
                </a:rPr>
                <a:t>파일에 업데이트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BAA5BA4-CC38-4A85-A5D2-124D290414C9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래픽 8" descr="배지 1 윤곽선">
            <a:extLst>
              <a:ext uri="{FF2B5EF4-FFF2-40B4-BE49-F238E27FC236}">
                <a16:creationId xmlns:a16="http://schemas.microsoft.com/office/drawing/2014/main" id="{CCB70E00-FE97-9F52-65C8-7E4F10283E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5334" y="2034127"/>
            <a:ext cx="429853" cy="429853"/>
          </a:xfrm>
          <a:prstGeom prst="rect">
            <a:avLst/>
          </a:prstGeom>
        </p:spPr>
      </p:pic>
      <p:pic>
        <p:nvPicPr>
          <p:cNvPr id="17" name="그래픽 16" descr="배지 윤곽선">
            <a:extLst>
              <a:ext uri="{FF2B5EF4-FFF2-40B4-BE49-F238E27FC236}">
                <a16:creationId xmlns:a16="http://schemas.microsoft.com/office/drawing/2014/main" id="{8071F545-1DBD-A595-670F-894466BE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530273" y="3580397"/>
            <a:ext cx="429853" cy="42985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D0FFA6B-0962-E165-EB83-37FBCA1321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6436" y="4084141"/>
            <a:ext cx="6017528" cy="2494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830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0F8BF-1E93-7EDE-5436-DC97FC963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2D54D5A-E537-FB18-AF2D-90704259A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588" y="1248995"/>
            <a:ext cx="3580859" cy="51959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4BD2050-7488-6D3F-858D-E19057DD5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4) </a:t>
            </a:r>
            <a:r>
              <a:rPr lang="ko-KR" altLang="en-US" sz="2400" dirty="0">
                <a:latin typeface="+mn-ea"/>
                <a:ea typeface="+mn-ea"/>
              </a:rPr>
              <a:t>씨랩시스 </a:t>
            </a:r>
            <a:r>
              <a:rPr lang="en-US" altLang="ko-KR" sz="2400" dirty="0">
                <a:latin typeface="+mn-ea"/>
                <a:ea typeface="+mn-ea"/>
              </a:rPr>
              <a:t>[</a:t>
            </a:r>
            <a:r>
              <a:rPr lang="ko-KR" altLang="en-US" sz="2400" dirty="0">
                <a:latin typeface="+mn-ea"/>
                <a:ea typeface="+mn-ea"/>
              </a:rPr>
              <a:t>조치 열 값 변경</a:t>
            </a:r>
            <a:r>
              <a:rPr lang="en-US" altLang="ko-KR" sz="2400" dirty="0">
                <a:latin typeface="+mn-ea"/>
                <a:ea typeface="+mn-ea"/>
              </a:rPr>
              <a:t>]</a:t>
            </a: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83B46EB-F8FD-5C42-764E-4288E338DBC3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75EF658-FEC7-E064-8255-313F21300C68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7655777-4BBB-B13B-4CCA-85FAF22759EC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사용 파일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</a:t>
              </a: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부품코드가 </a:t>
              </a:r>
              <a:r>
                <a:rPr lang="en-US" altLang="ko-KR" sz="1000" dirty="0">
                  <a:solidFill>
                    <a:schemeClr val="tx1"/>
                  </a:solidFill>
                </a:rPr>
                <a:t>XX : [</a:t>
              </a:r>
              <a:r>
                <a:rPr lang="ko-KR" altLang="en-US" sz="1000" dirty="0">
                  <a:solidFill>
                    <a:schemeClr val="tx1"/>
                  </a:solidFill>
                </a:rPr>
                <a:t>조치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 </a:t>
              </a:r>
              <a:r>
                <a:rPr lang="en-US" altLang="ko-KR" sz="1000" dirty="0">
                  <a:solidFill>
                    <a:schemeClr val="tx1"/>
                  </a:solidFill>
                </a:rPr>
                <a:t>=&gt; </a:t>
              </a:r>
              <a:r>
                <a:rPr lang="ko-KR" altLang="en-US" sz="1000" dirty="0">
                  <a:solidFill>
                    <a:schemeClr val="tx1"/>
                  </a:solidFill>
                </a:rPr>
                <a:t>수리및조정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부품코드가 </a:t>
              </a:r>
              <a:r>
                <a:rPr lang="en-US" altLang="ko-KR" sz="1000" dirty="0">
                  <a:solidFill>
                    <a:schemeClr val="tx1"/>
                  </a:solidFill>
                </a:rPr>
                <a:t>XX</a:t>
              </a:r>
              <a:r>
                <a:rPr lang="ko-KR" altLang="en-US" sz="1000" dirty="0">
                  <a:solidFill>
                    <a:schemeClr val="tx1"/>
                  </a:solidFill>
                </a:rPr>
                <a:t>가 아님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[</a:t>
              </a:r>
              <a:r>
                <a:rPr lang="ko-KR" altLang="en-US" sz="1000" dirty="0">
                  <a:solidFill>
                    <a:schemeClr val="tx1"/>
                  </a:solidFill>
                </a:rPr>
                <a:t>조치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 </a:t>
              </a:r>
              <a:r>
                <a:rPr lang="en-US" altLang="ko-KR" sz="1000" dirty="0">
                  <a:solidFill>
                    <a:schemeClr val="tx1"/>
                  </a:solidFill>
                </a:rPr>
                <a:t>=&gt; </a:t>
              </a:r>
              <a:r>
                <a:rPr lang="ko-KR" altLang="en-US" sz="1000" dirty="0">
                  <a:solidFill>
                    <a:schemeClr val="tx1"/>
                  </a:solidFill>
                </a:rPr>
                <a:t>부품교환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8C828C9-8B55-64CB-9B9C-377FB6F3A3E0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35CCCD44-EB12-D98D-2440-8E1839C4C426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4140A94-41E6-9267-37E6-06EB12574B8A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[</a:t>
              </a:r>
              <a:r>
                <a:rPr lang="ko-KR" altLang="en-US" sz="1000" dirty="0">
                  <a:solidFill>
                    <a:schemeClr val="tx1"/>
                  </a:solidFill>
                </a:rPr>
                <a:t>원인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열은 업무 담당자가 수기 처리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D14BE3A-8927-DE40-E6DC-7EC633C0E159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래픽 8" descr="배지 1 윤곽선">
            <a:extLst>
              <a:ext uri="{FF2B5EF4-FFF2-40B4-BE49-F238E27FC236}">
                <a16:creationId xmlns:a16="http://schemas.microsoft.com/office/drawing/2014/main" id="{AB8D6FBD-2503-F52D-6452-8D2CC37EFD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52090" y="960177"/>
            <a:ext cx="429853" cy="42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110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FDF6C-B148-0EFC-9332-EB4DE6043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46EF73-7785-0D20-E8DF-C5E029805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4) </a:t>
            </a:r>
            <a:r>
              <a:rPr lang="ko-KR" altLang="en-US" sz="2400" dirty="0">
                <a:latin typeface="+mn-ea"/>
              </a:rPr>
              <a:t>씨랩시스</a:t>
            </a:r>
            <a:r>
              <a:rPr lang="ko-KR" altLang="en-US" sz="2400" dirty="0">
                <a:latin typeface="+mn-ea"/>
                <a:ea typeface="+mn-ea"/>
              </a:rPr>
              <a:t> </a:t>
            </a:r>
            <a:r>
              <a:rPr lang="en-US" altLang="ko-KR" sz="2400" dirty="0">
                <a:latin typeface="+mn-ea"/>
                <a:ea typeface="+mn-ea"/>
              </a:rPr>
              <a:t>[</a:t>
            </a:r>
            <a:r>
              <a:rPr lang="ko-KR" altLang="en-US" sz="2400" dirty="0">
                <a:latin typeface="+mn-ea"/>
                <a:ea typeface="+mn-ea"/>
              </a:rPr>
              <a:t>전화번호 관련 열 이름 변경</a:t>
            </a:r>
            <a:r>
              <a:rPr lang="en-US" altLang="ko-KR" sz="2400" dirty="0">
                <a:latin typeface="+mn-ea"/>
                <a:ea typeface="+mn-ea"/>
              </a:rPr>
              <a:t>]</a:t>
            </a: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26DFC8C-82F8-B87B-4BC2-203E4E2BF149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95354FD-3FF3-F668-9AE0-831028395E61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DF77F4B-7929-D133-42AC-7646F5FA9C4D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사용 파일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</a:t>
              </a: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전화번호 관련 열</a:t>
              </a:r>
              <a:r>
                <a:rPr lang="en-US" altLang="ko-KR" sz="1000" dirty="0">
                  <a:solidFill>
                    <a:schemeClr val="tx1"/>
                  </a:solidFill>
                </a:rPr>
                <a:t> </a:t>
              </a:r>
              <a:r>
                <a:rPr lang="ko-KR" altLang="en-US" sz="1000" dirty="0">
                  <a:solidFill>
                    <a:schemeClr val="tx1"/>
                  </a:solidFill>
                </a:rPr>
                <a:t>변경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유선전화</a:t>
              </a:r>
              <a:r>
                <a:rPr lang="en-US" altLang="ko-KR" sz="1000" dirty="0">
                  <a:solidFill>
                    <a:schemeClr val="tx1"/>
                  </a:solidFill>
                </a:rPr>
                <a:t>, </a:t>
              </a:r>
              <a:r>
                <a:rPr lang="ko-KR" altLang="en-US" sz="1000" dirty="0">
                  <a:solidFill>
                    <a:schemeClr val="tx1"/>
                  </a:solidFill>
                </a:rPr>
                <a:t>휴대전화</a:t>
              </a:r>
              <a:r>
                <a:rPr lang="en-US" altLang="ko-KR" sz="1000" dirty="0">
                  <a:solidFill>
                    <a:schemeClr val="tx1"/>
                  </a:solidFill>
                </a:rPr>
                <a:t>,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연락처 </a:t>
              </a:r>
              <a:r>
                <a:rPr lang="en-US" altLang="ko-KR" sz="1000" dirty="0">
                  <a:solidFill>
                    <a:schemeClr val="tx1"/>
                  </a:solidFill>
                </a:rPr>
                <a:t>-&gt; </a:t>
              </a:r>
              <a:r>
                <a:rPr lang="ko-KR" altLang="en-US" sz="1000" dirty="0">
                  <a:solidFill>
                    <a:schemeClr val="tx1"/>
                  </a:solidFill>
                </a:rPr>
                <a:t>전화번호</a:t>
              </a:r>
              <a:r>
                <a:rPr lang="en-US" altLang="ko-KR" sz="1000" dirty="0">
                  <a:solidFill>
                    <a:schemeClr val="tx1"/>
                  </a:solidFill>
                </a:rPr>
                <a:t>1,</a:t>
              </a:r>
              <a:r>
                <a:rPr lang="ko-KR" altLang="en-US" sz="1000" dirty="0">
                  <a:solidFill>
                    <a:schemeClr val="tx1"/>
                  </a:solidFill>
                </a:rPr>
                <a:t> 전화번호</a:t>
              </a:r>
              <a:r>
                <a:rPr lang="en-US" altLang="ko-KR" sz="1000" dirty="0">
                  <a:solidFill>
                    <a:schemeClr val="tx1"/>
                  </a:solidFill>
                </a:rPr>
                <a:t>2, </a:t>
              </a:r>
              <a:r>
                <a:rPr lang="ko-KR" altLang="en-US" sz="1000" dirty="0">
                  <a:solidFill>
                    <a:schemeClr val="tx1"/>
                  </a:solidFill>
                </a:rPr>
                <a:t>전화번호</a:t>
              </a:r>
              <a:r>
                <a:rPr lang="en-US" altLang="ko-KR" sz="1000" dirty="0">
                  <a:solidFill>
                    <a:schemeClr val="tx1"/>
                  </a:solidFill>
                </a:rPr>
                <a:t>3</a:t>
              </a: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4E0EC13-B9B7-3775-21AF-C53947FF139E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318B764D-55C0-3797-02B3-0E0AA194F821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058332B-7A4F-0DD2-B050-822EE65E3023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325270D8-3E53-6BBB-DA18-462AC93CF849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래픽 8" descr="배지 1 윤곽선">
            <a:extLst>
              <a:ext uri="{FF2B5EF4-FFF2-40B4-BE49-F238E27FC236}">
                <a16:creationId xmlns:a16="http://schemas.microsoft.com/office/drawing/2014/main" id="{6CBDFB9A-4F9C-2A5D-5A41-21954DDFF1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82631" y="2851365"/>
            <a:ext cx="429853" cy="42985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8C02493-B25B-C5A2-9ACD-7073327877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11" y="1640284"/>
            <a:ext cx="3287437" cy="431255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0C028DE-4A24-DCDF-1329-2D906D37D9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1558" y="1426087"/>
            <a:ext cx="3168884" cy="4762277"/>
          </a:xfrm>
          <a:prstGeom prst="rect">
            <a:avLst/>
          </a:prstGeom>
        </p:spPr>
      </p:pic>
      <p:pic>
        <p:nvPicPr>
          <p:cNvPr id="17" name="그래픽 16" descr="오른쪽 화살표 단색으로 채워진">
            <a:extLst>
              <a:ext uri="{FF2B5EF4-FFF2-40B4-BE49-F238E27FC236}">
                <a16:creationId xmlns:a16="http://schemas.microsoft.com/office/drawing/2014/main" id="{416511C7-C17C-F1D3-6A3F-6631486789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04003" y="333936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8396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B5EC8-A5C6-5FC2-B6B4-48ED58A73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CE206A-8524-783A-5305-CADA4ED37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4) </a:t>
            </a:r>
            <a:r>
              <a:rPr lang="ko-KR" altLang="en-US" sz="2400" dirty="0">
                <a:latin typeface="+mn-ea"/>
              </a:rPr>
              <a:t>씨랩시스</a:t>
            </a:r>
            <a:r>
              <a:rPr lang="ko-KR" altLang="en-US" sz="2400" dirty="0">
                <a:latin typeface="+mn-ea"/>
                <a:ea typeface="+mn-ea"/>
              </a:rPr>
              <a:t> </a:t>
            </a:r>
            <a:r>
              <a:rPr lang="en-US" altLang="ko-KR" sz="2400" dirty="0">
                <a:latin typeface="+mn-ea"/>
                <a:ea typeface="+mn-ea"/>
              </a:rPr>
              <a:t>[AS </a:t>
            </a:r>
            <a:r>
              <a:rPr lang="ko-KR" altLang="en-US" sz="2400" dirty="0">
                <a:latin typeface="+mn-ea"/>
                <a:ea typeface="+mn-ea"/>
              </a:rPr>
              <a:t>대행료 변경</a:t>
            </a:r>
            <a:r>
              <a:rPr lang="en-US" altLang="ko-KR" sz="2400" dirty="0">
                <a:latin typeface="+mn-ea"/>
                <a:ea typeface="+mn-ea"/>
              </a:rPr>
              <a:t>]</a:t>
            </a: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706109E-6777-558B-6338-591454AAFEEC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0FC99B4-5423-C4F3-E7FE-CFC694E5AD4A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CEB5F13-034B-BFCC-3C24-BFCAD3E965E4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사용 파일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</a:t>
              </a: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[</a:t>
              </a:r>
              <a:r>
                <a:rPr lang="ko-KR" altLang="en-US" sz="1000" dirty="0">
                  <a:solidFill>
                    <a:schemeClr val="tx1"/>
                  </a:solidFill>
                </a:rPr>
                <a:t>라인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열이 </a:t>
              </a:r>
              <a:r>
                <a:rPr lang="en-US" altLang="ko-KR" sz="1000" dirty="0">
                  <a:solidFill>
                    <a:schemeClr val="tx1"/>
                  </a:solidFill>
                </a:rPr>
                <a:t>1</a:t>
              </a:r>
              <a:r>
                <a:rPr lang="ko-KR" altLang="en-US" sz="1000" dirty="0">
                  <a:solidFill>
                    <a:schemeClr val="tx1"/>
                  </a:solidFill>
                </a:rPr>
                <a:t>인 경우에만 </a:t>
              </a:r>
              <a:r>
                <a:rPr lang="en-US" altLang="ko-KR" sz="1000" dirty="0">
                  <a:solidFill>
                    <a:schemeClr val="tx1"/>
                  </a:solidFill>
                </a:rPr>
                <a:t>AS </a:t>
              </a:r>
              <a:r>
                <a:rPr lang="ko-KR" altLang="en-US" sz="1000" dirty="0">
                  <a:solidFill>
                    <a:schemeClr val="tx1"/>
                  </a:solidFill>
                </a:rPr>
                <a:t>대행료 변경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[</a:t>
              </a:r>
              <a:r>
                <a:rPr lang="ko-KR" altLang="en-US" sz="1000" dirty="0">
                  <a:solidFill>
                    <a:schemeClr val="tx1"/>
                  </a:solidFill>
                </a:rPr>
                <a:t>지역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열의 </a:t>
              </a:r>
              <a:r>
                <a:rPr lang="en-US" altLang="ko-KR" sz="1000" dirty="0">
                  <a:solidFill>
                    <a:schemeClr val="tx1"/>
                  </a:solidFill>
                </a:rPr>
                <a:t>ZONE</a:t>
              </a:r>
              <a:r>
                <a:rPr lang="ko-KR" altLang="en-US" sz="1000" dirty="0">
                  <a:solidFill>
                    <a:schemeClr val="tx1"/>
                  </a:solidFill>
                </a:rPr>
                <a:t>에 따른 값 변경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685800" lvl="1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ZONE1 : 13,000</a:t>
              </a:r>
            </a:p>
            <a:p>
              <a:pPr marL="685800" lvl="1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ZONE2 : 22,000</a:t>
              </a:r>
            </a:p>
            <a:p>
              <a:pPr marL="685800" lvl="1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ZONE3 : 33,000</a:t>
              </a: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[AS</a:t>
              </a:r>
              <a:r>
                <a:rPr lang="ko-KR" altLang="en-US" sz="1000" dirty="0">
                  <a:solidFill>
                    <a:schemeClr val="tx1"/>
                  </a:solidFill>
                </a:rPr>
                <a:t>대행료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열에 데이터 업데이트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lvl="1"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758756F8-88D9-CB32-0E45-CB3C7F8A46E5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49CAA743-F22D-8CF5-2DE5-901312177AE4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840A081-8BFD-AB5E-CF8A-89D417D5F5AA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[</a:t>
              </a:r>
              <a:r>
                <a:rPr lang="ko-KR" altLang="en-US" sz="1000" dirty="0">
                  <a:solidFill>
                    <a:schemeClr val="tx1"/>
                  </a:solidFill>
                </a:rPr>
                <a:t>라인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열이 </a:t>
              </a:r>
              <a:r>
                <a:rPr lang="en-US" altLang="ko-KR" sz="1000" dirty="0">
                  <a:solidFill>
                    <a:schemeClr val="tx1"/>
                  </a:solidFill>
                </a:rPr>
                <a:t>1</a:t>
              </a:r>
              <a:r>
                <a:rPr lang="ko-KR" altLang="en-US" sz="1000" dirty="0">
                  <a:solidFill>
                    <a:schemeClr val="tx1"/>
                  </a:solidFill>
                </a:rPr>
                <a:t>이 아닌 데이터는 </a:t>
              </a:r>
              <a:r>
                <a:rPr lang="en-US" altLang="ko-KR" sz="1000" dirty="0">
                  <a:solidFill>
                    <a:schemeClr val="tx1"/>
                  </a:solidFill>
                </a:rPr>
                <a:t>[AS</a:t>
              </a:r>
              <a:r>
                <a:rPr lang="ko-KR" altLang="en-US" sz="1000" dirty="0">
                  <a:solidFill>
                    <a:schemeClr val="tx1"/>
                  </a:solidFill>
                </a:rPr>
                <a:t>대행료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열에 </a:t>
              </a:r>
              <a:r>
                <a:rPr lang="en-US" altLang="ko-KR" sz="1000" dirty="0">
                  <a:solidFill>
                    <a:schemeClr val="tx1"/>
                  </a:solidFill>
                </a:rPr>
                <a:t>0</a:t>
              </a:r>
              <a:r>
                <a:rPr lang="ko-KR" altLang="en-US" sz="1000" dirty="0">
                  <a:solidFill>
                    <a:schemeClr val="tx1"/>
                  </a:solidFill>
                </a:rPr>
                <a:t>원으로 작성 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E68E21A-C432-526A-CBEB-3227A605C266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래픽 8" descr="배지 1 윤곽선">
            <a:extLst>
              <a:ext uri="{FF2B5EF4-FFF2-40B4-BE49-F238E27FC236}">
                <a16:creationId xmlns:a16="http://schemas.microsoft.com/office/drawing/2014/main" id="{B7EBFE9E-76B1-BF7B-100A-4F721E2115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6399" y="905164"/>
            <a:ext cx="429853" cy="42985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3B83776-E320-0DDC-913D-04FA7B6A9B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260" y="1335017"/>
            <a:ext cx="1328133" cy="520930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36B8080-5C14-5969-B2B0-8F2A9CE575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4492" y="1936532"/>
            <a:ext cx="1267002" cy="4172532"/>
          </a:xfrm>
          <a:prstGeom prst="rect">
            <a:avLst/>
          </a:prstGeom>
        </p:spPr>
      </p:pic>
      <p:pic>
        <p:nvPicPr>
          <p:cNvPr id="18" name="그래픽 17" descr="배지 윤곽선">
            <a:extLst>
              <a:ext uri="{FF2B5EF4-FFF2-40B4-BE49-F238E27FC236}">
                <a16:creationId xmlns:a16="http://schemas.microsoft.com/office/drawing/2014/main" id="{76A3B6B6-A883-2BF7-1D90-1C4DBAAFF9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2463066" y="1432788"/>
            <a:ext cx="429853" cy="429853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89AE3661-51D0-A06C-7DFD-00D5FCCF3B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8317" y="1520821"/>
            <a:ext cx="1220960" cy="5086208"/>
          </a:xfrm>
          <a:prstGeom prst="rect">
            <a:avLst/>
          </a:prstGeom>
        </p:spPr>
      </p:pic>
      <p:pic>
        <p:nvPicPr>
          <p:cNvPr id="21" name="그래픽 20" descr="오른쪽 화살표 단색으로 채워진">
            <a:extLst>
              <a:ext uri="{FF2B5EF4-FFF2-40B4-BE49-F238E27FC236}">
                <a16:creationId xmlns:a16="http://schemas.microsoft.com/office/drawing/2014/main" id="{1E5D8B2D-70B6-5646-7B6E-69EB4C388B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04003" y="3339360"/>
            <a:ext cx="914400" cy="914400"/>
          </a:xfrm>
          <a:prstGeom prst="rect">
            <a:avLst/>
          </a:prstGeom>
        </p:spPr>
      </p:pic>
      <p:pic>
        <p:nvPicPr>
          <p:cNvPr id="22" name="그래픽 21" descr="배지 3 윤곽선">
            <a:extLst>
              <a:ext uri="{FF2B5EF4-FFF2-40B4-BE49-F238E27FC236}">
                <a16:creationId xmlns:a16="http://schemas.microsoft.com/office/drawing/2014/main" id="{6C2B3773-227F-6CD8-1C0E-D51406EB48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5156987" y="1089891"/>
            <a:ext cx="429853" cy="42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0123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A8673-BC53-A967-B51C-F8FBE37CE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F591E3EE-5671-DB8E-F914-6F1F34C59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562" y="1489544"/>
            <a:ext cx="7030431" cy="506800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362EF23-DA9F-6581-BA1B-8CCFE3B31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4) </a:t>
            </a:r>
            <a:r>
              <a:rPr lang="ko-KR" altLang="en-US" sz="2400" dirty="0">
                <a:latin typeface="+mn-ea"/>
                <a:ea typeface="+mn-ea"/>
              </a:rPr>
              <a:t>씨랩시스 </a:t>
            </a:r>
            <a:r>
              <a:rPr lang="en-US" altLang="ko-KR" sz="2400" dirty="0">
                <a:latin typeface="+mn-ea"/>
                <a:ea typeface="+mn-ea"/>
              </a:rPr>
              <a:t>[</a:t>
            </a:r>
            <a:r>
              <a:rPr lang="ko-KR" altLang="en-US" sz="2400" dirty="0">
                <a:latin typeface="+mn-ea"/>
                <a:ea typeface="+mn-ea"/>
              </a:rPr>
              <a:t>접수</a:t>
            </a:r>
            <a:r>
              <a:rPr lang="en-US" altLang="ko-KR" sz="2400" dirty="0">
                <a:latin typeface="+mn-ea"/>
                <a:ea typeface="+mn-ea"/>
              </a:rPr>
              <a:t>, </a:t>
            </a:r>
            <a:r>
              <a:rPr lang="ko-KR" altLang="en-US" sz="2400" dirty="0">
                <a:latin typeface="+mn-ea"/>
                <a:ea typeface="+mn-ea"/>
              </a:rPr>
              <a:t>완료 열 생성</a:t>
            </a:r>
            <a:r>
              <a:rPr lang="en-US" altLang="ko-KR" sz="2400" dirty="0">
                <a:latin typeface="+mn-ea"/>
                <a:ea typeface="+mn-ea"/>
              </a:rPr>
              <a:t>]</a:t>
            </a: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7EBC933-9B19-656A-240E-E8126E6F09D7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25F18F8-85F7-B692-0179-90CE91E50852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451B433-DB51-D1E7-D0AD-F3625CF2AE25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사용 파일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</a:t>
              </a: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[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접수일</a:t>
              </a:r>
              <a:r>
                <a:rPr lang="en-US" altLang="ko-KR" sz="1000" dirty="0">
                  <a:solidFill>
                    <a:schemeClr val="tx1"/>
                  </a:solidFill>
                </a:rPr>
                <a:t>], [</a:t>
              </a:r>
              <a:r>
                <a:rPr lang="ko-KR" altLang="en-US" sz="1000" dirty="0">
                  <a:solidFill>
                    <a:schemeClr val="tx1"/>
                  </a:solidFill>
                </a:rPr>
                <a:t>완료일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열을 기준으로 </a:t>
              </a:r>
              <a:r>
                <a:rPr lang="en-US" altLang="ko-KR" sz="1000" dirty="0">
                  <a:solidFill>
                    <a:schemeClr val="tx1"/>
                  </a:solidFill>
                </a:rPr>
                <a:t>[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],[</a:t>
              </a:r>
              <a:r>
                <a:rPr lang="ko-KR" altLang="en-US" sz="1000" dirty="0">
                  <a:solidFill>
                    <a:schemeClr val="tx1"/>
                  </a:solidFill>
                </a:rPr>
                <a:t>완료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 생성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685800" lvl="1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yyyy-MM-dd =&gt; MMdd </a:t>
              </a:r>
              <a:r>
                <a:rPr lang="ko-KR" altLang="en-US" sz="1000" dirty="0">
                  <a:solidFill>
                    <a:schemeClr val="tx1"/>
                  </a:solidFill>
                </a:rPr>
                <a:t>형식으로 변환하여 입력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lvl="1"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771D548-D5BD-1F81-BEC2-EE47F1731144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CB206461-EF52-3725-9EDA-FFBDFDAA1E7F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DEAEB73-14B2-C65E-83F1-E5C239D77E9F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AF3BDE7-7C71-9E22-55B5-95994BFE5AE0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래픽 8" descr="배지 1 윤곽선">
            <a:extLst>
              <a:ext uri="{FF2B5EF4-FFF2-40B4-BE49-F238E27FC236}">
                <a16:creationId xmlns:a16="http://schemas.microsoft.com/office/drawing/2014/main" id="{8DB86E84-DBC6-FCC0-B748-5655A519AA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52850" y="1022745"/>
            <a:ext cx="429853" cy="42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4107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9D1D2-4715-94ED-AC65-67D95B410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344582F8-B27D-66AE-D09A-BF53A1342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54" y="2316133"/>
            <a:ext cx="7620128" cy="293781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C0EAC56-F35C-4F13-856C-6C86DB924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4) </a:t>
            </a:r>
            <a:r>
              <a:rPr lang="ko-KR" altLang="en-US" sz="2400" dirty="0">
                <a:latin typeface="+mn-ea"/>
                <a:ea typeface="+mn-ea"/>
              </a:rPr>
              <a:t>씨랩시스 </a:t>
            </a:r>
            <a:r>
              <a:rPr lang="en-US" altLang="ko-KR" sz="2400" dirty="0">
                <a:latin typeface="+mn-ea"/>
                <a:ea typeface="+mn-ea"/>
              </a:rPr>
              <a:t>[</a:t>
            </a:r>
            <a:r>
              <a:rPr lang="ko-KR" altLang="en-US" sz="2400" dirty="0">
                <a:latin typeface="+mn-ea"/>
                <a:ea typeface="+mn-ea"/>
              </a:rPr>
              <a:t>피벗테이블 생성</a:t>
            </a:r>
            <a:r>
              <a:rPr lang="en-US" altLang="ko-KR" sz="2400" dirty="0">
                <a:latin typeface="+mn-ea"/>
                <a:ea typeface="+mn-ea"/>
              </a:rPr>
              <a:t>(</a:t>
            </a:r>
            <a:r>
              <a:rPr lang="ko-KR" altLang="en-US" sz="2400" dirty="0"/>
              <a:t>씨랩피벗</a:t>
            </a:r>
            <a:r>
              <a:rPr lang="en-US" altLang="ko-KR" sz="2400" dirty="0">
                <a:latin typeface="+mn-ea"/>
                <a:ea typeface="+mn-ea"/>
              </a:rPr>
              <a:t>)]</a:t>
            </a: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B326577-B4E8-EE0D-CC26-8EB7782757B0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3F62B647-807E-FB72-7606-15072F9135C2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03ADF81-E044-FBCB-F8F2-C56AF3823ACF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사용 파일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</a:t>
              </a: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“</a:t>
              </a:r>
              <a:r>
                <a:rPr lang="ko-KR" altLang="en-US" sz="1000" dirty="0">
                  <a:solidFill>
                    <a:schemeClr val="tx1"/>
                  </a:solidFill>
                </a:rPr>
                <a:t>씨랩피벗</a:t>
              </a:r>
              <a:r>
                <a:rPr lang="en-US" altLang="ko-KR" sz="1000" dirty="0">
                  <a:solidFill>
                    <a:schemeClr val="tx1"/>
                  </a:solidFill>
                </a:rPr>
                <a:t>” </a:t>
              </a:r>
              <a:r>
                <a:rPr lang="ko-KR" altLang="en-US" sz="1000" dirty="0">
                  <a:solidFill>
                    <a:schemeClr val="tx1"/>
                  </a:solidFill>
                </a:rPr>
                <a:t>시트 생성 후 피벗 테이블 생성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행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"</a:t>
              </a:r>
              <a:r>
                <a:rPr lang="ko-KR" altLang="en-US" sz="1000" dirty="0">
                  <a:solidFill>
                    <a:schemeClr val="tx1"/>
                  </a:solidFill>
                </a:rPr>
                <a:t>완료</a:t>
              </a:r>
              <a:r>
                <a:rPr lang="en-US" altLang="ko-KR" sz="1000" dirty="0">
                  <a:solidFill>
                    <a:schemeClr val="tx1"/>
                  </a:solidFill>
                </a:rPr>
                <a:t>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주소</a:t>
              </a:r>
              <a:r>
                <a:rPr lang="en-US" altLang="ko-KR" sz="1000" dirty="0">
                  <a:solidFill>
                    <a:schemeClr val="tx1"/>
                  </a:solidFill>
                </a:rPr>
                <a:t>2",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주소</a:t>
              </a:r>
              <a:r>
                <a:rPr lang="en-US" altLang="ko-KR" sz="1000" dirty="0">
                  <a:solidFill>
                    <a:schemeClr val="tx1"/>
                  </a:solidFill>
                </a:rPr>
                <a:t>3",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주소</a:t>
              </a:r>
              <a:r>
                <a:rPr lang="en-US" altLang="ko-KR" sz="1000" dirty="0">
                  <a:solidFill>
                    <a:schemeClr val="tx1"/>
                  </a:solidFill>
                </a:rPr>
                <a:t>4",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전화번호</a:t>
              </a:r>
              <a:r>
                <a:rPr lang="en-US" altLang="ko-KR" sz="1000" dirty="0">
                  <a:solidFill>
                    <a:schemeClr val="tx1"/>
                  </a:solidFill>
                </a:rPr>
                <a:t>3",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부품코드</a:t>
              </a:r>
              <a:r>
                <a:rPr lang="en-US" altLang="ko-KR" sz="1000" dirty="0">
                  <a:solidFill>
                    <a:schemeClr val="tx1"/>
                  </a:solidFill>
                </a:rPr>
                <a:t>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부품코드명</a:t>
              </a:r>
              <a:r>
                <a:rPr lang="en-US" altLang="ko-KR" sz="1000" dirty="0">
                  <a:solidFill>
                    <a:schemeClr val="tx1"/>
                  </a:solidFill>
                </a:rPr>
                <a:t>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고장내역</a:t>
              </a:r>
              <a:r>
                <a:rPr lang="en-US" altLang="ko-KR" sz="1000" dirty="0">
                  <a:solidFill>
                    <a:schemeClr val="tx1"/>
                  </a:solidFill>
                </a:rPr>
                <a:t>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원인</a:t>
              </a:r>
              <a:r>
                <a:rPr lang="en-US" altLang="ko-KR" sz="1000" dirty="0">
                  <a:solidFill>
                    <a:schemeClr val="tx1"/>
                  </a:solidFill>
                </a:rPr>
                <a:t>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조치</a:t>
              </a:r>
              <a:r>
                <a:rPr lang="en-US" altLang="ko-KR" sz="1000" dirty="0">
                  <a:solidFill>
                    <a:schemeClr val="tx1"/>
                  </a:solidFill>
                </a:rPr>
                <a:t>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전문점명</a:t>
              </a:r>
              <a:r>
                <a:rPr lang="en-US" altLang="ko-KR" sz="1000" dirty="0">
                  <a:solidFill>
                    <a:schemeClr val="tx1"/>
                  </a:solidFill>
                </a:rPr>
                <a:t>“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값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"</a:t>
              </a:r>
              <a:r>
                <a:rPr lang="ko-KR" altLang="en-US" sz="1000" dirty="0">
                  <a:solidFill>
                    <a:schemeClr val="tx1"/>
                  </a:solidFill>
                </a:rPr>
                <a:t>합계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</a:t>
              </a:r>
              <a:r>
                <a:rPr lang="ko-KR" altLang="en-US" sz="1000" dirty="0">
                  <a:solidFill>
                    <a:schemeClr val="tx1"/>
                  </a:solidFill>
                </a:rPr>
                <a:t>수량</a:t>
              </a:r>
              <a:r>
                <a:rPr lang="en-US" altLang="ko-KR" sz="1000" dirty="0">
                  <a:solidFill>
                    <a:schemeClr val="tx1"/>
                  </a:solidFill>
                </a:rPr>
                <a:t>", "</a:t>
              </a:r>
              <a:r>
                <a:rPr lang="ko-KR" altLang="en-US" sz="1000" dirty="0">
                  <a:solidFill>
                    <a:schemeClr val="tx1"/>
                  </a:solidFill>
                </a:rPr>
                <a:t> 합계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AS</a:t>
              </a:r>
              <a:r>
                <a:rPr lang="ko-KR" altLang="en-US" sz="1000" dirty="0">
                  <a:solidFill>
                    <a:schemeClr val="tx1"/>
                  </a:solidFill>
                </a:rPr>
                <a:t>대행료</a:t>
              </a:r>
              <a:r>
                <a:rPr lang="en-US" altLang="ko-KR" sz="1000" dirty="0">
                  <a:solidFill>
                    <a:schemeClr val="tx1"/>
                  </a:solidFill>
                </a:rPr>
                <a:t>"</a:t>
              </a: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0035388-647D-770B-90A8-F71674A884C1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2F05C7D1-BF9B-9AA5-78D2-B862FA39A3CA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CB44BBB-888A-41B9-9584-D6008EA33580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FontTx/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9CA6A505-AC63-2B6A-412E-E4E6E8FCC577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래픽 8" descr="배지 1 윤곽선">
            <a:extLst>
              <a:ext uri="{FF2B5EF4-FFF2-40B4-BE49-F238E27FC236}">
                <a16:creationId xmlns:a16="http://schemas.microsoft.com/office/drawing/2014/main" id="{B300902E-8F50-D01A-6273-E82E0FADC3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62148" y="1906393"/>
            <a:ext cx="409740" cy="409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11594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15329-0121-E3FD-1741-0BCEAD9C4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46E8762-CAE5-DE8B-5A79-1C4CA45931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6795" y="1335017"/>
            <a:ext cx="3333797" cy="526898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2799108-578F-141C-7736-8ECB1FFDB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4) </a:t>
            </a:r>
            <a:r>
              <a:rPr lang="ko-KR" altLang="en-US" sz="2400" dirty="0">
                <a:latin typeface="+mn-ea"/>
                <a:ea typeface="+mn-ea"/>
              </a:rPr>
              <a:t>씨랩시스 </a:t>
            </a:r>
            <a:r>
              <a:rPr lang="en-US" altLang="ko-KR" sz="2400" dirty="0">
                <a:latin typeface="+mn-ea"/>
                <a:ea typeface="+mn-ea"/>
              </a:rPr>
              <a:t>[</a:t>
            </a:r>
            <a:r>
              <a:rPr lang="ko-KR" altLang="en-US" sz="2400" dirty="0">
                <a:latin typeface="+mn-ea"/>
                <a:ea typeface="+mn-ea"/>
              </a:rPr>
              <a:t>처리구분 생성</a:t>
            </a:r>
            <a:r>
              <a:rPr lang="en-US" altLang="ko-KR" sz="2400" dirty="0">
                <a:latin typeface="+mn-ea"/>
                <a:ea typeface="+mn-ea"/>
              </a:rPr>
              <a:t>]</a:t>
            </a: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33526B1-E9AA-52C3-7C55-55E41E6C7215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6894456-A856-D198-F302-3594A8BE02C7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CFC8AC2-7C9B-4FCA-97E3-FBC425BB1CC3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사용 파일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</a:t>
              </a: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[</a:t>
              </a:r>
              <a:r>
                <a:rPr lang="ko-KR" altLang="en-US" sz="1000" dirty="0">
                  <a:solidFill>
                    <a:schemeClr val="tx1"/>
                  </a:solidFill>
                </a:rPr>
                <a:t>처리구분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 생성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a. [</a:t>
              </a:r>
              <a:r>
                <a:rPr lang="ko-KR" altLang="en-US" sz="1000" dirty="0">
                  <a:solidFill>
                    <a:schemeClr val="tx1"/>
                  </a:solidFill>
                </a:rPr>
                <a:t>부품코드</a:t>
              </a:r>
              <a:r>
                <a:rPr lang="en-US" altLang="ko-KR" sz="1000" dirty="0">
                  <a:solidFill>
                    <a:schemeClr val="tx1"/>
                  </a:solidFill>
                </a:rPr>
                <a:t>]</a:t>
              </a:r>
              <a:r>
                <a:rPr lang="ko-KR" altLang="en-US" sz="1000" dirty="0">
                  <a:solidFill>
                    <a:schemeClr val="tx1"/>
                  </a:solidFill>
                </a:rPr>
                <a:t>의 데이터가 </a:t>
              </a:r>
              <a:r>
                <a:rPr lang="en-US" altLang="ko-KR" sz="1000" dirty="0">
                  <a:solidFill>
                    <a:schemeClr val="tx1"/>
                  </a:solidFill>
                </a:rPr>
                <a:t>“XX”</a:t>
              </a:r>
              <a:r>
                <a:rPr lang="ko-KR" altLang="en-US" sz="1000" dirty="0">
                  <a:solidFill>
                    <a:schemeClr val="tx1"/>
                  </a:solidFill>
                </a:rPr>
                <a:t>인 경우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[</a:t>
              </a:r>
              <a:r>
                <a:rPr lang="ko-KR" altLang="en-US" sz="1000" dirty="0">
                  <a:solidFill>
                    <a:schemeClr val="tx1"/>
                  </a:solidFill>
                </a:rPr>
                <a:t>처리구분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</a:t>
              </a:r>
              <a:r>
                <a:rPr lang="ko-KR" altLang="en-US" sz="1000" dirty="0">
                  <a:solidFill>
                    <a:schemeClr val="tx1"/>
                  </a:solidFill>
                </a:rPr>
                <a:t>점검 및 수리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b. [</a:t>
              </a:r>
              <a:r>
                <a:rPr lang="ko-KR" altLang="en-US" sz="1000" dirty="0">
                  <a:solidFill>
                    <a:schemeClr val="tx1"/>
                  </a:solidFill>
                </a:rPr>
                <a:t>부품코드</a:t>
              </a:r>
              <a:r>
                <a:rPr lang="en-US" altLang="ko-KR" sz="1000" dirty="0">
                  <a:solidFill>
                    <a:schemeClr val="tx1"/>
                  </a:solidFill>
                </a:rPr>
                <a:t>]</a:t>
              </a:r>
              <a:r>
                <a:rPr lang="ko-KR" altLang="en-US" sz="1000" dirty="0">
                  <a:solidFill>
                    <a:schemeClr val="tx1"/>
                  </a:solidFill>
                </a:rPr>
                <a:t>의 데이터가 </a:t>
              </a:r>
              <a:r>
                <a:rPr lang="en-US" altLang="ko-KR" sz="1000" dirty="0">
                  <a:solidFill>
                    <a:schemeClr val="tx1"/>
                  </a:solidFill>
                </a:rPr>
                <a:t>“XX”</a:t>
              </a:r>
              <a:r>
                <a:rPr lang="ko-KR" altLang="en-US" sz="1000" dirty="0">
                  <a:solidFill>
                    <a:schemeClr val="tx1"/>
                  </a:solidFill>
                </a:rPr>
                <a:t>가 아닌 경우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[</a:t>
              </a:r>
              <a:r>
                <a:rPr lang="ko-KR" altLang="en-US" sz="1000" dirty="0">
                  <a:solidFill>
                    <a:schemeClr val="tx1"/>
                  </a:solidFill>
                </a:rPr>
                <a:t>처리구분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</a:t>
              </a:r>
              <a:r>
                <a:rPr lang="ko-KR" altLang="en-US" sz="1000" dirty="0">
                  <a:solidFill>
                    <a:schemeClr val="tx1"/>
                  </a:solidFill>
                </a:rPr>
                <a:t>부품교환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7DCF37F-0A24-96C1-6FCD-F16BE5146D45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C5598ACE-0753-E1FE-AED0-FA24A154C491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EA88446-4007-1B60-0639-9DDD834147EC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7BA8F8B1-AC0E-E5D1-9783-A5D568743B66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래픽 8" descr="배지 1 윤곽선">
            <a:extLst>
              <a:ext uri="{FF2B5EF4-FFF2-40B4-BE49-F238E27FC236}">
                <a16:creationId xmlns:a16="http://schemas.microsoft.com/office/drawing/2014/main" id="{0639C6E3-B6F6-7A08-D20D-594F1DC7A7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52090" y="905164"/>
            <a:ext cx="429853" cy="42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890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8A8F0F32B5B55347B2251887BC904DE1" ma:contentTypeVersion="3" ma:contentTypeDescription="새 문서를 만듭니다." ma:contentTypeScope="" ma:versionID="0979a3c226661408f279f30b992880a4">
  <xsd:schema xmlns:xsd="http://www.w3.org/2001/XMLSchema" xmlns:xs="http://www.w3.org/2001/XMLSchema" xmlns:p="http://schemas.microsoft.com/office/2006/metadata/properties" xmlns:ns2="0cb69f53-8e75-4a45-aa72-8edd6b9f2795" targetNamespace="http://schemas.microsoft.com/office/2006/metadata/properties" ma:root="true" ma:fieldsID="84fbd632155588ee80ea91993e08118b" ns2:_="">
    <xsd:import namespace="0cb69f53-8e75-4a45-aa72-8edd6b9f279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b69f53-8e75-4a45-aa72-8edd6b9f27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3DD0B0B-C2C0-4905-9073-AAC6D9DDE1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922F3C0-F2AA-42DE-83E7-E5420B950E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b69f53-8e75-4a45-aa72-8edd6b9f279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EAEC237-FEC0-4705-839B-0C2B59140506}">
  <ds:schemaRefs>
    <ds:schemaRef ds:uri="http://schemas.microsoft.com/office/2006/metadata/properties"/>
    <ds:schemaRef ds:uri="http://schemas.microsoft.com/office/infopath/2007/PartnerControls"/>
    <ds:schemaRef ds:uri="15cf5ba3-e289-48a8-8cfc-3b31467b0c0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1008</TotalTime>
  <Words>2893</Words>
  <Application>Microsoft Office PowerPoint</Application>
  <PresentationFormat>Widescreen</PresentationFormat>
  <Paragraphs>562</Paragraphs>
  <Slides>49</Slides>
  <Notes>49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0" baseType="lpstr">
      <vt:lpstr>Office 테마</vt:lpstr>
      <vt:lpstr>RPA 프로세스 정의서</vt:lpstr>
      <vt:lpstr>프로세스 흐름도</vt:lpstr>
      <vt:lpstr>0) Template 파일 읽기</vt:lpstr>
      <vt:lpstr>1) 에이스 라이프 [데이터 필터링]</vt:lpstr>
      <vt:lpstr>1) 에이스 라이프 [불필요 칼럼 삭제]</vt:lpstr>
      <vt:lpstr>1) 에이스 라이프 [사입단가 데이터 가져오기]</vt:lpstr>
      <vt:lpstr>1) 에이스 라이프 [Serial]</vt:lpstr>
      <vt:lpstr>1) 에이스 라이프 [조치 열 값 변경]</vt:lpstr>
      <vt:lpstr>1) 에이스 라이프 [전화번호 관련 열 이름 변경]</vt:lpstr>
      <vt:lpstr>1) 에이스 라이프 [AS 대행료 변경]</vt:lpstr>
      <vt:lpstr>1) 에이스 라이프 [수량 * 사입단가 = 사입금액]</vt:lpstr>
      <vt:lpstr>1) 에이스 라이프 [처리구분 생성]</vt:lpstr>
      <vt:lpstr>1) 에이스 라이프 [접수, 완료 열 생성]</vt:lpstr>
      <vt:lpstr>1) 에이스 라이프 [미회수품 시트 생성]</vt:lpstr>
      <vt:lpstr>1) 에이스 라이프 [피벗테이블 생성(에이스피벗1)]</vt:lpstr>
      <vt:lpstr>1) 에이스 라이프 [피벗테이블 생성(에이스피벗2)]</vt:lpstr>
      <vt:lpstr>2) 나누텍 [데이터 필터링]</vt:lpstr>
      <vt:lpstr>2) 나누텍 [불필요 칼럼 삭제]</vt:lpstr>
      <vt:lpstr>1) 나누텍 [사입단가 데이터 가져오기]</vt:lpstr>
      <vt:lpstr>2) 나누텍 [대방(집단)현장 시트 생성]</vt:lpstr>
      <vt:lpstr>2) 나누텍 [Serial]</vt:lpstr>
      <vt:lpstr>2) 나누텍 [조치 열 값 변경]</vt:lpstr>
      <vt:lpstr>2) 나누텍 [전화번호 관련 열 이름 변경]</vt:lpstr>
      <vt:lpstr>2) 나누텍 [AS 대행료 변경]</vt:lpstr>
      <vt:lpstr>2) 나누텍 [수량 * 사입단가 = 사입금액]</vt:lpstr>
      <vt:lpstr>2) 나누텍 [처리구분 생성]</vt:lpstr>
      <vt:lpstr>2) 나누텍 [접수, 완료 열 생성]</vt:lpstr>
      <vt:lpstr>2) 나누텍 [미회수품 시트 생성]</vt:lpstr>
      <vt:lpstr>2) 나누텍 [피벗테이블 생성(나누텍피벗1)]</vt:lpstr>
      <vt:lpstr>2) 나누텍 [피벗테이블 생성(나누텍피벗2)]</vt:lpstr>
      <vt:lpstr>3) 제이원프라임 [데이터 필터링]</vt:lpstr>
      <vt:lpstr>3) 제이원프라임 [불필요 칼럼 삭제]</vt:lpstr>
      <vt:lpstr>3) 제이원프라임 [Serial]</vt:lpstr>
      <vt:lpstr>3) 제이원프라임 [조치 열 값 변경]</vt:lpstr>
      <vt:lpstr>3) 제이원프라임 [전화번호 관련 열 이름 변경]</vt:lpstr>
      <vt:lpstr>3) 제이원프라임 [AS 대행료 변경]</vt:lpstr>
      <vt:lpstr>3) 제이원프라임 [처리구분 생성]</vt:lpstr>
      <vt:lpstr>3) 제이원프라임 [접수, 완료 열 생성]</vt:lpstr>
      <vt:lpstr>3) 제이원프라임 [미회수품 시트 생성]</vt:lpstr>
      <vt:lpstr>3) 제이원프라임 [피벗테이블 생성(제이원피벗)]</vt:lpstr>
      <vt:lpstr>4) 씨랩시스 [데이터 필터링]</vt:lpstr>
      <vt:lpstr>4) 씨랩시스 [코드 필터링]</vt:lpstr>
      <vt:lpstr>1) 에이스 라이프 [불필요 칼럼 삭제]</vt:lpstr>
      <vt:lpstr>4) 씨랩시스 [조치 열 값 변경]</vt:lpstr>
      <vt:lpstr>4) 씨랩시스 [전화번호 관련 열 이름 변경]</vt:lpstr>
      <vt:lpstr>4) 씨랩시스 [AS 대행료 변경]</vt:lpstr>
      <vt:lpstr>4) 씨랩시스 [접수, 완료 열 생성]</vt:lpstr>
      <vt:lpstr>4) 씨랩시스 [피벗테이블 생성(씨랩피벗)]</vt:lpstr>
      <vt:lpstr>4) 씨랩시스 [처리구분 생성]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배태영</dc:creator>
  <cp:lastModifiedBy>배태영</cp:lastModifiedBy>
  <cp:revision>125</cp:revision>
  <dcterms:created xsi:type="dcterms:W3CDTF">2025-10-31T04:16:53Z</dcterms:created>
  <dcterms:modified xsi:type="dcterms:W3CDTF">2026-05-26T06:17:05Z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0x0101008A8F0F32B5B55347B2251887BC904DE1</vt:lpwstr>
  </property>
</Properties>
</file>