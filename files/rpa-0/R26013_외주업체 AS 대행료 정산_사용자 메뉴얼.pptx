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8" r:id="rId6"/>
    <p:sldId id="257" r:id="rId7"/>
    <p:sldId id="259" r:id="rId8"/>
    <p:sldId id="260" r:id="rId9"/>
    <p:sldId id="261" r:id="rId10"/>
    <p:sldId id="263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F182FFD-09BE-439C-888C-57832E1D2A8A}">
          <p14:sldIdLst>
            <p14:sldId id="256"/>
          </p14:sldIdLst>
        </p14:section>
        <p14:section name="Teams 채널 가이드" id="{25C58A14-4D58-4629-950F-C9D56BC79EB1}">
          <p14:sldIdLst>
            <p14:sldId id="258"/>
            <p14:sldId id="257"/>
            <p14:sldId id="259"/>
          </p14:sldIdLst>
        </p14:section>
        <p14:section name="RPA 사전 세팅" id="{CAEC874B-B4F8-4260-9A5A-1784135B71B1}">
          <p14:sldIdLst>
            <p14:sldId id="260"/>
            <p14:sldId id="261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9BD6A-BF5C-6951-6DFA-66EF9EA52BF4}" v="121" dt="2026-05-29T01:59:59.172"/>
    <p1510:client id="{B7C8CEEA-EA32-C000-C939-655EEB49A1F2}" v="1" dt="2026-05-29T01:02:39.4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3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혜진" userId="S::lhj@iroyal.kr::9ce771a3-f5fb-4a4d-892e-5db74abb7b14" providerId="AD" clId="Web-{B7C8CEEA-EA32-C000-C939-655EEB49A1F2}"/>
    <pc:docChg chg="sldOrd">
      <pc:chgData name="이혜진" userId="S::lhj@iroyal.kr::9ce771a3-f5fb-4a4d-892e-5db74abb7b14" providerId="AD" clId="Web-{B7C8CEEA-EA32-C000-C939-655EEB49A1F2}" dt="2026-05-29T01:02:39.487" v="0"/>
      <pc:docMkLst>
        <pc:docMk/>
      </pc:docMkLst>
      <pc:sldChg chg="ord">
        <pc:chgData name="이혜진" userId="S::lhj@iroyal.kr::9ce771a3-f5fb-4a4d-892e-5db74abb7b14" providerId="AD" clId="Web-{B7C8CEEA-EA32-C000-C939-655EEB49A1F2}" dt="2026-05-29T01:02:39.487" v="0"/>
        <pc:sldMkLst>
          <pc:docMk/>
          <pc:sldMk cId="3605062945" sldId="260"/>
        </pc:sldMkLst>
      </pc:sldChg>
    </pc:docChg>
  </pc:docChgLst>
  <pc:docChgLst>
    <pc:chgData name="이혜진" userId="S::lhj@iroyal.kr::9ce771a3-f5fb-4a4d-892e-5db74abb7b14" providerId="AD" clId="Web-{6369BD6A-BF5C-6951-6DFA-66EF9EA52BF4}"/>
    <pc:docChg chg="modSld">
      <pc:chgData name="이혜진" userId="S::lhj@iroyal.kr::9ce771a3-f5fb-4a4d-892e-5db74abb7b14" providerId="AD" clId="Web-{6369BD6A-BF5C-6951-6DFA-66EF9EA52BF4}" dt="2026-05-29T01:59:59.172" v="120" actId="20577"/>
      <pc:docMkLst>
        <pc:docMk/>
      </pc:docMkLst>
      <pc:sldChg chg="modSp">
        <pc:chgData name="이혜진" userId="S::lhj@iroyal.kr::9ce771a3-f5fb-4a4d-892e-5db74abb7b14" providerId="AD" clId="Web-{6369BD6A-BF5C-6951-6DFA-66EF9EA52BF4}" dt="2026-05-29T01:59:59.172" v="120" actId="20577"/>
        <pc:sldMkLst>
          <pc:docMk/>
          <pc:sldMk cId="283677348" sldId="261"/>
        </pc:sldMkLst>
        <pc:spChg chg="mod">
          <ac:chgData name="이혜진" userId="S::lhj@iroyal.kr::9ce771a3-f5fb-4a4d-892e-5db74abb7b14" providerId="AD" clId="Web-{6369BD6A-BF5C-6951-6DFA-66EF9EA52BF4}" dt="2026-05-29T01:59:59.172" v="120" actId="20577"/>
          <ac:spMkLst>
            <pc:docMk/>
            <pc:sldMk cId="283677348" sldId="261"/>
            <ac:spMk id="7" creationId="{B963025B-6877-FC44-202D-CF3B35F4B3D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9CCD8-1719-4DF9-87FD-2F5122CA41DD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2AB1D-E158-45F5-956A-4FB433D01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20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704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A1FC-8149-DE57-3F4E-447A94FE4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A3952B-3ED5-0C9D-D8D4-00EAC8153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9D7419-00DB-3AB3-66B8-891A76F4D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0BDA82-A8D3-1E4C-C388-B84222B90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528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188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9E606-209D-B73E-EB59-BE6848121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F3FFA0-5BD5-6201-73FE-6E3D92FE8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E0FD2B-0017-BC0F-E0CE-8D95B496D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07C4AA-8051-8ED1-A47E-C500CCFD2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994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DAE56-C999-A859-0B90-8DFA37BA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840B48-3C4D-0061-7855-12195FA58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0C412A-5262-97C8-CFF2-4FD334E9D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D72418-C055-5D59-87BF-0277ADBA9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824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55AC0-C68F-F3CE-B482-BB7ADC541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3E11EC-1080-742A-E33C-8EE2A5FA6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E58767-8BC2-3C40-7EA0-722AE2796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30A12E-F72D-CA92-C37F-ECC673C3E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00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1EF71-F181-35EB-A53B-C6695B063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C55334-86EB-1094-CE09-086CF15E8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13A6A9-6624-C4A0-1F9C-62835E98B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36D74C-85BE-75A4-CFFE-9D9376E61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003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A3C6A-2304-4B3A-79C1-3FCCBDA7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A96EBD-54B6-BD90-1ACE-F435AFC55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D1251E-97BF-7A06-85E6-556C85D8A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E32F2D-B72E-B711-D545-5E1DE8EB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64512E-B0A4-3E85-509C-6D75608E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340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8BBE4-0B05-973F-F0AF-6D84A7C2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716EAE-16A7-463B-B1ED-1C21D6212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072FA0-4B93-5E14-43D8-55E15E8EF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EB9D25-25DA-2A2E-1FB5-963D45AD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7C52E4-F5FA-7BCC-F523-17475183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553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6237B-35ED-3F5A-1CFD-083B3BD7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936650-C6D2-0E89-BAAF-992920665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75B15B-21EA-7DAA-D89E-1403A40BA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E93645-54E5-51CC-1059-F62A04D6B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DE35D1-029E-61F7-9270-E805734F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739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13594-F242-3D2D-F510-829E10948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9C9469-E3F5-DB20-950D-1E1F8D782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368B5A-7479-7617-AFDC-B913C3CDE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71A8BF-012E-DFD2-A8F0-17A4191E3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396E4F-C2F3-C66A-BAFC-8A86935C1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9C0576-16E1-4956-29D9-10E03F3F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4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A3576-6376-88A0-2A74-D1231EF79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8DD258-0B70-8883-EFA5-9BDD33B0C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47F1AA-F430-5109-86ED-F7153F5CB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527174-B442-6D1C-107B-F3CD5FA6E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8128B4-F359-0DCE-FF04-8012E276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6032D3-7DC6-B8CE-DD50-52C8C38BD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9FC913-24D3-0EA6-8993-32F4A87B0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A3B0E26-CD0E-9FE8-B625-3F3C4E919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93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06DC2-1B28-A71C-DADE-DB9CD5A3E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46C800-82A2-8E1A-AF62-B033F3536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AED38D-5BBC-C3A3-56EA-539C50ACD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8B8719-1440-B4F4-F8E2-C947155B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019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25FB25-EC7A-5EE2-6AE6-0BBDB2D4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B7DFDB-F578-677F-FF57-DC3DD473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3D6DB0-E452-2F9B-823C-6A9C8EF93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78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1C5DE0-900C-A91C-BF16-4C5B5AE3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EE366B-DBB2-9B48-E1E4-4FBD71C65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B7AA27-92B9-8EFE-F827-163D4F60D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48CC9C-56FB-C71D-FD5C-10A77D6C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B0240E-3AE7-DA2E-0C4D-DC40644D9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4102CD-8617-071C-1145-7E0EF8934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82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ACA1AB-6542-2432-B70B-50A7D3DA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71C0C6-2524-FE77-9AE9-25F4BBBB6E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903356-14E8-A50D-1B32-2EE34726C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695A0F-5F19-A668-FF49-A6F74BCA3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917855-53FB-F92B-16A8-3D5B0EF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A1AD71-3B6A-5045-1959-307910EE8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626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C3591-693E-EA57-8553-6BED94F4A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6AFE5E-FF0F-2E09-3D5F-4BD393BCB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1B2AA7-C2FB-AE64-37B1-BE4BC4A5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AF3D80-ABCD-A2C4-989A-675E3844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66E235-F964-2CE6-FBEE-00B6688C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07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EE74820-88A2-810D-F095-5C77ACE48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2A3726-A3F4-A100-C248-94410E75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2FF164-F3A9-6DC4-7B7B-43ED4C9DF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71F2DC-4595-6D98-7636-846F9CCA9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023B8F-123D-8F68-DC57-3F96A21E5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308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D24FBE-9DEE-1C07-F16D-39CC8F774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B65B3C-2272-34F7-24F7-CB64918E3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E6A1B-0CD4-C112-4F99-2858B9FB4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E20FF5-C322-4BDD-8F64-3EA47F12E988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6A4C95-A0EF-FC07-1491-1E21DD15E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B1722A-073A-7EEF-0C7A-7E8CF7371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759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9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11.png"/><Relationship Id="rId10" Type="http://schemas.openxmlformats.org/officeDocument/2006/relationships/image" Target="../media/image13.svg"/><Relationship Id="rId4" Type="http://schemas.openxmlformats.org/officeDocument/2006/relationships/image" Target="../media/image10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원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1D2278-0EDB-1C7A-7A35-E9D675433E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63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AE4356A-E248-067F-E231-BD490B193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69963"/>
            <a:ext cx="12192000" cy="1593944"/>
          </a:xfrm>
        </p:spPr>
        <p:txBody>
          <a:bodyPr>
            <a:normAutofit/>
          </a:bodyPr>
          <a:lstStyle/>
          <a:p>
            <a:r>
              <a:rPr lang="en-US" altLang="ko-KR" sz="4800" b="1" dirty="0"/>
              <a:t>RPA </a:t>
            </a:r>
            <a:r>
              <a:rPr lang="ko-KR" altLang="en-US" sz="4800" b="1" dirty="0"/>
              <a:t>사용자 메뉴얼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6321B1F-D99C-586A-DDBD-4D4C26DBE12C}"/>
              </a:ext>
            </a:extLst>
          </p:cNvPr>
          <p:cNvGrpSpPr/>
          <p:nvPr/>
        </p:nvGrpSpPr>
        <p:grpSpPr>
          <a:xfrm>
            <a:off x="3577070" y="3666847"/>
            <a:ext cx="5026602" cy="2088212"/>
            <a:chOff x="3577070" y="3666847"/>
            <a:chExt cx="5026602" cy="2088212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9E4F63BB-B8A1-BE1C-B705-CFA8CD73F734}"/>
                </a:ext>
              </a:extLst>
            </p:cNvPr>
            <p:cNvGrpSpPr/>
            <p:nvPr/>
          </p:nvGrpSpPr>
          <p:grpSpPr>
            <a:xfrm>
              <a:off x="3577070" y="3666847"/>
              <a:ext cx="5026602" cy="2088212"/>
              <a:chOff x="3577070" y="3666847"/>
              <a:chExt cx="5026602" cy="2088212"/>
            </a:xfrm>
          </p:grpSpPr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16BC356B-7E69-4722-CA70-F996CBA374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7070" y="4395691"/>
                <a:ext cx="5026602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42211740-18EB-D8AE-3127-3B3A4ACA2F21}"/>
                  </a:ext>
                </a:extLst>
              </p:cNvPr>
              <p:cNvSpPr/>
              <p:nvPr/>
            </p:nvSpPr>
            <p:spPr>
              <a:xfrm>
                <a:off x="3577070" y="3666847"/>
                <a:ext cx="5026602" cy="2088212"/>
              </a:xfrm>
              <a:prstGeom prst="rect">
                <a:avLst/>
              </a:prstGeom>
              <a:noFill/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80E03131-F11A-E69B-D82E-3158725A12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7070" y="5102275"/>
                <a:ext cx="5026602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5ABD055E-F2DD-0599-D379-8BDC3695E5B0}"/>
                </a:ext>
              </a:extLst>
            </p:cNvPr>
            <p:cNvCxnSpPr>
              <a:stCxn id="10" idx="0"/>
              <a:endCxn id="10" idx="2"/>
            </p:cNvCxnSpPr>
            <p:nvPr/>
          </p:nvCxnSpPr>
          <p:spPr>
            <a:xfrm>
              <a:off x="6090371" y="3666847"/>
              <a:ext cx="0" cy="2088212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3C9B0CC-DBDF-F982-D261-20CD0A0F00B8}"/>
              </a:ext>
            </a:extLst>
          </p:cNvPr>
          <p:cNvSpPr txBox="1"/>
          <p:nvPr/>
        </p:nvSpPr>
        <p:spPr>
          <a:xfrm>
            <a:off x="3577070" y="3846600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작성자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090ED6-F476-7F40-4180-FA82B4C62057}"/>
              </a:ext>
            </a:extLst>
          </p:cNvPr>
          <p:cNvSpPr txBox="1"/>
          <p:nvPr/>
        </p:nvSpPr>
        <p:spPr>
          <a:xfrm>
            <a:off x="3577070" y="4563849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부서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EE8D43-8AE4-1E4C-167F-4ED5E59485B4}"/>
              </a:ext>
            </a:extLst>
          </p:cNvPr>
          <p:cNvSpPr txBox="1"/>
          <p:nvPr/>
        </p:nvSpPr>
        <p:spPr>
          <a:xfrm>
            <a:off x="3577069" y="5244001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작성일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ADE706-AC47-2626-0D4D-C076A59FAA26}"/>
              </a:ext>
            </a:extLst>
          </p:cNvPr>
          <p:cNvSpPr txBox="1"/>
          <p:nvPr/>
        </p:nvSpPr>
        <p:spPr>
          <a:xfrm>
            <a:off x="6101630" y="3845782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배태영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4FABB3-FF5F-6EA4-B21F-FF0A4C54F83D}"/>
              </a:ext>
            </a:extLst>
          </p:cNvPr>
          <p:cNvSpPr txBox="1"/>
          <p:nvPr/>
        </p:nvSpPr>
        <p:spPr>
          <a:xfrm>
            <a:off x="6096000" y="4562956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정보관리팀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23FC10-0B8A-3B2B-8D87-A2FE442BA385}"/>
              </a:ext>
            </a:extLst>
          </p:cNvPr>
          <p:cNvSpPr txBox="1"/>
          <p:nvPr/>
        </p:nvSpPr>
        <p:spPr>
          <a:xfrm>
            <a:off x="6101630" y="5244001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dirty="0"/>
              <a:t>2026.05.15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069F5C-43A7-38FE-5192-CCB87435E6BD}"/>
              </a:ext>
            </a:extLst>
          </p:cNvPr>
          <p:cNvSpPr txBox="1">
            <a:spLocks/>
          </p:cNvSpPr>
          <p:nvPr/>
        </p:nvSpPr>
        <p:spPr>
          <a:xfrm>
            <a:off x="5630" y="2789892"/>
            <a:ext cx="12192000" cy="4683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/>
              <a:t>R26013_</a:t>
            </a:r>
            <a:r>
              <a:rPr lang="ko-KR" altLang="en-US" sz="2000" dirty="0"/>
              <a:t>외주업체 </a:t>
            </a:r>
            <a:r>
              <a:rPr lang="en-US" altLang="ko-KR" sz="2000" dirty="0"/>
              <a:t>AS </a:t>
            </a:r>
            <a:r>
              <a:rPr lang="ko-KR" altLang="en-US" sz="2000" dirty="0"/>
              <a:t>대행료 정산</a:t>
            </a:r>
          </a:p>
        </p:txBody>
      </p:sp>
    </p:spTree>
    <p:extLst>
      <p:ext uri="{BB962C8B-B14F-4D97-AF65-F5344CB8AC3E}">
        <p14:creationId xmlns:p14="http://schemas.microsoft.com/office/powerpoint/2010/main" val="185864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69D1A-D960-C667-D9F9-16990458B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D3C022-BFD6-1D15-4AC4-879B18AD3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80" y="1454727"/>
            <a:ext cx="7572672" cy="478443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69D43E0-1859-500D-DF57-ECE19F15E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en-US" altLang="ko-KR" sz="2400" dirty="0">
                <a:latin typeface="+mn-ea"/>
              </a:rPr>
              <a:t>RPA</a:t>
            </a:r>
            <a:r>
              <a:rPr lang="ko-KR" altLang="en-US" sz="2400" dirty="0">
                <a:latin typeface="+mn-ea"/>
                <a:ea typeface="+mn-ea"/>
              </a:rPr>
              <a:t> 관리 채널 </a:t>
            </a:r>
            <a:r>
              <a:rPr lang="en-US" altLang="ko-KR" sz="2400" dirty="0">
                <a:latin typeface="+mn-ea"/>
                <a:ea typeface="+mn-ea"/>
              </a:rPr>
              <a:t>(Template </a:t>
            </a:r>
            <a:r>
              <a:rPr lang="ko-KR" altLang="en-US" sz="2400" dirty="0">
                <a:latin typeface="+mn-ea"/>
                <a:ea typeface="+mn-ea"/>
              </a:rPr>
              <a:t>폴더</a:t>
            </a:r>
            <a:r>
              <a:rPr lang="en-US" altLang="ko-KR" sz="2400" dirty="0">
                <a:latin typeface="+mn-ea"/>
                <a:ea typeface="+mn-ea"/>
              </a:rPr>
              <a:t>)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09D303-3760-E7C9-D390-7605D45945A3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4B9BB59-6425-03D0-4646-A2A723175AE3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7E90890-F160-59FD-B31F-0ED028DEF5E9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Teams [RPA</a:t>
              </a:r>
              <a:r>
                <a:rPr lang="ko-KR" altLang="en-US" sz="1000" dirty="0">
                  <a:solidFill>
                    <a:schemeClr val="tx1"/>
                  </a:solidFill>
                </a:rPr>
                <a:t>업무자동화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팀 </a:t>
              </a:r>
              <a:r>
                <a:rPr lang="en-US" altLang="ko-KR" sz="1000" dirty="0">
                  <a:solidFill>
                    <a:schemeClr val="tx1"/>
                  </a:solidFill>
                </a:rPr>
                <a:t>-&gt; R26013_</a:t>
              </a:r>
              <a:r>
                <a:rPr lang="ko-KR" altLang="en-US" sz="1000" dirty="0">
                  <a:solidFill>
                    <a:schemeClr val="tx1"/>
                  </a:solidFill>
                </a:rPr>
                <a:t>외주업체 </a:t>
              </a:r>
              <a:r>
                <a:rPr lang="en-US" altLang="ko-KR" sz="1000" dirty="0">
                  <a:solidFill>
                    <a:schemeClr val="tx1"/>
                  </a:solidFill>
                </a:rPr>
                <a:t>AS 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 정산 채널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상단의 공유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탭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문서</a:t>
              </a:r>
              <a:r>
                <a:rPr lang="en-US" altLang="ko-KR" sz="1000" dirty="0">
                  <a:solidFill>
                    <a:schemeClr val="tx1"/>
                  </a:solidFill>
                </a:rPr>
                <a:t>&gt;Template </a:t>
              </a:r>
              <a:r>
                <a:rPr lang="ko-KR" altLang="en-US" sz="1000" dirty="0">
                  <a:solidFill>
                    <a:schemeClr val="tx1"/>
                  </a:solidFill>
                </a:rPr>
                <a:t>폴더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Template </a:t>
              </a:r>
              <a:r>
                <a:rPr lang="ko-KR" altLang="en-US" sz="1000" dirty="0">
                  <a:solidFill>
                    <a:schemeClr val="tx1"/>
                  </a:solidFill>
                </a:rPr>
                <a:t>폴더는 </a:t>
              </a:r>
              <a:r>
                <a:rPr lang="en-US" altLang="ko-KR" sz="1000" dirty="0">
                  <a:solidFill>
                    <a:schemeClr val="tx1"/>
                  </a:solidFill>
                </a:rPr>
                <a:t>RPA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수행에 필요한 파일을 업로드하는 폴더입니다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해당 </a:t>
              </a:r>
              <a:r>
                <a:rPr lang="en-US" altLang="ko-KR" sz="1000" dirty="0">
                  <a:solidFill>
                    <a:schemeClr val="tx1"/>
                  </a:solidFill>
                </a:rPr>
                <a:t>RPA</a:t>
              </a:r>
              <a:r>
                <a:rPr lang="ko-KR" altLang="en-US" sz="1000" dirty="0">
                  <a:solidFill>
                    <a:schemeClr val="tx1"/>
                  </a:solidFill>
                </a:rPr>
                <a:t> 프로세스에서 사용하는 파일은 </a:t>
              </a:r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삭제 열 리스트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 : RPA</a:t>
              </a:r>
              <a:r>
                <a:rPr lang="ko-KR" altLang="en-US" sz="1000" dirty="0">
                  <a:solidFill>
                    <a:schemeClr val="tx1"/>
                  </a:solidFill>
                </a:rPr>
                <a:t> 수행 중 각 업체별 불필요한 칼럼을 삭제하기 위한 리스트 파일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 : RPA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수행에 중점으로 사용하는 파일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FB4EAA5-34A1-FC24-B7D0-39439B34CE0E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5AF4E1A-CFCB-BBE9-98CE-6427539A3309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5E4BD6A-B9B3-1EE3-6FE8-C40A57F2FCE5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파일은 업무 담당자가 </a:t>
              </a:r>
              <a:r>
                <a:rPr lang="en-US" altLang="ko-KR" sz="1000" dirty="0">
                  <a:solidFill>
                    <a:schemeClr val="tx1"/>
                  </a:solidFill>
                </a:rPr>
                <a:t>Template</a:t>
              </a:r>
              <a:r>
                <a:rPr lang="ko-KR" altLang="en-US" sz="1000" dirty="0">
                  <a:solidFill>
                    <a:schemeClr val="tx1"/>
                  </a:solidFill>
                </a:rPr>
                <a:t> 폴더에 업로드해야 합니다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EC83D30-5284-612C-F47F-4CCD5DA7E807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25F755C-CE57-5FEC-D89B-A31DB0AB0AE2}"/>
              </a:ext>
            </a:extLst>
          </p:cNvPr>
          <p:cNvSpPr/>
          <p:nvPr/>
        </p:nvSpPr>
        <p:spPr>
          <a:xfrm>
            <a:off x="570804" y="5615709"/>
            <a:ext cx="2259799" cy="286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AAE5271-5ADB-1FE7-C8F2-9D69432AF765}"/>
              </a:ext>
            </a:extLst>
          </p:cNvPr>
          <p:cNvSpPr/>
          <p:nvPr/>
        </p:nvSpPr>
        <p:spPr>
          <a:xfrm>
            <a:off x="2947140" y="2697124"/>
            <a:ext cx="4719042" cy="13206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래픽 44" descr="배지 1 윤곽선">
            <a:extLst>
              <a:ext uri="{FF2B5EF4-FFF2-40B4-BE49-F238E27FC236}">
                <a16:creationId xmlns:a16="http://schemas.microsoft.com/office/drawing/2014/main" id="{09D077B2-0CFE-D8E9-BF05-565C7B19B8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776" y="5126001"/>
            <a:ext cx="429853" cy="429853"/>
          </a:xfrm>
          <a:prstGeom prst="rect">
            <a:avLst/>
          </a:prstGeom>
        </p:spPr>
      </p:pic>
      <p:pic>
        <p:nvPicPr>
          <p:cNvPr id="46" name="그래픽 45" descr="배지 윤곽선">
            <a:extLst>
              <a:ext uri="{FF2B5EF4-FFF2-40B4-BE49-F238E27FC236}">
                <a16:creationId xmlns:a16="http://schemas.microsoft.com/office/drawing/2014/main" id="{184CBEEA-30D6-CC3B-5DF7-F884DA1EBC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53890" y="1228435"/>
            <a:ext cx="498764" cy="498764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CE5BD8A1-6F4B-C384-3036-AE9F70DB3815}"/>
              </a:ext>
            </a:extLst>
          </p:cNvPr>
          <p:cNvSpPr/>
          <p:nvPr/>
        </p:nvSpPr>
        <p:spPr>
          <a:xfrm>
            <a:off x="5218545" y="1727199"/>
            <a:ext cx="369455" cy="3879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배지 3 윤곽선">
            <a:extLst>
              <a:ext uri="{FF2B5EF4-FFF2-40B4-BE49-F238E27FC236}">
                <a16:creationId xmlns:a16="http://schemas.microsoft.com/office/drawing/2014/main" id="{90E22E59-29CD-EC31-32AE-9DBAC93C60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717634" y="2161415"/>
            <a:ext cx="498764" cy="49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21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4CED1916-61AA-966F-7794-BEDDDA7D1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05" y="1309254"/>
            <a:ext cx="7267025" cy="507538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2C5C234-3FDE-13D4-70E5-78FEE7F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RPA</a:t>
            </a:r>
            <a:r>
              <a:rPr lang="ko-KR" altLang="en-US" sz="2400" dirty="0">
                <a:latin typeface="+mn-ea"/>
                <a:ea typeface="+mn-ea"/>
              </a:rPr>
              <a:t> 관리 채널 </a:t>
            </a:r>
            <a:r>
              <a:rPr lang="en-US" altLang="ko-KR" sz="2400" dirty="0">
                <a:latin typeface="+mn-ea"/>
                <a:ea typeface="+mn-ea"/>
              </a:rPr>
              <a:t>(Output </a:t>
            </a:r>
            <a:r>
              <a:rPr lang="ko-KR" altLang="en-US" sz="2400" dirty="0">
                <a:latin typeface="+mn-ea"/>
                <a:ea typeface="+mn-ea"/>
              </a:rPr>
              <a:t>폴더</a:t>
            </a:r>
            <a:r>
              <a:rPr lang="en-US" altLang="ko-KR" sz="2400" dirty="0">
                <a:latin typeface="+mn-ea"/>
                <a:ea typeface="+mn-ea"/>
              </a:rPr>
              <a:t>)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A326F9-B86F-5D7C-1D37-AD642A38D241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2609662-C7C0-9186-74D0-0A59963EECB0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FCF9DA9-772A-7C0A-EE81-3E804BCCDDC2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Teams [RPA</a:t>
              </a:r>
              <a:r>
                <a:rPr lang="ko-KR" altLang="en-US" sz="1000" dirty="0">
                  <a:solidFill>
                    <a:schemeClr val="tx1"/>
                  </a:solidFill>
                </a:rPr>
                <a:t>업무자동화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팀 </a:t>
              </a:r>
              <a:r>
                <a:rPr lang="en-US" altLang="ko-KR" sz="1000" dirty="0">
                  <a:solidFill>
                    <a:schemeClr val="tx1"/>
                  </a:solidFill>
                </a:rPr>
                <a:t>-&gt; R26013_</a:t>
              </a:r>
              <a:r>
                <a:rPr lang="ko-KR" altLang="en-US" sz="1000" dirty="0">
                  <a:solidFill>
                    <a:schemeClr val="tx1"/>
                  </a:solidFill>
                </a:rPr>
                <a:t>외주업체 </a:t>
              </a:r>
              <a:r>
                <a:rPr lang="en-US" altLang="ko-KR" sz="1000" dirty="0">
                  <a:solidFill>
                    <a:schemeClr val="tx1"/>
                  </a:solidFill>
                </a:rPr>
                <a:t>AS 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 정산 채널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상단의 공유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탭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문서</a:t>
              </a:r>
              <a:r>
                <a:rPr lang="en-US" altLang="ko-KR" sz="1000" dirty="0">
                  <a:solidFill>
                    <a:schemeClr val="tx1"/>
                  </a:solidFill>
                </a:rPr>
                <a:t>&gt;Output </a:t>
              </a:r>
              <a:r>
                <a:rPr lang="ko-KR" altLang="en-US" sz="1000" dirty="0">
                  <a:solidFill>
                    <a:schemeClr val="tx1"/>
                  </a:solidFill>
                </a:rPr>
                <a:t>폴더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Output </a:t>
              </a:r>
              <a:r>
                <a:rPr lang="ko-KR" altLang="en-US" sz="1000" dirty="0">
                  <a:solidFill>
                    <a:schemeClr val="tx1"/>
                  </a:solidFill>
                </a:rPr>
                <a:t>폴더는 </a:t>
              </a:r>
              <a:r>
                <a:rPr lang="en-US" altLang="ko-KR" sz="1000" dirty="0">
                  <a:solidFill>
                    <a:schemeClr val="tx1"/>
                  </a:solidFill>
                </a:rPr>
                <a:t>RPA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수행 결과 파일을 확인할 수 있는 폴더입니다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926ADD9-A055-DEFA-20C9-39CEC4422A24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DC95AA5-7812-AA2A-BAE8-55A83489351E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1373E1E-3952-19E0-015E-753FA3D8FEFC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CEDC6A2-C733-2659-4C4F-0FA5583F337C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66609B3-F4F8-6B0E-68CE-6794DCAA520A}"/>
              </a:ext>
            </a:extLst>
          </p:cNvPr>
          <p:cNvSpPr/>
          <p:nvPr/>
        </p:nvSpPr>
        <p:spPr>
          <a:xfrm>
            <a:off x="864712" y="5683545"/>
            <a:ext cx="2259799" cy="286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BFA5B9C-B42A-AAAB-A5A7-5884879586B9}"/>
              </a:ext>
            </a:extLst>
          </p:cNvPr>
          <p:cNvSpPr/>
          <p:nvPr/>
        </p:nvSpPr>
        <p:spPr>
          <a:xfrm>
            <a:off x="3232726" y="2902632"/>
            <a:ext cx="4367803" cy="1745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래픽 44" descr="배지 1 윤곽선">
            <a:extLst>
              <a:ext uri="{FF2B5EF4-FFF2-40B4-BE49-F238E27FC236}">
                <a16:creationId xmlns:a16="http://schemas.microsoft.com/office/drawing/2014/main" id="{B872A934-0459-E47A-6E23-D244C71414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9684" y="5216746"/>
            <a:ext cx="429853" cy="429853"/>
          </a:xfrm>
          <a:prstGeom prst="rect">
            <a:avLst/>
          </a:prstGeom>
        </p:spPr>
      </p:pic>
      <p:pic>
        <p:nvPicPr>
          <p:cNvPr id="46" name="그래픽 45" descr="배지 윤곽선">
            <a:extLst>
              <a:ext uri="{FF2B5EF4-FFF2-40B4-BE49-F238E27FC236}">
                <a16:creationId xmlns:a16="http://schemas.microsoft.com/office/drawing/2014/main" id="{189F6DE8-4B6B-CFFA-14BF-D0AC1B2243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7999" y="1101543"/>
            <a:ext cx="498764" cy="498764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36BA7567-6836-B0A6-CD82-119B844806DE}"/>
              </a:ext>
            </a:extLst>
          </p:cNvPr>
          <p:cNvSpPr/>
          <p:nvPr/>
        </p:nvSpPr>
        <p:spPr>
          <a:xfrm>
            <a:off x="5652654" y="1618779"/>
            <a:ext cx="369455" cy="3879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배지 3 윤곽선">
            <a:extLst>
              <a:ext uri="{FF2B5EF4-FFF2-40B4-BE49-F238E27FC236}">
                <a16:creationId xmlns:a16="http://schemas.microsoft.com/office/drawing/2014/main" id="{479F550E-4182-FFD8-61E9-B85700B3A5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651982" y="2348451"/>
            <a:ext cx="498764" cy="49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6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4C923-60FA-57CE-8572-32A222F32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A40AFB0-BEFF-0AC7-AE0B-1DB8AD431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21" y="1103503"/>
            <a:ext cx="7220608" cy="534382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754E0AC-2A82-22B3-6654-14CE4767D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RPA</a:t>
            </a:r>
            <a:r>
              <a:rPr lang="ko-KR" altLang="en-US" sz="2400" dirty="0">
                <a:latin typeface="+mn-ea"/>
                <a:ea typeface="+mn-ea"/>
              </a:rPr>
              <a:t> 관리 채널 </a:t>
            </a:r>
            <a:r>
              <a:rPr lang="en-US" altLang="ko-KR" sz="2400" dirty="0">
                <a:latin typeface="+mn-ea"/>
                <a:ea typeface="+mn-ea"/>
              </a:rPr>
              <a:t>(</a:t>
            </a:r>
            <a:r>
              <a:rPr lang="ko-KR" altLang="en-US" sz="2400" dirty="0">
                <a:latin typeface="+mn-ea"/>
                <a:ea typeface="+mn-ea"/>
              </a:rPr>
              <a:t>문서</a:t>
            </a:r>
            <a:r>
              <a:rPr lang="en-US" altLang="ko-KR" sz="2400" dirty="0">
                <a:latin typeface="+mn-ea"/>
                <a:ea typeface="+mn-ea"/>
              </a:rPr>
              <a:t> </a:t>
            </a:r>
            <a:r>
              <a:rPr lang="ko-KR" altLang="en-US" sz="2400" dirty="0">
                <a:latin typeface="+mn-ea"/>
                <a:ea typeface="+mn-ea"/>
              </a:rPr>
              <a:t>폴더</a:t>
            </a:r>
            <a:r>
              <a:rPr lang="en-US" altLang="ko-KR" sz="2400" dirty="0">
                <a:latin typeface="+mn-ea"/>
                <a:ea typeface="+mn-ea"/>
              </a:rPr>
              <a:t>)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E4B924-4A51-4981-6DB5-C1342ECC602B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5DAD504-0061-84E1-BD04-BA8439A973A4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8D109C2-47B9-4071-7052-12F8FE164659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Teams [RPA</a:t>
              </a:r>
              <a:r>
                <a:rPr lang="ko-KR" altLang="en-US" sz="1000" dirty="0">
                  <a:solidFill>
                    <a:schemeClr val="tx1"/>
                  </a:solidFill>
                </a:rPr>
                <a:t>업무자동화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팀 </a:t>
              </a:r>
              <a:r>
                <a:rPr lang="en-US" altLang="ko-KR" sz="1000" dirty="0">
                  <a:solidFill>
                    <a:schemeClr val="tx1"/>
                  </a:solidFill>
                </a:rPr>
                <a:t>-&gt; R26013_</a:t>
              </a:r>
              <a:r>
                <a:rPr lang="ko-KR" altLang="en-US" sz="1000" dirty="0">
                  <a:solidFill>
                    <a:schemeClr val="tx1"/>
                  </a:solidFill>
                </a:rPr>
                <a:t>외주업체 </a:t>
              </a:r>
              <a:r>
                <a:rPr lang="en-US" altLang="ko-KR" sz="1000" dirty="0">
                  <a:solidFill>
                    <a:schemeClr val="tx1"/>
                  </a:solidFill>
                </a:rPr>
                <a:t>AS 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 정산 채널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상단의 공유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탭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문서</a:t>
              </a:r>
              <a:r>
                <a:rPr lang="en-US" altLang="ko-KR" sz="1000" dirty="0">
                  <a:solidFill>
                    <a:schemeClr val="tx1"/>
                  </a:solidFill>
                </a:rPr>
                <a:t>&gt;</a:t>
              </a:r>
              <a:r>
                <a:rPr lang="ko-KR" altLang="en-US" sz="1000" dirty="0">
                  <a:solidFill>
                    <a:schemeClr val="tx1"/>
                  </a:solidFill>
                </a:rPr>
                <a:t>문서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폴더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문서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폴더는 </a:t>
              </a:r>
              <a:r>
                <a:rPr lang="en-US" altLang="ko-KR" sz="1000" dirty="0">
                  <a:solidFill>
                    <a:schemeClr val="tx1"/>
                  </a:solidFill>
                </a:rPr>
                <a:t>RPA 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개발관련 문서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관리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프로세스 정의서 등의 문서 파일을 확인할 수 있습니다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298794D-2F08-801E-C514-3512FCD3074A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B65BB54-7E4F-76BC-D6A8-4BB9EEA91C0A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DD6E6E8-E970-DAA9-DF74-F2D6D23C5BEB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C378161-B854-6B0D-595D-6BB4DE28E389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2102C48-DF40-2825-DCDA-CB2BC880FF3C}"/>
              </a:ext>
            </a:extLst>
          </p:cNvPr>
          <p:cNvSpPr/>
          <p:nvPr/>
        </p:nvSpPr>
        <p:spPr>
          <a:xfrm>
            <a:off x="972927" y="5754497"/>
            <a:ext cx="2259799" cy="286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D6450AB-B1B2-ED7B-AEBC-636DEB498840}"/>
              </a:ext>
            </a:extLst>
          </p:cNvPr>
          <p:cNvSpPr/>
          <p:nvPr/>
        </p:nvSpPr>
        <p:spPr>
          <a:xfrm>
            <a:off x="3435927" y="2733964"/>
            <a:ext cx="4164602" cy="12768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래픽 44" descr="배지 1 윤곽선">
            <a:extLst>
              <a:ext uri="{FF2B5EF4-FFF2-40B4-BE49-F238E27FC236}">
                <a16:creationId xmlns:a16="http://schemas.microsoft.com/office/drawing/2014/main" id="{4C347A0F-EE4A-760D-6AF8-B9B4675B95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2811" y="5262926"/>
            <a:ext cx="429853" cy="429853"/>
          </a:xfrm>
          <a:prstGeom prst="rect">
            <a:avLst/>
          </a:prstGeom>
        </p:spPr>
      </p:pic>
      <p:pic>
        <p:nvPicPr>
          <p:cNvPr id="46" name="그래픽 45" descr="배지 윤곽선">
            <a:extLst>
              <a:ext uri="{FF2B5EF4-FFF2-40B4-BE49-F238E27FC236}">
                <a16:creationId xmlns:a16="http://schemas.microsoft.com/office/drawing/2014/main" id="{5BB00AA5-B472-1132-CC5F-FAEE04C7D8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8981" y="905164"/>
            <a:ext cx="498764" cy="498764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0A8710B2-DF7E-3390-F1C3-3A0F0A04214E}"/>
              </a:ext>
            </a:extLst>
          </p:cNvPr>
          <p:cNvSpPr/>
          <p:nvPr/>
        </p:nvSpPr>
        <p:spPr>
          <a:xfrm>
            <a:off x="6003636" y="1422400"/>
            <a:ext cx="369455" cy="3879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배지 3 윤곽선">
            <a:extLst>
              <a:ext uri="{FF2B5EF4-FFF2-40B4-BE49-F238E27FC236}">
                <a16:creationId xmlns:a16="http://schemas.microsoft.com/office/drawing/2014/main" id="{5EAC516D-951D-1D73-C38C-5D44110DB0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268846" y="2235200"/>
            <a:ext cx="498764" cy="49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55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2C48B-95C9-CEAE-57C5-B027057C0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82568D1-2A05-6CB6-83EB-D1DD59D28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64" y="1490430"/>
            <a:ext cx="7648708" cy="471303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08A401C-5DEF-A159-6D46-DCB0F03DF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RPA</a:t>
            </a:r>
            <a:r>
              <a:rPr lang="ko-KR" altLang="en-US" sz="2400" dirty="0">
                <a:latin typeface="+mn-ea"/>
                <a:ea typeface="+mn-ea"/>
              </a:rPr>
              <a:t> 구동 전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사전 세팅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5BA05C-8B51-F082-6039-FE04BB2C9740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A2FBFE-B989-3390-1CD5-4B26C0BD9135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A79B9F1-ABFD-EE9D-9B2A-2FCA868DCA81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경영정보 접속 후 파일 다운로드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A/S</a:t>
              </a:r>
              <a:r>
                <a:rPr lang="ko-KR" altLang="en-US" sz="1000" dirty="0">
                  <a:solidFill>
                    <a:schemeClr val="tx1"/>
                  </a:solidFill>
                </a:rPr>
                <a:t>관리 </a:t>
              </a:r>
              <a:r>
                <a:rPr lang="en-US" altLang="ko-KR" sz="1000" dirty="0">
                  <a:solidFill>
                    <a:schemeClr val="tx1"/>
                  </a:solidFill>
                </a:rPr>
                <a:t>&gt; A/S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 화면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파일 다운로드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기간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RPA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수행 시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조회할 기간</a:t>
              </a:r>
              <a:r>
                <a:rPr lang="en-US" altLang="ko-KR" sz="1000" dirty="0">
                  <a:solidFill>
                    <a:schemeClr val="tx1"/>
                  </a:solidFill>
                </a:rPr>
                <a:t> /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파일종류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처리 </a:t>
              </a:r>
              <a:r>
                <a:rPr lang="en-US" altLang="ko-KR" sz="1000" dirty="0">
                  <a:solidFill>
                    <a:schemeClr val="tx1"/>
                  </a:solidFill>
                </a:rPr>
                <a:t>=&gt;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다운로드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62FEB6F-D200-CAF6-1080-274D424AAC6E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0117955-C8B8-4F42-23B0-502A814EA508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56A515A-78A7-38DC-577E-AD41751E3CFF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1FD639D-6BE8-CDC8-D2A5-14ACAF63CE78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AC07701-E076-4B50-4733-EE602D8DDDA7}"/>
              </a:ext>
            </a:extLst>
          </p:cNvPr>
          <p:cNvSpPr/>
          <p:nvPr/>
        </p:nvSpPr>
        <p:spPr>
          <a:xfrm>
            <a:off x="142665" y="3001818"/>
            <a:ext cx="1224318" cy="2315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1E306D8-6E9D-7C64-51F6-295FE8000CA1}"/>
              </a:ext>
            </a:extLst>
          </p:cNvPr>
          <p:cNvSpPr/>
          <p:nvPr/>
        </p:nvSpPr>
        <p:spPr>
          <a:xfrm>
            <a:off x="1459345" y="1607127"/>
            <a:ext cx="554182" cy="2290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래픽 44" descr="배지 1 윤곽선">
            <a:extLst>
              <a:ext uri="{FF2B5EF4-FFF2-40B4-BE49-F238E27FC236}">
                <a16:creationId xmlns:a16="http://schemas.microsoft.com/office/drawing/2014/main" id="{CDAAED8B-EB23-0C77-D8ED-7E359C931D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897" y="2571965"/>
            <a:ext cx="429853" cy="429853"/>
          </a:xfrm>
          <a:prstGeom prst="rect">
            <a:avLst/>
          </a:prstGeom>
        </p:spPr>
      </p:pic>
      <p:pic>
        <p:nvPicPr>
          <p:cNvPr id="46" name="그래픽 45" descr="배지 윤곽선">
            <a:extLst>
              <a:ext uri="{FF2B5EF4-FFF2-40B4-BE49-F238E27FC236}">
                <a16:creationId xmlns:a16="http://schemas.microsoft.com/office/drawing/2014/main" id="{E0D5112E-F748-2280-3A23-951144234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7054" y="1108363"/>
            <a:ext cx="498764" cy="498764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5CB984C8-ABB3-F596-DE32-31AC52651E6E}"/>
              </a:ext>
            </a:extLst>
          </p:cNvPr>
          <p:cNvSpPr/>
          <p:nvPr/>
        </p:nvSpPr>
        <p:spPr>
          <a:xfrm>
            <a:off x="3782290" y="3076191"/>
            <a:ext cx="1731819" cy="16805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배지 3 윤곽선">
            <a:extLst>
              <a:ext uri="{FF2B5EF4-FFF2-40B4-BE49-F238E27FC236}">
                <a16:creationId xmlns:a16="http://schemas.microsoft.com/office/drawing/2014/main" id="{E19E9A81-CB9A-72BE-B51B-23167117BF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398817" y="2537509"/>
            <a:ext cx="498764" cy="49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062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8D24B-90D1-503C-0785-BB1F3C895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13FEB16C-07EC-08AE-402F-5C57BAE20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5479" y="1106355"/>
            <a:ext cx="1324160" cy="480127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B738B1B-236D-C210-85A8-4044397DE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6466" y="1106355"/>
            <a:ext cx="1581897" cy="560617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B0B4851-6097-C723-D102-B3F393116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205" y="1089891"/>
            <a:ext cx="1675504" cy="55487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6AB7A1C-36FC-E87E-1D98-FA56AC24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RPA</a:t>
            </a:r>
            <a:r>
              <a:rPr lang="ko-KR" altLang="en-US" sz="2400" dirty="0">
                <a:latin typeface="+mn-ea"/>
                <a:ea typeface="+mn-ea"/>
              </a:rPr>
              <a:t> 구동 전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사전 세팅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A118F2-6719-0CBC-69C4-8A31AB641A9B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782FBB5-E4C0-C383-6987-F7B10000EE4D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082BD14-2219-54AD-87F9-605ACE287525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경영정보 접속 후 파일 다운로드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[Serial]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대한 처리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정상 입력됐는지</a:t>
              </a:r>
              <a:r>
                <a:rPr lang="en-US" altLang="ko-KR" sz="1000" dirty="0">
                  <a:solidFill>
                    <a:schemeClr val="tx1"/>
                  </a:solidFill>
                </a:rPr>
                <a:t>?</a:t>
              </a: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형식에 맞는지</a:t>
              </a:r>
              <a:r>
                <a:rPr lang="en-US" altLang="ko-KR" sz="1000" dirty="0">
                  <a:solidFill>
                    <a:schemeClr val="tx1"/>
                  </a:solidFill>
                </a:rPr>
                <a:t>?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원인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대한 처리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영수증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대한 처리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새로운 칼럼을 생성 </a:t>
              </a:r>
              <a:r>
                <a:rPr lang="en-US" altLang="ko-KR" sz="1000" dirty="0">
                  <a:solidFill>
                    <a:schemeClr val="tx1"/>
                  </a:solidFill>
                </a:rPr>
                <a:t>=&gt; [</a:t>
              </a:r>
              <a:r>
                <a:rPr lang="ko-KR" altLang="en-US" sz="1000" dirty="0">
                  <a:solidFill>
                    <a:schemeClr val="tx1"/>
                  </a:solidFill>
                </a:rPr>
                <a:t>영수증</a:t>
              </a:r>
              <a:r>
                <a:rPr lang="en-US" altLang="ko-KR" sz="1000" dirty="0">
                  <a:solidFill>
                    <a:schemeClr val="tx1"/>
                  </a:solidFill>
                </a:rPr>
                <a:t>] (</a:t>
              </a:r>
              <a:r>
                <a:rPr lang="ko-KR" altLang="en-US" sz="1000" dirty="0">
                  <a:solidFill>
                    <a:schemeClr val="tx1"/>
                  </a:solidFill>
                </a:rPr>
                <a:t>영수증이 없어도 칼럼은 생성 해야함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영수증 유무에 대한 데이터 입력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>
                  <a:solidFill>
                    <a:schemeClr val="tx1"/>
                  </a:solidFill>
                </a:rPr>
                <a:t>현장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열에 대한 처리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대방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집단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  <a:r>
                <a:rPr lang="ko-KR" altLang="en-US" sz="1000" dirty="0">
                  <a:solidFill>
                    <a:schemeClr val="tx1"/>
                  </a:solidFill>
                </a:rPr>
                <a:t>현장인 데이터 입력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E89ED9C-88BD-133A-D593-B8A17212638B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2A0C740-2BB7-BB2A-BE89-3C5BC5CC1CF9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963025B-6877-FC44-202D-CF3B35F4B3DF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업무 담당자가 수작업으로 해야 하는 작업으로 위 작업을 하지 않고 </a:t>
              </a:r>
              <a:r>
                <a:rPr lang="en-US" altLang="ko-KR" sz="1000" dirty="0">
                  <a:solidFill>
                    <a:schemeClr val="tx1"/>
                  </a:solidFill>
                </a:rPr>
                <a:t>RPA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수행 시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데이터가 상이함 </a:t>
              </a:r>
              <a:r>
                <a:rPr lang="en-US" altLang="ko-KR" sz="1000" dirty="0">
                  <a:solidFill>
                    <a:schemeClr val="tx1"/>
                  </a:solidFill>
                </a:rPr>
                <a:t>=&gt;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이상이 있는 데이터 추적이 어려움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>
                  <a:solidFill>
                    <a:srgbClr val="0070C0"/>
                  </a:solidFill>
                  <a:ea typeface="맑은 고딕"/>
                </a:rPr>
                <a:t>**template </a:t>
              </a:r>
              <a:r>
                <a:rPr lang="en-US" altLang="ko-KR" sz="1000" dirty="0" err="1">
                  <a:solidFill>
                    <a:srgbClr val="0070C0"/>
                  </a:solidFill>
                  <a:ea typeface="맑은 고딕"/>
                </a:rPr>
                <a:t>파일</a:t>
              </a:r>
              <a:r>
                <a:rPr lang="en-US" altLang="ko-KR" sz="1000" dirty="0">
                  <a:solidFill>
                    <a:srgbClr val="0070C0"/>
                  </a:solidFill>
                  <a:ea typeface="맑은 고딕"/>
                </a:rPr>
                <a:t> 생성시, 시리얼 -&gt; </a:t>
              </a:r>
              <a:r>
                <a:rPr lang="en-US" altLang="ko-KR" sz="1000" dirty="0" err="1">
                  <a:solidFill>
                    <a:srgbClr val="0070C0"/>
                  </a:solidFill>
                  <a:ea typeface="맑은 고딕"/>
                </a:rPr>
                <a:t>제조년월로</a:t>
              </a:r>
              <a:r>
                <a:rPr lang="en-US" altLang="ko-KR" sz="1000" dirty="0">
                  <a:solidFill>
                    <a:srgbClr val="0070C0"/>
                  </a:solidFill>
                  <a:ea typeface="맑은 고딕"/>
                </a:rPr>
                <a:t> </a:t>
              </a:r>
              <a:r>
                <a:rPr lang="en-US" altLang="ko-KR" sz="1000" dirty="0" err="1">
                  <a:solidFill>
                    <a:srgbClr val="0070C0"/>
                  </a:solidFill>
                  <a:ea typeface="맑은 고딕"/>
                </a:rPr>
                <a:t>전환되는</a:t>
              </a:r>
              <a:r>
                <a:rPr lang="en-US" altLang="ko-KR" sz="1000" dirty="0">
                  <a:solidFill>
                    <a:srgbClr val="0070C0"/>
                  </a:solidFill>
                  <a:ea typeface="맑은 고딕"/>
                </a:rPr>
                <a:t> </a:t>
              </a:r>
              <a:r>
                <a:rPr lang="en-US" altLang="ko-KR" sz="1000" dirty="0" err="1">
                  <a:solidFill>
                    <a:srgbClr val="0070C0"/>
                  </a:solidFill>
                  <a:ea typeface="맑은 고딕"/>
                </a:rPr>
                <a:t>과정에서</a:t>
              </a:r>
              <a:r>
                <a:rPr lang="en-US" altLang="ko-KR" sz="1000" dirty="0">
                  <a:solidFill>
                    <a:srgbClr val="0070C0"/>
                  </a:solidFill>
                  <a:ea typeface="맑은 고딕"/>
                </a:rPr>
                <a:t> </a:t>
              </a:r>
              <a:r>
                <a:rPr lang="en-US" altLang="ko-KR" sz="1000" dirty="0" err="1">
                  <a:solidFill>
                    <a:srgbClr val="0070C0"/>
                  </a:solidFill>
                  <a:ea typeface="맑은 고딕"/>
                </a:rPr>
                <a:t>오류발생하면</a:t>
              </a:r>
              <a:r>
                <a:rPr lang="en-US" altLang="ko-KR" sz="1000" dirty="0">
                  <a:solidFill>
                    <a:srgbClr val="0070C0"/>
                  </a:solidFill>
                  <a:ea typeface="맑은 고딕"/>
                </a:rPr>
                <a:t> </a:t>
              </a:r>
              <a:r>
                <a:rPr lang="en-US" altLang="ko-KR" sz="1000" dirty="0" err="1">
                  <a:solidFill>
                    <a:srgbClr val="0070C0"/>
                  </a:solidFill>
                  <a:ea typeface="맑은 고딕"/>
                </a:rPr>
                <a:t>RPA진행안됨</a:t>
              </a:r>
              <a:r>
                <a:rPr lang="en-US" altLang="ko-KR" sz="1000" dirty="0">
                  <a:solidFill>
                    <a:srgbClr val="0070C0"/>
                  </a:solidFill>
                  <a:ea typeface="맑은 고딕"/>
                </a:rPr>
                <a:t> (</a:t>
              </a:r>
              <a:r>
                <a:rPr lang="en-US" altLang="ko-KR" sz="1000" dirty="0" err="1">
                  <a:solidFill>
                    <a:srgbClr val="0070C0"/>
                  </a:solidFill>
                  <a:ea typeface="맑은 고딕"/>
                </a:rPr>
                <a:t>시리얼</a:t>
              </a:r>
              <a:r>
                <a:rPr lang="en-US" altLang="ko-KR" sz="1000" dirty="0">
                  <a:solidFill>
                    <a:srgbClr val="0070C0"/>
                  </a:solidFill>
                  <a:ea typeface="맑은 고딕"/>
                </a:rPr>
                <a:t> 앞 </a:t>
              </a:r>
              <a:r>
                <a:rPr lang="en-US" altLang="ko-KR" sz="1000" dirty="0" err="1">
                  <a:solidFill>
                    <a:srgbClr val="0070C0"/>
                  </a:solidFill>
                  <a:ea typeface="맑은 고딕"/>
                </a:rPr>
                <a:t>알파벳</a:t>
              </a:r>
              <a:r>
                <a:rPr lang="en-US" altLang="ko-KR" sz="1000" dirty="0">
                  <a:solidFill>
                    <a:srgbClr val="0070C0"/>
                  </a:solidFill>
                  <a:ea typeface="맑은 고딕"/>
                </a:rPr>
                <a:t> 2자리포함여부는 </a:t>
              </a:r>
              <a:r>
                <a:rPr lang="en-US" altLang="ko-KR" sz="1000" dirty="0" err="1">
                  <a:solidFill>
                    <a:srgbClr val="0070C0"/>
                  </a:solidFill>
                  <a:ea typeface="맑은 고딕"/>
                </a:rPr>
                <a:t>상관없으나</a:t>
              </a:r>
              <a:r>
                <a:rPr lang="en-US" altLang="ko-KR" sz="1000" dirty="0">
                  <a:solidFill>
                    <a:srgbClr val="0070C0"/>
                  </a:solidFill>
                  <a:ea typeface="맑은 고딕"/>
                </a:rPr>
                <a:t>, </a:t>
              </a:r>
              <a:r>
                <a:rPr lang="en-US" altLang="ko-KR" sz="1000" dirty="0" err="1">
                  <a:solidFill>
                    <a:srgbClr val="0070C0"/>
                  </a:solidFill>
                  <a:ea typeface="맑은 고딕"/>
                </a:rPr>
                <a:t>연월표시부는</a:t>
              </a:r>
              <a:r>
                <a:rPr lang="en-US" altLang="ko-KR" sz="1000" dirty="0">
                  <a:solidFill>
                    <a:srgbClr val="0070C0"/>
                  </a:solidFill>
                  <a:ea typeface="맑은 고딕"/>
                </a:rPr>
                <a:t> </a:t>
              </a:r>
              <a:r>
                <a:rPr lang="en-US" altLang="ko-KR" sz="1000" dirty="0" err="1">
                  <a:solidFill>
                    <a:srgbClr val="0070C0"/>
                  </a:solidFill>
                  <a:ea typeface="맑은 고딕"/>
                </a:rPr>
                <a:t>확인필요</a:t>
              </a:r>
              <a:r>
                <a:rPr lang="en-US" altLang="ko-KR" sz="1000" dirty="0">
                  <a:solidFill>
                    <a:srgbClr val="0070C0"/>
                  </a:solidFill>
                  <a:ea typeface="맑은 고딕"/>
                </a:rPr>
                <a:t>.(</a:t>
              </a:r>
              <a:r>
                <a:rPr lang="en-US" altLang="ko-KR" sz="1000" dirty="0" err="1">
                  <a:solidFill>
                    <a:srgbClr val="0070C0"/>
                  </a:solidFill>
                  <a:ea typeface="맑은 고딕"/>
                </a:rPr>
                <a:t>에이스라이프</a:t>
              </a:r>
              <a:r>
                <a:rPr lang="en-US" altLang="ko-KR" sz="1000" dirty="0">
                  <a:solidFill>
                    <a:srgbClr val="0070C0"/>
                  </a:solidFill>
                  <a:ea typeface="맑은 고딕"/>
                </a:rPr>
                <a:t> 숫자앞4자리,ex)2412, </a:t>
              </a:r>
              <a:r>
                <a:rPr lang="en-US" altLang="ko-KR" sz="1000" dirty="0" err="1">
                  <a:solidFill>
                    <a:srgbClr val="0070C0"/>
                  </a:solidFill>
                  <a:ea typeface="맑은 고딕"/>
                </a:rPr>
                <a:t>나누텍의경우</a:t>
              </a:r>
              <a:r>
                <a:rPr lang="en-US" altLang="ko-KR" sz="1000" dirty="0">
                  <a:solidFill>
                    <a:srgbClr val="0070C0"/>
                  </a:solidFill>
                  <a:ea typeface="맑은 고딕"/>
                </a:rPr>
                <a:t> </a:t>
              </a:r>
              <a:r>
                <a:rPr lang="en-US" altLang="ko-KR" sz="1000" dirty="0" err="1">
                  <a:solidFill>
                    <a:srgbClr val="0070C0"/>
                  </a:solidFill>
                  <a:ea typeface="맑은 고딕"/>
                </a:rPr>
                <a:t>ND뒤</a:t>
              </a:r>
              <a:r>
                <a:rPr lang="en-US" altLang="ko-KR" sz="1000" dirty="0">
                  <a:solidFill>
                    <a:srgbClr val="0070C0"/>
                  </a:solidFill>
                  <a:ea typeface="맑은 고딕"/>
                </a:rPr>
                <a:t> 3자리) &amp; </a:t>
              </a:r>
              <a:r>
                <a:rPr lang="en-US" altLang="ko-KR" sz="1000" dirty="0" err="1">
                  <a:solidFill>
                    <a:srgbClr val="0070C0"/>
                  </a:solidFill>
                  <a:ea typeface="맑은 고딕"/>
                </a:rPr>
                <a:t>필터해제</a:t>
              </a:r>
              <a:r>
                <a:rPr lang="en-US" altLang="ko-KR" sz="1000" dirty="0">
                  <a:solidFill>
                    <a:srgbClr val="0070C0"/>
                  </a:solidFill>
                  <a:ea typeface="맑은 고딕"/>
                </a:rPr>
                <a:t> </a:t>
              </a:r>
              <a:r>
                <a:rPr lang="en-US" altLang="ko-KR" sz="1000" dirty="0" err="1">
                  <a:solidFill>
                    <a:srgbClr val="0070C0"/>
                  </a:solidFill>
                  <a:ea typeface="맑은 고딕"/>
                </a:rPr>
                <a:t>필수</a:t>
              </a:r>
              <a:endParaRPr lang="en-US" altLang="ko-KR" sz="1000">
                <a:solidFill>
                  <a:srgbClr val="0070C0"/>
                </a:solidFill>
                <a:ea typeface="맑은 고딕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16AEA42-4AF1-B7CC-B24C-917B65839601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9E85CD1-A9EC-E997-4E8A-4DD115AA4394}"/>
              </a:ext>
            </a:extLst>
          </p:cNvPr>
          <p:cNvSpPr/>
          <p:nvPr/>
        </p:nvSpPr>
        <p:spPr>
          <a:xfrm>
            <a:off x="257204" y="1108362"/>
            <a:ext cx="1675504" cy="56041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135BB60-C9E9-CC21-DE54-83E4CFCB3113}"/>
              </a:ext>
            </a:extLst>
          </p:cNvPr>
          <p:cNvSpPr/>
          <p:nvPr/>
        </p:nvSpPr>
        <p:spPr>
          <a:xfrm>
            <a:off x="4155479" y="1160076"/>
            <a:ext cx="1324160" cy="4825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래픽 44" descr="배지 1 윤곽선">
            <a:extLst>
              <a:ext uri="{FF2B5EF4-FFF2-40B4-BE49-F238E27FC236}">
                <a16:creationId xmlns:a16="http://schemas.microsoft.com/office/drawing/2014/main" id="{5C7B6E0F-7A4D-F6DA-06F3-852018618F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0029" y="3480591"/>
            <a:ext cx="429853" cy="429853"/>
          </a:xfrm>
          <a:prstGeom prst="rect">
            <a:avLst/>
          </a:prstGeom>
        </p:spPr>
      </p:pic>
      <p:pic>
        <p:nvPicPr>
          <p:cNvPr id="46" name="그래픽 45" descr="배지 윤곽선">
            <a:extLst>
              <a:ext uri="{FF2B5EF4-FFF2-40B4-BE49-F238E27FC236}">
                <a16:creationId xmlns:a16="http://schemas.microsoft.com/office/drawing/2014/main" id="{72948771-A163-5B48-0732-4FE97830B9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37414" y="3446135"/>
            <a:ext cx="498764" cy="498764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0C306B4A-03D9-FF04-974D-C79E8F96B5CD}"/>
              </a:ext>
            </a:extLst>
          </p:cNvPr>
          <p:cNvSpPr/>
          <p:nvPr/>
        </p:nvSpPr>
        <p:spPr>
          <a:xfrm>
            <a:off x="2146466" y="1106355"/>
            <a:ext cx="1731819" cy="56061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배지 3 윤곽선">
            <a:extLst>
              <a:ext uri="{FF2B5EF4-FFF2-40B4-BE49-F238E27FC236}">
                <a16:creationId xmlns:a16="http://schemas.microsoft.com/office/drawing/2014/main" id="{713E2A7C-52D4-DEB5-D2AB-E888A04F7F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638603" y="3429000"/>
            <a:ext cx="498764" cy="49876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4BB1ABC-0DB1-A5B5-A1D1-8FF244A82A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2763" y="1069911"/>
            <a:ext cx="1552655" cy="5554068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9D350EC2-9AF9-976F-8EF7-64BE3E2A6694}"/>
              </a:ext>
            </a:extLst>
          </p:cNvPr>
          <p:cNvSpPr/>
          <p:nvPr/>
        </p:nvSpPr>
        <p:spPr>
          <a:xfrm>
            <a:off x="5971548" y="1089891"/>
            <a:ext cx="1552654" cy="55340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래픽 22" descr="배지 4 윤곽선">
            <a:extLst>
              <a:ext uri="{FF2B5EF4-FFF2-40B4-BE49-F238E27FC236}">
                <a16:creationId xmlns:a16="http://schemas.microsoft.com/office/drawing/2014/main" id="{44F6B588-F8A7-ED04-5567-ABBADC1CB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607629" y="3446135"/>
            <a:ext cx="498764" cy="49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7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E49C5-2FC1-031E-ED90-0E6FA8A6E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2D8BA8D-8610-A0D8-702F-440E52CA8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80" y="1454727"/>
            <a:ext cx="7572672" cy="478443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7F828FC-5DF0-877D-B315-51D06190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</a:rPr>
              <a:t>2) RPA</a:t>
            </a:r>
            <a:r>
              <a:rPr lang="ko-KR" altLang="en-US" sz="2400" dirty="0">
                <a:latin typeface="+mn-ea"/>
              </a:rPr>
              <a:t> 구동 전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사전 세팅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62FF4D-97C4-C49A-A865-64295024C229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A9C850D-5124-5E6F-0F87-F4C1FBE3A2D1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CDA1852-4AEC-5558-4838-0D219F37CB89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Teams [RPA</a:t>
              </a:r>
              <a:r>
                <a:rPr lang="ko-KR" altLang="en-US" sz="1000" dirty="0">
                  <a:solidFill>
                    <a:schemeClr val="tx1"/>
                  </a:solidFill>
                </a:rPr>
                <a:t>업무자동화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팀 </a:t>
              </a:r>
              <a:r>
                <a:rPr lang="en-US" altLang="ko-KR" sz="1000" dirty="0">
                  <a:solidFill>
                    <a:schemeClr val="tx1"/>
                  </a:solidFill>
                </a:rPr>
                <a:t>-&gt; R26013_</a:t>
              </a:r>
              <a:r>
                <a:rPr lang="ko-KR" altLang="en-US" sz="1000" dirty="0">
                  <a:solidFill>
                    <a:schemeClr val="tx1"/>
                  </a:solidFill>
                </a:rPr>
                <a:t>외주업체 </a:t>
              </a:r>
              <a:r>
                <a:rPr lang="en-US" altLang="ko-KR" sz="1000" dirty="0">
                  <a:solidFill>
                    <a:schemeClr val="tx1"/>
                  </a:solidFill>
                </a:rPr>
                <a:t>AS 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대행료 정산 채널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상단의 공유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탭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문서</a:t>
              </a:r>
              <a:r>
                <a:rPr lang="en-US" altLang="ko-KR" sz="1000" dirty="0">
                  <a:solidFill>
                    <a:schemeClr val="tx1"/>
                  </a:solidFill>
                </a:rPr>
                <a:t>&gt;Template </a:t>
              </a:r>
              <a:r>
                <a:rPr lang="ko-KR" altLang="en-US" sz="1000" dirty="0">
                  <a:solidFill>
                    <a:schemeClr val="tx1"/>
                  </a:solidFill>
                </a:rPr>
                <a:t>폴더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작업이 완료된 원본 파일을 </a:t>
              </a:r>
              <a:r>
                <a:rPr lang="en-US" altLang="ko-KR" sz="1000" dirty="0">
                  <a:solidFill>
                    <a:schemeClr val="tx1"/>
                  </a:solidFill>
                </a:rPr>
                <a:t>Template </a:t>
              </a:r>
              <a:r>
                <a:rPr lang="ko-KR" altLang="en-US" sz="1000" dirty="0">
                  <a:solidFill>
                    <a:schemeClr val="tx1"/>
                  </a:solidFill>
                </a:rPr>
                <a:t>폴더에 업로드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파일명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 (</a:t>
              </a:r>
              <a:r>
                <a:rPr lang="ko-KR" altLang="en-US" sz="1000" dirty="0">
                  <a:solidFill>
                    <a:schemeClr val="tx1"/>
                  </a:solidFill>
                </a:rPr>
                <a:t>파일명 다를 시</a:t>
              </a:r>
              <a:r>
                <a:rPr lang="en-US" altLang="ko-KR" sz="1000" dirty="0">
                  <a:solidFill>
                    <a:schemeClr val="tx1"/>
                  </a:solidFill>
                </a:rPr>
                <a:t>, RPA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수행</a:t>
              </a:r>
              <a:r>
                <a:rPr lang="en-US" altLang="ko-KR" sz="1000" dirty="0">
                  <a:solidFill>
                    <a:schemeClr val="tx1"/>
                  </a:solidFill>
                </a:rPr>
                <a:t>X)</a:t>
              </a: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이미 파일이 있으면 덮어쓰기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077D05A-8B25-CED0-7C89-0772381B56D6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D035684-5624-D90C-79D1-353411227998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449A8E1-EBF4-FACF-91A4-65A45476B279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업로드가 완료되어야 </a:t>
              </a:r>
              <a:r>
                <a:rPr lang="en-US" altLang="ko-KR" sz="1000" dirty="0">
                  <a:solidFill>
                    <a:schemeClr val="tx1"/>
                  </a:solidFill>
                </a:rPr>
                <a:t>RPA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수행이 가능합니다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E94D2C7-5849-537C-0EC8-3B378B7B9C59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301CD5C-A497-B0F2-74DC-18A88AC78F83}"/>
              </a:ext>
            </a:extLst>
          </p:cNvPr>
          <p:cNvSpPr/>
          <p:nvPr/>
        </p:nvSpPr>
        <p:spPr>
          <a:xfrm>
            <a:off x="570804" y="5615709"/>
            <a:ext cx="2259799" cy="286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C3DF5D2-EE31-2E59-3D6D-8B77939A6D7D}"/>
              </a:ext>
            </a:extLst>
          </p:cNvPr>
          <p:cNvSpPr/>
          <p:nvPr/>
        </p:nvSpPr>
        <p:spPr>
          <a:xfrm>
            <a:off x="2947140" y="2697124"/>
            <a:ext cx="4719042" cy="13206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래픽 44" descr="배지 1 윤곽선">
            <a:extLst>
              <a:ext uri="{FF2B5EF4-FFF2-40B4-BE49-F238E27FC236}">
                <a16:creationId xmlns:a16="http://schemas.microsoft.com/office/drawing/2014/main" id="{64F8834A-1BA3-1766-A5DC-373CA601EC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776" y="5126001"/>
            <a:ext cx="429853" cy="429853"/>
          </a:xfrm>
          <a:prstGeom prst="rect">
            <a:avLst/>
          </a:prstGeom>
        </p:spPr>
      </p:pic>
      <p:pic>
        <p:nvPicPr>
          <p:cNvPr id="46" name="그래픽 45" descr="배지 윤곽선">
            <a:extLst>
              <a:ext uri="{FF2B5EF4-FFF2-40B4-BE49-F238E27FC236}">
                <a16:creationId xmlns:a16="http://schemas.microsoft.com/office/drawing/2014/main" id="{6AB22378-51E7-032E-2712-0FB3C6E06D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53890" y="1228435"/>
            <a:ext cx="498764" cy="498764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CD39EC1E-9F8F-20CB-A27A-860CEC0E640C}"/>
              </a:ext>
            </a:extLst>
          </p:cNvPr>
          <p:cNvSpPr/>
          <p:nvPr/>
        </p:nvSpPr>
        <p:spPr>
          <a:xfrm>
            <a:off x="5218545" y="1727199"/>
            <a:ext cx="369455" cy="3879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배지 3 윤곽선">
            <a:extLst>
              <a:ext uri="{FF2B5EF4-FFF2-40B4-BE49-F238E27FC236}">
                <a16:creationId xmlns:a16="http://schemas.microsoft.com/office/drawing/2014/main" id="{5660F78D-D8C3-B165-DDF9-A47023DE66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717634" y="2161415"/>
            <a:ext cx="498764" cy="49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2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A8F0F32B5B55347B2251887BC904DE1" ma:contentTypeVersion="3" ma:contentTypeDescription="새 문서를 만듭니다." ma:contentTypeScope="" ma:versionID="0979a3c226661408f279f30b992880a4">
  <xsd:schema xmlns:xsd="http://www.w3.org/2001/XMLSchema" xmlns:xs="http://www.w3.org/2001/XMLSchema" xmlns:p="http://schemas.microsoft.com/office/2006/metadata/properties" xmlns:ns2="0cb69f53-8e75-4a45-aa72-8edd6b9f2795" targetNamespace="http://schemas.microsoft.com/office/2006/metadata/properties" ma:root="true" ma:fieldsID="84fbd632155588ee80ea91993e08118b" ns2:_="">
    <xsd:import namespace="0cb69f53-8e75-4a45-aa72-8edd6b9f27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69f53-8e75-4a45-aa72-8edd6b9f27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3DD0B0B-C2C0-4905-9073-AAC6D9DDE1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803BBD-0603-4EF6-92B4-9FEE0241B4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b69f53-8e75-4a45-aa72-8edd6b9f27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EAEC237-FEC0-4705-839B-0C2B59140506}">
  <ds:schemaRefs>
    <ds:schemaRef ds:uri="http://schemas.microsoft.com/office/2006/metadata/properties"/>
    <ds:schemaRef ds:uri="http://schemas.microsoft.com/office/infopath/2007/PartnerControls"/>
    <ds:schemaRef ds:uri="15cf5ba3-e289-48a8-8cfc-3b31467b0c0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412</Words>
  <Application>Microsoft Office PowerPoint</Application>
  <PresentationFormat>Widescreen</PresentationFormat>
  <Paragraphs>86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테마</vt:lpstr>
      <vt:lpstr>RPA 사용자 메뉴얼</vt:lpstr>
      <vt:lpstr>1) RPA 관리 채널 (Template 폴더)</vt:lpstr>
      <vt:lpstr>1) RPA 관리 채널 (Output 폴더)</vt:lpstr>
      <vt:lpstr>1) RPA 관리 채널 (문서 폴더)</vt:lpstr>
      <vt:lpstr>2) RPA 구동 전, 사전 세팅</vt:lpstr>
      <vt:lpstr>2) RPA 구동 전, 사전 세팅</vt:lpstr>
      <vt:lpstr>2) RPA 구동 전, 사전 세팅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배태영</dc:creator>
  <cp:lastModifiedBy>배태영</cp:lastModifiedBy>
  <cp:revision>102</cp:revision>
  <dcterms:created xsi:type="dcterms:W3CDTF">2025-10-31T04:16:53Z</dcterms:created>
  <dcterms:modified xsi:type="dcterms:W3CDTF">2026-05-29T02:00:05Z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0x0101008A8F0F32B5B55347B2251887BC904DE1</vt:lpwstr>
  </property>
</Properties>
</file>