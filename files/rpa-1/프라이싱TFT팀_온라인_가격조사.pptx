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61" r:id="rId3"/>
    <p:sldId id="262" r:id="rId4"/>
    <p:sldId id="275" r:id="rId5"/>
    <p:sldId id="298" r:id="rId6"/>
    <p:sldId id="263" r:id="rId7"/>
    <p:sldId id="266" r:id="rId8"/>
    <p:sldId id="280" r:id="rId9"/>
    <p:sldId id="287" r:id="rId10"/>
    <p:sldId id="281" r:id="rId11"/>
    <p:sldId id="282" r:id="rId12"/>
    <p:sldId id="288" r:id="rId13"/>
    <p:sldId id="291" r:id="rId14"/>
    <p:sldId id="289" r:id="rId15"/>
    <p:sldId id="292" r:id="rId16"/>
    <p:sldId id="29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A16AA-3F00-4BD3-B9BE-AD4199586906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146A-5169-447F-A50D-5987013003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93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1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417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142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254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934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938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808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624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170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793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624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980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224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91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46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50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2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360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2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73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19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49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49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72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590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515" y="6032569"/>
            <a:ext cx="1206151" cy="252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48408" y="6032570"/>
            <a:ext cx="1206151" cy="30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612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466">
          <p15:clr>
            <a:srgbClr val="FBAE40"/>
          </p15:clr>
        </p15:guide>
        <p15:guide id="3" pos="46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스터_대내제안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9" name="직선 연결선 18"/>
          <p:cNvCxnSpPr/>
          <p:nvPr userDrawn="1"/>
        </p:nvCxnSpPr>
        <p:spPr>
          <a:xfrm flipH="1">
            <a:off x="1" y="797741"/>
            <a:ext cx="1219102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H="1">
            <a:off x="977" y="6457950"/>
            <a:ext cx="1219004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843529" y="6530609"/>
            <a:ext cx="504946" cy="25391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sz="1050" b="1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 smtClean="0"/>
              <a:t>- </a:t>
            </a:r>
            <a:fld id="{FDEBD689-CD72-46D1-AE0B-2BB7D6B163A0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sp>
        <p:nvSpPr>
          <p:cNvPr id="25" name="제목 1"/>
          <p:cNvSpPr>
            <a:spLocks noGrp="1"/>
          </p:cNvSpPr>
          <p:nvPr>
            <p:ph type="title"/>
          </p:nvPr>
        </p:nvSpPr>
        <p:spPr>
          <a:xfrm>
            <a:off x="336062" y="193702"/>
            <a:ext cx="4036361" cy="4431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lang="ko-KR" altLang="en-US" sz="3200" b="1" spc="-30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algn="l">
              <a:lnSpc>
                <a:spcPct val="90000"/>
              </a:lnSpc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pic>
        <p:nvPicPr>
          <p:cNvPr id="26" name="그림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02" y="6567567"/>
            <a:ext cx="861536" cy="1800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56971" y="6548518"/>
            <a:ext cx="868446" cy="21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2438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6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C23C2-03AC-4CCC-85D1-9A67E15FF75B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8A698-DC75-4FAC-A545-B4CD51A95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82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\\rpa-filesvr\RPA.&#54532;&#46972;&#51060;&#49905;TFT&#54016;\022_TFT%20&#50728;&#46972;&#51064;&#44032;&#44201;&#51312;&#49324;\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712367" y="2240949"/>
            <a:ext cx="7429575" cy="1069141"/>
            <a:chOff x="569367" y="2240948"/>
            <a:chExt cx="5889098" cy="1069141"/>
          </a:xfrm>
        </p:grpSpPr>
        <p:sp>
          <p:nvSpPr>
            <p:cNvPr id="7" name="TextBox 6"/>
            <p:cNvSpPr txBox="1"/>
            <p:nvPr/>
          </p:nvSpPr>
          <p:spPr>
            <a:xfrm>
              <a:off x="569367" y="2240948"/>
              <a:ext cx="5889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0" b="1" spc="-1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맑은 고딕" panose="020B0503020000020004" pitchFamily="50" charset="-127"/>
                </a:rPr>
                <a:t>롯데하이마트</a:t>
              </a:r>
              <a:r>
                <a:rPr lang="ko-KR" altLang="en-US" sz="400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64042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400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64042"/>
                  </a:solidFill>
                  <a:latin typeface="맑은 고딕" panose="020B0503020000020004" pitchFamily="50" charset="-127"/>
                </a:rPr>
                <a:t>RPA </a:t>
              </a:r>
              <a:r>
                <a:rPr lang="ko-KR" altLang="en-US" sz="400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64042"/>
                  </a:solidFill>
                  <a:latin typeface="맑은 고딕" panose="020B0503020000020004" pitchFamily="50" charset="-127"/>
                </a:rPr>
                <a:t>프로세스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4785" y="2940757"/>
              <a:ext cx="3127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spc="-15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TFT</a:t>
              </a:r>
              <a:r>
                <a:rPr lang="ko-KR" altLang="en-US" b="1" spc="-15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팀 온라인 가격조사 </a:t>
              </a:r>
              <a:r>
                <a:rPr lang="ko-KR" altLang="en-US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프로세스 정의서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767785" y="4583661"/>
            <a:ext cx="889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 b="1" spc="-8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 smtClean="0"/>
              <a:t>2025. 02 </a:t>
            </a:r>
            <a:endParaRPr lang="ko-KR" altLang="en-US" dirty="0"/>
          </a:p>
        </p:txBody>
      </p:sp>
      <p:graphicFrame>
        <p:nvGraphicFramePr>
          <p:cNvPr id="9" name="Group 70">
            <a:extLst>
              <a:ext uri="{FF2B5EF4-FFF2-40B4-BE49-F238E27FC236}">
                <a16:creationId xmlns:a16="http://schemas.microsoft.com/office/drawing/2014/main" xmlns="" id="{7F2930FB-2724-4DA1-926B-475EA459F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368386"/>
              </p:ext>
            </p:extLst>
          </p:nvPr>
        </p:nvGraphicFramePr>
        <p:xfrm>
          <a:off x="4073932" y="3748396"/>
          <a:ext cx="3328552" cy="1243942"/>
        </p:xfrm>
        <a:graphic>
          <a:graphicData uri="http://schemas.openxmlformats.org/drawingml/2006/table">
            <a:tbl>
              <a:tblPr>
                <a:effectLst>
                  <a:outerShdw blurRad="25400" dist="25400" dir="5400000" algn="tl" rotWithShape="0">
                    <a:srgbClr val="0D0D0D">
                      <a:alpha val="20000"/>
                    </a:srgbClr>
                  </a:outerShdw>
                </a:effectLst>
              </a:tblPr>
              <a:tblGrid>
                <a:gridCol w="7421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864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376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소속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spc="0" normalizeH="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롯데정보통신</a:t>
                      </a:r>
                      <a:endParaRPr kumimoji="1" lang="en-US" altLang="ko-KR" sz="9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464042"/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5973352"/>
                  </a:ext>
                </a:extLst>
              </a:tr>
              <a:tr h="390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배태영 사원</a:t>
                      </a:r>
                      <a:endParaRPr kumimoji="1" lang="ko-KR" altLang="en-US" sz="9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464042"/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5512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kern="120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굴림" pitchFamily="50" charset="-127"/>
                        </a:rPr>
                        <a:t>과제</a:t>
                      </a:r>
                      <a:endParaRPr kumimoji="1" lang="ko-KR" altLang="en-US" sz="900" b="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464042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온라인 가격조사 </a:t>
                      </a:r>
                      <a:r>
                        <a:rPr kumimoji="1" lang="en-US" altLang="ko-KR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– </a:t>
                      </a:r>
                      <a:r>
                        <a:rPr kumimoji="1" lang="ko-KR" altLang="en-US" sz="900" b="0" i="0" u="none" strike="noStrike" kern="1200" cap="none" spc="0" normalizeH="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프라이싱</a:t>
                      </a:r>
                      <a:r>
                        <a:rPr kumimoji="1" lang="ko-KR" altLang="en-US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TFT</a:t>
                      </a:r>
                      <a:r>
                        <a:rPr kumimoji="1" lang="ko-KR" altLang="en-US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팀</a:t>
                      </a:r>
                      <a:endParaRPr kumimoji="1" lang="ko-KR" altLang="en-US" sz="9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73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16051" y="218325"/>
            <a:ext cx="1593385" cy="443198"/>
          </a:xfrm>
        </p:spPr>
        <p:txBody>
          <a:bodyPr/>
          <a:lstStyle/>
          <a:p>
            <a:pPr algn="l"/>
            <a:r>
              <a:rPr lang="ko-KR" altLang="en-US" dirty="0"/>
              <a:t>문서 이력</a:t>
            </a:r>
          </a:p>
        </p:txBody>
      </p:sp>
      <p:graphicFrame>
        <p:nvGraphicFramePr>
          <p:cNvPr id="3" name="Group 70">
            <a:extLst>
              <a:ext uri="{FF2B5EF4-FFF2-40B4-BE49-F238E27FC236}">
                <a16:creationId xmlns:a16="http://schemas.microsoft.com/office/drawing/2014/main" xmlns="" id="{7F2930FB-2724-4DA1-926B-475EA459F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043152"/>
              </p:ext>
            </p:extLst>
          </p:nvPr>
        </p:nvGraphicFramePr>
        <p:xfrm>
          <a:off x="1416050" y="1236727"/>
          <a:ext cx="9359901" cy="3475320"/>
        </p:xfrm>
        <a:graphic>
          <a:graphicData uri="http://schemas.openxmlformats.org/drawingml/2006/table">
            <a:tbl>
              <a:tblPr>
                <a:effectLst>
                  <a:outerShdw blurRad="25400" dist="25400" dir="5400000" algn="tl" rotWithShape="0">
                    <a:srgbClr val="0D0D0D">
                      <a:alpha val="20000"/>
                    </a:srgbClr>
                  </a:outerShdw>
                </a:effectLst>
              </a:tblPr>
              <a:tblGrid>
                <a:gridCol w="5971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020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31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17773">
                  <a:extLst>
                    <a:ext uri="{9D8B030D-6E8A-4147-A177-3AD203B41FA5}">
                      <a16:colId xmlns:a16="http://schemas.microsoft.com/office/drawing/2014/main" xmlns="" val="873605889"/>
                    </a:ext>
                  </a:extLst>
                </a:gridCol>
                <a:gridCol w="10709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7498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34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순번</a:t>
                      </a: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버전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작성일자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구분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kern="1200" cap="none" spc="0" normalizeH="0" baseline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내역</a:t>
                      </a:r>
                      <a:endParaRPr kumimoji="1" lang="ko-KR" altLang="en-US" sz="1100" b="1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+mn-cs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검토자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비고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5973352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1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V1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2025.02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신규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100" b="0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휴면명조"/>
                        </a:rPr>
                        <a:t>  최초 작성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1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휴면명조"/>
                        </a:rPr>
                        <a:t>배태영</a:t>
                      </a:r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2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 smtClean="0">
                        <a:ea typeface="나눔바른고딕" panose="020B0603020101020101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3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4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5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6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7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9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xmlns="" id="{B1FCF4C0-CF78-0B48-8FAE-53D40F0D4A33}"/>
              </a:ext>
            </a:extLst>
          </p:cNvPr>
          <p:cNvSpPr txBox="1"/>
          <p:nvPr/>
        </p:nvSpPr>
        <p:spPr>
          <a:xfrm>
            <a:off x="519066" y="393356"/>
            <a:ext cx="2575643" cy="273764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890D8AC-7E6A-2B45-8C83-615E94355EF4}"/>
              </a:ext>
            </a:extLst>
          </p:cNvPr>
          <p:cNvSpPr/>
          <p:nvPr/>
        </p:nvSpPr>
        <p:spPr>
          <a:xfrm>
            <a:off x="1759439" y="1894148"/>
            <a:ext cx="8673456" cy="4303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xmlns="" id="{5E4CEAEF-37A1-904A-8653-F54C6694E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77061"/>
              </p:ext>
            </p:extLst>
          </p:nvPr>
        </p:nvGraphicFramePr>
        <p:xfrm>
          <a:off x="1759439" y="1016410"/>
          <a:ext cx="8612228" cy="45295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16317">
                  <a:extLst>
                    <a:ext uri="{9D8B030D-6E8A-4147-A177-3AD203B41FA5}">
                      <a16:colId xmlns:a16="http://schemas.microsoft.com/office/drawing/2014/main" xmlns="" val="3188960228"/>
                    </a:ext>
                  </a:extLst>
                </a:gridCol>
                <a:gridCol w="5895911">
                  <a:extLst>
                    <a:ext uri="{9D8B030D-6E8A-4147-A177-3AD203B41FA5}">
                      <a16:colId xmlns:a16="http://schemas.microsoft.com/office/drawing/2014/main" xmlns="" val="1382077078"/>
                    </a:ext>
                  </a:extLst>
                </a:gridCol>
              </a:tblGrid>
              <a:tr h="452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</a:rPr>
                        <a:t>연관시스템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85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BO,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aseline="0" dirty="0" err="1" smtClean="0">
                          <a:solidFill>
                            <a:schemeClr val="tx1"/>
                          </a:solidFill>
                        </a:rPr>
                        <a:t>Naver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, Excel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9772436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DC28BDFE-F857-E248-950F-135627925FE2}"/>
              </a:ext>
            </a:extLst>
          </p:cNvPr>
          <p:cNvSpPr/>
          <p:nvPr/>
        </p:nvSpPr>
        <p:spPr>
          <a:xfrm>
            <a:off x="1759439" y="1605028"/>
            <a:ext cx="1423237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RPA</a:t>
            </a:r>
            <a:r>
              <a:rPr kumimoji="1" lang="ko-KR" altLang="en-US" sz="1400" dirty="0"/>
              <a:t> 적용</a:t>
            </a:r>
          </a:p>
        </p:txBody>
      </p:sp>
      <p:sp>
        <p:nvSpPr>
          <p:cNvPr id="42" name="텍스트 개체 틀 3">
            <a:extLst>
              <a:ext uri="{FF2B5EF4-FFF2-40B4-BE49-F238E27FC236}">
                <a16:creationId xmlns:a16="http://schemas.microsoft.com/office/drawing/2014/main" xmlns="" id="{8A050E94-AC54-4A15-81D1-AA1058F8619E}"/>
              </a:ext>
            </a:extLst>
          </p:cNvPr>
          <p:cNvSpPr txBox="1"/>
          <p:nvPr/>
        </p:nvSpPr>
        <p:spPr>
          <a:xfrm>
            <a:off x="547138" y="346554"/>
            <a:ext cx="2855940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ko-KR" altLang="en-US" sz="2400" dirty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과제 실행 단계</a:t>
            </a:r>
          </a:p>
          <a:p>
            <a:pPr indent="0" algn="dist">
              <a:buClr>
                <a:srgbClr val="000000"/>
              </a:buClr>
            </a:pP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xmlns="" id="{4A65BB0B-1592-6C4C-A6DA-06F581836F10}"/>
              </a:ext>
            </a:extLst>
          </p:cNvPr>
          <p:cNvGrpSpPr/>
          <p:nvPr/>
        </p:nvGrpSpPr>
        <p:grpSpPr>
          <a:xfrm>
            <a:off x="7096182" y="3286313"/>
            <a:ext cx="1435159" cy="1712799"/>
            <a:chOff x="5569076" y="3506649"/>
            <a:chExt cx="936663" cy="1164531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xmlns="" id="{01C116DB-05FE-2442-849E-9E8907B04F21}"/>
                </a:ext>
              </a:extLst>
            </p:cNvPr>
            <p:cNvSpPr/>
            <p:nvPr/>
          </p:nvSpPr>
          <p:spPr bwMode="auto">
            <a:xfrm>
              <a:off x="5569635" y="3780628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1200" b="1" dirty="0" smtClean="0">
                  <a:latin typeface="맑은 고딕" pitchFamily="50" charset="-127"/>
                </a:rPr>
                <a:t>추출한 데이터 기준으로 엑셀 작성</a:t>
              </a:r>
              <a:endParaRPr lang="ko-KR" altLang="en-US" sz="1200" b="1" dirty="0">
                <a:latin typeface="맑은 고딕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xmlns="" id="{5CA86CDD-1A9F-6841-9BE0-02C7B079F019}"/>
                </a:ext>
              </a:extLst>
            </p:cNvPr>
            <p:cNvSpPr/>
            <p:nvPr/>
          </p:nvSpPr>
          <p:spPr bwMode="auto">
            <a:xfrm>
              <a:off x="5569076" y="3506649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 smtClean="0">
                  <a:latin typeface="맑은 고딕" pitchFamily="50" charset="-127"/>
                </a:rPr>
                <a:t>Excel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xmlns="" id="{01B02932-F88C-A944-885F-741F93116767}"/>
                </a:ext>
              </a:extLst>
            </p:cNvPr>
            <p:cNvSpPr/>
            <p:nvPr/>
          </p:nvSpPr>
          <p:spPr bwMode="auto">
            <a:xfrm>
              <a:off x="5569635" y="4430088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>
                  <a:solidFill>
                    <a:schemeClr val="bg1"/>
                  </a:solidFill>
                  <a:latin typeface="맑은 고딕" pitchFamily="50" charset="-127"/>
                </a:rPr>
                <a:t>Step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4</a:t>
              </a:r>
              <a:endPara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BC7935FB-7540-734B-9C7A-FBF9CB98F603}"/>
              </a:ext>
            </a:extLst>
          </p:cNvPr>
          <p:cNvGrpSpPr/>
          <p:nvPr/>
        </p:nvGrpSpPr>
        <p:grpSpPr>
          <a:xfrm>
            <a:off x="5367416" y="3286312"/>
            <a:ext cx="1435159" cy="1712800"/>
            <a:chOff x="3780766" y="3501665"/>
            <a:chExt cx="936663" cy="1164532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xmlns="" id="{8377ED79-B564-9A46-B7A7-F9A00D8C147B}"/>
                </a:ext>
              </a:extLst>
            </p:cNvPr>
            <p:cNvSpPr/>
            <p:nvPr/>
          </p:nvSpPr>
          <p:spPr bwMode="auto">
            <a:xfrm>
              <a:off x="3781325" y="3775644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1200" b="1" dirty="0" smtClean="0">
                  <a:latin typeface="맑은 고딕" pitchFamily="50" charset="-127"/>
                </a:rPr>
                <a:t>모델명으로 검색하여 존재할 시 데이터 추출</a:t>
              </a:r>
              <a:endParaRPr lang="ko-KR" altLang="en-US" sz="1200" b="1" dirty="0">
                <a:latin typeface="맑은 고딕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xmlns="" id="{23386786-4D0D-414C-938F-F2E3AAB195FD}"/>
                </a:ext>
              </a:extLst>
            </p:cNvPr>
            <p:cNvSpPr/>
            <p:nvPr/>
          </p:nvSpPr>
          <p:spPr bwMode="auto">
            <a:xfrm>
              <a:off x="3780766" y="3501665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 err="1" smtClean="0">
                  <a:latin typeface="맑은 고딕" pitchFamily="50" charset="-127"/>
                </a:rPr>
                <a:t>Naver</a:t>
              </a:r>
              <a:endParaRPr lang="ko-KR" altLang="en-US" sz="1200" b="1" dirty="0">
                <a:latin typeface="맑은 고딕" pitchFamily="50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xmlns="" id="{55A81A3D-07B2-9745-B157-EF2486222DE2}"/>
                </a:ext>
              </a:extLst>
            </p:cNvPr>
            <p:cNvSpPr/>
            <p:nvPr/>
          </p:nvSpPr>
          <p:spPr bwMode="auto">
            <a:xfrm>
              <a:off x="3781325" y="4425105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itchFamily="50" charset="-127"/>
                </a:rPr>
                <a:t>Step 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맑은 고딕" pitchFamily="50" charset="-127"/>
                </a:rPr>
                <a:t>3-1</a:t>
              </a:r>
              <a:endPara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xmlns="" id="{7ABCE4CC-A93A-CF4B-9633-25BD43C98053}"/>
              </a:ext>
            </a:extLst>
          </p:cNvPr>
          <p:cNvGrpSpPr/>
          <p:nvPr/>
        </p:nvGrpSpPr>
        <p:grpSpPr>
          <a:xfrm>
            <a:off x="1881743" y="3286312"/>
            <a:ext cx="1435159" cy="1712800"/>
            <a:chOff x="1966715" y="3501665"/>
            <a:chExt cx="936663" cy="1164532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xmlns="" id="{43814D3E-3BE3-8B4C-AEE7-4C46ECC8D897}"/>
                </a:ext>
              </a:extLst>
            </p:cNvPr>
            <p:cNvSpPr/>
            <p:nvPr/>
          </p:nvSpPr>
          <p:spPr bwMode="auto">
            <a:xfrm>
              <a:off x="1967274" y="3775644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 altLang="ko-KR" sz="1200" b="1" dirty="0" smtClean="0">
                  <a:latin typeface="맑은 고딕" pitchFamily="50" charset="-127"/>
                </a:rPr>
                <a:t>BO</a:t>
              </a:r>
              <a:r>
                <a:rPr lang="ko-KR" altLang="en-US" sz="1200" b="1" dirty="0" smtClean="0">
                  <a:latin typeface="맑은 고딕" pitchFamily="50" charset="-127"/>
                </a:rPr>
                <a:t>에서 </a:t>
              </a:r>
              <a:r>
                <a:rPr lang="en-US" altLang="ko-KR" sz="1200" b="1" dirty="0" smtClean="0">
                  <a:latin typeface="맑은 고딕" pitchFamily="50" charset="-127"/>
                </a:rPr>
                <a:t>SKU </a:t>
              </a:r>
              <a:r>
                <a:rPr lang="ko-KR" altLang="en-US" sz="1200" b="1" dirty="0" smtClean="0">
                  <a:latin typeface="맑은 고딕" pitchFamily="50" charset="-127"/>
                </a:rPr>
                <a:t>데이터 다운로드</a:t>
              </a:r>
              <a:endParaRPr lang="ko-KR" altLang="en-US" sz="1200" b="1" dirty="0">
                <a:latin typeface="맑은 고딕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xmlns="" id="{31D177CC-C5F1-4E44-AB73-BEC2DBF9330C}"/>
                </a:ext>
              </a:extLst>
            </p:cNvPr>
            <p:cNvSpPr/>
            <p:nvPr/>
          </p:nvSpPr>
          <p:spPr bwMode="auto">
            <a:xfrm>
              <a:off x="1966715" y="3501665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 smtClean="0">
                  <a:latin typeface="맑은 고딕" pitchFamily="50" charset="-127"/>
                  <a:ea typeface="맑은 고딕" pitchFamily="50" charset="-127"/>
                </a:rPr>
                <a:t>BO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xmlns="" id="{03932EC8-5B2D-9B47-BE5E-3DAF81FAE9FB}"/>
                </a:ext>
              </a:extLst>
            </p:cNvPr>
            <p:cNvSpPr/>
            <p:nvPr/>
          </p:nvSpPr>
          <p:spPr bwMode="auto">
            <a:xfrm>
              <a:off x="1967274" y="4425105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Step 1</a:t>
              </a:r>
              <a:endPara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7ABCE4CC-A93A-CF4B-9633-25BD43C98053}"/>
              </a:ext>
            </a:extLst>
          </p:cNvPr>
          <p:cNvGrpSpPr/>
          <p:nvPr/>
        </p:nvGrpSpPr>
        <p:grpSpPr>
          <a:xfrm>
            <a:off x="3595389" y="3286312"/>
            <a:ext cx="1435160" cy="1712800"/>
            <a:chOff x="1966714" y="3501665"/>
            <a:chExt cx="936664" cy="1164532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xmlns="" id="{43814D3E-3BE3-8B4C-AEE7-4C46ECC8D897}"/>
                </a:ext>
              </a:extLst>
            </p:cNvPr>
            <p:cNvSpPr/>
            <p:nvPr/>
          </p:nvSpPr>
          <p:spPr bwMode="auto">
            <a:xfrm>
              <a:off x="1967274" y="3775644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1200" b="1" dirty="0" smtClean="0">
                  <a:latin typeface="맑은 고딕" pitchFamily="50" charset="-127"/>
                  <a:ea typeface="맑은 고딕" pitchFamily="50" charset="-127"/>
                </a:rPr>
                <a:t>엑셀에서 </a:t>
              </a:r>
              <a:r>
                <a:rPr lang="ko-KR" altLang="en-US" sz="1200" b="1" dirty="0" err="1" smtClean="0">
                  <a:latin typeface="맑은 고딕" pitchFamily="50" charset="-127"/>
                  <a:ea typeface="맑은 고딕" pitchFamily="50" charset="-127"/>
                </a:rPr>
                <a:t>네이버</a:t>
              </a:r>
              <a:r>
                <a:rPr lang="ko-KR" altLang="en-US" sz="1200" b="1" dirty="0" smtClean="0">
                  <a:latin typeface="맑은 고딕" pitchFamily="50" charset="-127"/>
                  <a:ea typeface="맑은 고딕" pitchFamily="50" charset="-127"/>
                </a:rPr>
                <a:t> 다운 데이터 기입</a:t>
              </a:r>
              <a:endParaRPr lang="ko-KR" altLang="en-US" sz="1200" b="1" dirty="0">
                <a:latin typeface="맑은 고딕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xmlns="" id="{31D177CC-C5F1-4E44-AB73-BEC2DBF9330C}"/>
                </a:ext>
              </a:extLst>
            </p:cNvPr>
            <p:cNvSpPr/>
            <p:nvPr/>
          </p:nvSpPr>
          <p:spPr bwMode="auto">
            <a:xfrm>
              <a:off x="1966714" y="3501665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 smtClean="0">
                  <a:latin typeface="맑은 고딕" pitchFamily="50" charset="-127"/>
                  <a:ea typeface="맑은 고딕" pitchFamily="50" charset="-127"/>
                </a:rPr>
                <a:t>Excel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xmlns="" id="{03932EC8-5B2D-9B47-BE5E-3DAF81FAE9FB}"/>
                </a:ext>
              </a:extLst>
            </p:cNvPr>
            <p:cNvSpPr/>
            <p:nvPr/>
          </p:nvSpPr>
          <p:spPr bwMode="auto">
            <a:xfrm>
              <a:off x="1967274" y="4425105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Step 2</a:t>
              </a:r>
              <a:endPara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xmlns="" id="{7BBB3519-75C4-4F24-85D2-EF4F0856C3E2}"/>
              </a:ext>
            </a:extLst>
          </p:cNvPr>
          <p:cNvCxnSpPr>
            <a:cxnSpLocks/>
            <a:stCxn id="64" idx="3"/>
            <a:endCxn id="61" idx="1"/>
          </p:cNvCxnSpPr>
          <p:nvPr/>
        </p:nvCxnSpPr>
        <p:spPr>
          <a:xfrm>
            <a:off x="3316902" y="4166896"/>
            <a:ext cx="279345" cy="0"/>
          </a:xfrm>
          <a:prstGeom prst="straightConnector1">
            <a:avLst/>
          </a:prstGeom>
          <a:ln>
            <a:solidFill>
              <a:srgbClr val="1737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xmlns="" id="{7BBB3519-75C4-4F24-85D2-EF4F0856C3E2}"/>
              </a:ext>
            </a:extLst>
          </p:cNvPr>
          <p:cNvCxnSpPr>
            <a:cxnSpLocks/>
            <a:stCxn id="70" idx="3"/>
            <a:endCxn id="55" idx="1"/>
          </p:cNvCxnSpPr>
          <p:nvPr/>
        </p:nvCxnSpPr>
        <p:spPr>
          <a:xfrm>
            <a:off x="8531341" y="4166897"/>
            <a:ext cx="323451" cy="0"/>
          </a:xfrm>
          <a:prstGeom prst="straightConnector1">
            <a:avLst/>
          </a:prstGeom>
          <a:ln>
            <a:solidFill>
              <a:srgbClr val="1737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xmlns="" id="{4A65BB0B-1592-6C4C-A6DA-06F581836F10}"/>
              </a:ext>
            </a:extLst>
          </p:cNvPr>
          <p:cNvGrpSpPr/>
          <p:nvPr/>
        </p:nvGrpSpPr>
        <p:grpSpPr>
          <a:xfrm>
            <a:off x="8853940" y="3286313"/>
            <a:ext cx="1435159" cy="1712799"/>
            <a:chOff x="5569079" y="3506649"/>
            <a:chExt cx="936663" cy="1164531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xmlns="" id="{01C116DB-05FE-2442-849E-9E8907B04F21}"/>
                </a:ext>
              </a:extLst>
            </p:cNvPr>
            <p:cNvSpPr/>
            <p:nvPr/>
          </p:nvSpPr>
          <p:spPr bwMode="auto">
            <a:xfrm>
              <a:off x="5569635" y="3780628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1200" b="1" dirty="0">
                  <a:latin typeface="맑은 고딕" pitchFamily="50" charset="-127"/>
                </a:rPr>
                <a:t>실행 결과 메일 전송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xmlns="" id="{5CA86CDD-1A9F-6841-9BE0-02C7B079F019}"/>
                </a:ext>
              </a:extLst>
            </p:cNvPr>
            <p:cNvSpPr/>
            <p:nvPr/>
          </p:nvSpPr>
          <p:spPr bwMode="auto">
            <a:xfrm>
              <a:off x="5569079" y="3506649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>
                  <a:latin typeface="맑은 고딕" pitchFamily="50" charset="-127"/>
                </a:rPr>
                <a:t>RPA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xmlns="" id="{01B02932-F88C-A944-885F-741F93116767}"/>
                </a:ext>
              </a:extLst>
            </p:cNvPr>
            <p:cNvSpPr/>
            <p:nvPr/>
          </p:nvSpPr>
          <p:spPr bwMode="auto">
            <a:xfrm>
              <a:off x="5569635" y="4430088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200" b="1" dirty="0">
                  <a:solidFill>
                    <a:schemeClr val="bg1"/>
                  </a:solidFill>
                  <a:latin typeface="맑은 고딕" pitchFamily="50" charset="-127"/>
                </a:rPr>
                <a:t>Step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5</a:t>
              </a:r>
              <a:endPara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74" name="꺾인 연결선 73"/>
          <p:cNvCxnSpPr>
            <a:stCxn id="67" idx="3"/>
            <a:endCxn id="70" idx="1"/>
          </p:cNvCxnSpPr>
          <p:nvPr/>
        </p:nvCxnSpPr>
        <p:spPr>
          <a:xfrm>
            <a:off x="6802575" y="4166896"/>
            <a:ext cx="294464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/>
          <p:nvPr/>
        </p:nvCxnSpPr>
        <p:spPr>
          <a:xfrm>
            <a:off x="5023050" y="4157870"/>
            <a:ext cx="294464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28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0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accent1"/>
              </a:solidFill>
            </a:endParaRPr>
          </a:p>
          <a:p>
            <a:pPr marL="228600" indent="-228600">
              <a:buAutoNum type="arabicPeriod"/>
            </a:pPr>
            <a:r>
              <a:rPr kumimoji="1" lang="en-US" altLang="ko-KR" sz="1000" dirty="0">
                <a:solidFill>
                  <a:schemeClr val="tx1"/>
                </a:solidFill>
                <a:hlinkClick r:id="rId3" action="ppaction://hlinkfile"/>
              </a:rPr>
              <a:t>\\rpa-filesvr\RPA.</a:t>
            </a:r>
            <a:r>
              <a:rPr kumimoji="1" lang="ko-KR" altLang="en-US" sz="1000" dirty="0" err="1">
                <a:solidFill>
                  <a:schemeClr val="tx1"/>
                </a:solidFill>
                <a:hlinkClick r:id="rId3" action="ppaction://hlinkfile"/>
              </a:rPr>
              <a:t>프라이싱</a:t>
            </a:r>
            <a:r>
              <a:rPr kumimoji="1" lang="en-US" altLang="ko-KR" sz="1000" dirty="0">
                <a:solidFill>
                  <a:schemeClr val="tx1"/>
                </a:solidFill>
                <a:hlinkClick r:id="rId3" action="ppaction://hlinkfile"/>
              </a:rPr>
              <a:t>TFT</a:t>
            </a:r>
            <a:r>
              <a:rPr kumimoji="1" lang="ko-KR" altLang="en-US" sz="1000" dirty="0">
                <a:solidFill>
                  <a:schemeClr val="tx1"/>
                </a:solidFill>
                <a:hlinkClick r:id="rId3" action="ppaction://hlinkfile"/>
              </a:rPr>
              <a:t>팀</a:t>
            </a:r>
            <a:r>
              <a:rPr kumimoji="1" lang="en-US" altLang="ko-KR" sz="1000" dirty="0">
                <a:solidFill>
                  <a:schemeClr val="tx1"/>
                </a:solidFill>
                <a:hlinkClick r:id="rId3" action="ppaction://hlinkfile"/>
              </a:rPr>
              <a:t>\022_TFT </a:t>
            </a:r>
            <a:r>
              <a:rPr kumimoji="1" lang="ko-KR" altLang="en-US" sz="1000" dirty="0">
                <a:solidFill>
                  <a:schemeClr val="tx1"/>
                </a:solidFill>
                <a:hlinkClick r:id="rId3" action="ppaction://hlinkfile"/>
              </a:rPr>
              <a:t>온라인가격조사</a:t>
            </a:r>
            <a:r>
              <a:rPr kumimoji="1" lang="en-US" altLang="ko-KR" sz="1000" dirty="0">
                <a:solidFill>
                  <a:schemeClr val="tx1"/>
                </a:solidFill>
                <a:hlinkClick r:id="rId3" action="ppaction://hlinkfile"/>
              </a:rPr>
              <a:t>\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고정입력 경로에서 완료수신자와 온라인가격조사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_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결과 템플릿 가져옴</a:t>
            </a:r>
            <a:endParaRPr kumimoji="1"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템플릿 파일의 쇼핑몰 시트 데이터 읽기</a:t>
            </a:r>
            <a:endParaRPr kumimoji="1"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36600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공유 폴더에서 파일 읽어오기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1724669" y="2322723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158" y="2506181"/>
            <a:ext cx="5207615" cy="24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3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0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accent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모델 시트의 모델코드 데이터 읽기</a:t>
            </a: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검색필터에 있는 데이터 모델코드에서 제외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동일 모델코드 중복제거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36600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ko-KR" altLang="en-US" sz="2215" kern="0" dirty="0" err="1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인입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 파일 읽기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148" y="1770582"/>
            <a:ext cx="4367635" cy="4085373"/>
          </a:xfrm>
          <a:prstGeom prst="rect">
            <a:avLst/>
          </a:prstGeom>
        </p:spPr>
      </p:pic>
      <p:sp>
        <p:nvSpPr>
          <p:cNvPr id="17" name="타원 16"/>
          <p:cNvSpPr/>
          <p:nvPr/>
        </p:nvSpPr>
        <p:spPr bwMode="ltGray">
          <a:xfrm>
            <a:off x="2812420" y="1662582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3" name="타원 12"/>
          <p:cNvSpPr/>
          <p:nvPr/>
        </p:nvSpPr>
        <p:spPr bwMode="ltGray">
          <a:xfrm>
            <a:off x="3703960" y="5480202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49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1.1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BO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접속 후 로그인 진행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ID : 1328481</a:t>
            </a:r>
          </a:p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PW : HIRPAYYYYMM! </a:t>
            </a:r>
            <a:br>
              <a:rPr kumimoji="1" lang="en-US" altLang="ko-KR" sz="1000" dirty="0" smtClean="0">
                <a:solidFill>
                  <a:srgbClr val="FF0000"/>
                </a:solidFill>
              </a:rPr>
            </a:br>
            <a:r>
              <a:rPr kumimoji="1" lang="en-US" altLang="ko-KR" sz="1000" dirty="0" smtClean="0">
                <a:solidFill>
                  <a:srgbClr val="FF0000"/>
                </a:solidFill>
              </a:rPr>
              <a:t>(YYYYMM -&gt;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당년 당월로 자동 변경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)</a:t>
            </a:r>
            <a:endParaRPr kumimoji="1"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25028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1.1 BO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로그인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669" y="1714178"/>
            <a:ext cx="5328593" cy="432339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3475187" y="3564631"/>
            <a:ext cx="2022787" cy="1627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 bwMode="ltGray">
          <a:xfrm>
            <a:off x="3280763" y="3342087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3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1.2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좌측 펼쳐보기 클릭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err="1" smtClean="0">
                <a:solidFill>
                  <a:schemeClr val="tx1"/>
                </a:solidFill>
              </a:rPr>
              <a:t>검색창에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‘RPA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상품조회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’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검색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검색 시 조회되는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RPA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상품조회 클릭</a:t>
            </a:r>
            <a:endParaRPr lang="en-US" altLang="ko-KR" sz="1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kumimoji="1"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590304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1.2 RPA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상품조회 접속하기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627" y="1601380"/>
            <a:ext cx="5206310" cy="4423777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1888626" y="2238612"/>
            <a:ext cx="1016620" cy="111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890551" y="2668803"/>
            <a:ext cx="1016620" cy="111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 bwMode="ltGray">
          <a:xfrm>
            <a:off x="2797246" y="1981667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타원 18"/>
          <p:cNvSpPr/>
          <p:nvPr/>
        </p:nvSpPr>
        <p:spPr bwMode="ltGray">
          <a:xfrm>
            <a:off x="2797246" y="2452803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880453" y="3964106"/>
            <a:ext cx="132793" cy="480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2664453" y="3777376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8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1.3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엑셀에서 읽어온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SKU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전체 작성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조회 버튼 클릭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000" dirty="0" smtClean="0">
                <a:solidFill>
                  <a:schemeClr val="tx1"/>
                </a:solidFill>
              </a:rPr>
              <a:t>엑셀 다운로드 클릭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000" dirty="0" smtClean="0">
                <a:solidFill>
                  <a:schemeClr val="tx1"/>
                </a:solidFill>
              </a:rPr>
              <a:t>경로 지정 후 다운로드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SKU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작성 시 키 보내기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‘Enter’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사용하여 수행 중 다른 부분이 클릭되지 않도록 주의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파일 다운 경로</a:t>
            </a:r>
            <a:r>
              <a:rPr kumimoji="1" lang="en-US" altLang="ko-KR" sz="1000" dirty="0">
                <a:solidFill>
                  <a:srgbClr val="FF0000"/>
                </a:solidFill>
              </a:rPr>
              <a:t/>
            </a:r>
            <a:br>
              <a:rPr kumimoji="1" lang="en-US" altLang="ko-KR" sz="1000" dirty="0">
                <a:solidFill>
                  <a:srgbClr val="FF0000"/>
                </a:solidFill>
              </a:rPr>
            </a:br>
            <a:r>
              <a:rPr kumimoji="1" lang="en-US" altLang="ko-KR" sz="1000" dirty="0">
                <a:solidFill>
                  <a:srgbClr val="FF0000"/>
                </a:solidFill>
              </a:rPr>
              <a:t>D:\MSRPA\03022_TFT_</a:t>
            </a:r>
            <a:r>
              <a:rPr kumimoji="1" lang="ko-KR" altLang="en-US" sz="1000" dirty="0">
                <a:solidFill>
                  <a:srgbClr val="FF0000"/>
                </a:solidFill>
              </a:rPr>
              <a:t>온라인가격조사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Input\YYYY\MM\DD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71322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1.3 SKU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데이터 다운로드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669" y="1631270"/>
            <a:ext cx="5328593" cy="4534781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000230" y="3571068"/>
            <a:ext cx="224530" cy="2074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866679" y="4058633"/>
            <a:ext cx="221605" cy="143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 bwMode="ltGray">
          <a:xfrm>
            <a:off x="4157827" y="3342087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타원 18"/>
          <p:cNvSpPr/>
          <p:nvPr/>
        </p:nvSpPr>
        <p:spPr bwMode="ltGray">
          <a:xfrm>
            <a:off x="6052293" y="3866888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035178" y="2845744"/>
            <a:ext cx="858493" cy="615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2893671" y="2623199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67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1.4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BO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에서 다운받은 데이터를 하나의 엑셀에 취합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취합 이후 데이터 전체 복사하여 템플릿의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BO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시트에 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붙여넣기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ko-KR" sz="10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파일 다운 경로</a:t>
            </a:r>
            <a:r>
              <a:rPr kumimoji="1" lang="en-US" altLang="ko-KR" sz="1000" dirty="0">
                <a:solidFill>
                  <a:srgbClr val="FF0000"/>
                </a:solidFill>
              </a:rPr>
              <a:t/>
            </a:r>
            <a:br>
              <a:rPr kumimoji="1" lang="en-US" altLang="ko-KR" sz="1000" dirty="0">
                <a:solidFill>
                  <a:srgbClr val="FF0000"/>
                </a:solidFill>
              </a:rPr>
            </a:br>
            <a:r>
              <a:rPr kumimoji="1" lang="en-US" altLang="ko-KR" sz="1000" dirty="0">
                <a:solidFill>
                  <a:srgbClr val="FF0000"/>
                </a:solidFill>
              </a:rPr>
              <a:t>D:\MSRPA\03022_TFT_</a:t>
            </a:r>
            <a:r>
              <a:rPr kumimoji="1" lang="ko-KR" altLang="en-US" sz="1000" dirty="0">
                <a:solidFill>
                  <a:srgbClr val="FF0000"/>
                </a:solidFill>
              </a:rPr>
              <a:t>온라인가격조사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Input\YYYY\MM\DD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25020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1.4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다운로드 파일 취합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856" y="1625636"/>
            <a:ext cx="5317406" cy="24955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856" y="4190903"/>
            <a:ext cx="5317406" cy="1724621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3067814" y="2489417"/>
            <a:ext cx="3633928" cy="7862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2815797" y="2368104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940670" y="4262696"/>
            <a:ext cx="5220592" cy="16528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 bwMode="ltGray">
          <a:xfrm>
            <a:off x="1688653" y="4141383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4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2</a:t>
            </a:r>
            <a:r>
              <a:rPr kumimoji="1" lang="en-US" altLang="ko-KR" sz="1400" dirty="0" smtClean="0"/>
              <a:t>.1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err="1" smtClean="0">
                <a:solidFill>
                  <a:schemeClr val="tx1"/>
                </a:solidFill>
              </a:rPr>
              <a:t>네이버카탈로그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시트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각 시트에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데이터 작성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kumimoji="1"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578731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2.1 SKU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엑셀에 적기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176" y="1221716"/>
            <a:ext cx="3367097" cy="5015901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168140" y="5886806"/>
            <a:ext cx="742694" cy="2015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 bwMode="ltGray">
          <a:xfrm>
            <a:off x="4884214" y="5651439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333941" y="3142802"/>
            <a:ext cx="416256" cy="27487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3151555" y="2955445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50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3.1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kumimoji="1" lang="en-US" altLang="ko-KR" sz="9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9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모델코드 검색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BO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시트에서 가격 읽어온 후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50%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최저가로 필터 적용</a:t>
            </a: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000" dirty="0" err="1" smtClean="0">
                <a:solidFill>
                  <a:schemeClr val="tx1"/>
                </a:solidFill>
              </a:rPr>
              <a:t>드롭다운</a:t>
            </a:r>
            <a:r>
              <a:rPr lang="ko-KR" altLang="en-US" sz="1000" dirty="0" smtClean="0">
                <a:solidFill>
                  <a:schemeClr val="tx1"/>
                </a:solidFill>
              </a:rPr>
              <a:t>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렌탈</a:t>
            </a:r>
            <a:r>
              <a:rPr lang="en-US" altLang="ko-KR" sz="1000" dirty="0" smtClean="0">
                <a:solidFill>
                  <a:schemeClr val="tx1"/>
                </a:solidFill>
              </a:rPr>
              <a:t>/</a:t>
            </a:r>
            <a:r>
              <a:rPr lang="ko-KR" altLang="en-US" sz="1000" dirty="0" smtClean="0">
                <a:solidFill>
                  <a:schemeClr val="tx1"/>
                </a:solidFill>
              </a:rPr>
              <a:t>중고</a:t>
            </a:r>
            <a:r>
              <a:rPr lang="en-US" altLang="ko-KR" sz="1000" dirty="0" smtClean="0">
                <a:solidFill>
                  <a:schemeClr val="tx1"/>
                </a:solidFill>
              </a:rPr>
              <a:t>/</a:t>
            </a:r>
            <a:r>
              <a:rPr lang="ko-KR" altLang="en-US" sz="1000" dirty="0" smtClean="0">
                <a:solidFill>
                  <a:schemeClr val="tx1"/>
                </a:solidFill>
              </a:rPr>
              <a:t>해외직구 제외 선택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000" dirty="0" smtClean="0">
                <a:solidFill>
                  <a:schemeClr val="tx1"/>
                </a:solidFill>
              </a:rPr>
              <a:t>조회하기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Tx/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가격 필터에서 </a:t>
            </a:r>
            <a:r>
              <a:rPr kumimoji="1" lang="ko-KR" altLang="en-US" sz="1000" dirty="0">
                <a:solidFill>
                  <a:srgbClr val="FF0000"/>
                </a:solidFill>
              </a:rPr>
              <a:t>검색된 최고가격이 </a:t>
            </a:r>
            <a:r>
              <a:rPr kumimoji="1" lang="en-US" altLang="ko-KR" sz="1000" dirty="0">
                <a:solidFill>
                  <a:srgbClr val="FF0000"/>
                </a:solidFill>
              </a:rPr>
              <a:t>BO 50% </a:t>
            </a:r>
            <a:r>
              <a:rPr kumimoji="1" lang="ko-KR" altLang="en-US" sz="1000" dirty="0">
                <a:solidFill>
                  <a:srgbClr val="FF0000"/>
                </a:solidFill>
              </a:rPr>
              <a:t>가격보다 큰지 확인하여 크지 않으면 해당 제품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Skip</a:t>
            </a:r>
          </a:p>
          <a:p>
            <a:pPr marL="228600" indent="-228600">
              <a:buFontTx/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검색된 제품이 없는 경우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,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판매 쇼핑몰이 사내에서 취급하는 쇼핑몰이 아닐 경우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Skip</a:t>
            </a:r>
            <a:endParaRPr kumimoji="1" lang="en-US" altLang="ko-KR" sz="1000" dirty="0">
              <a:solidFill>
                <a:srgbClr val="FF000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BO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가격이 없는 경우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HISIS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가격으로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진행</a:t>
            </a:r>
            <a:endParaRPr kumimoji="1" lang="en-US" altLang="ko-KR" sz="1000" dirty="0">
              <a:solidFill>
                <a:srgbClr val="FF000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000" dirty="0" err="1" smtClean="0">
                <a:solidFill>
                  <a:srgbClr val="FF0000"/>
                </a:solidFill>
              </a:rPr>
              <a:t>드롭다운</a:t>
            </a:r>
            <a:r>
              <a:rPr lang="ko-KR" altLang="en-US" sz="1000" dirty="0" smtClean="0">
                <a:solidFill>
                  <a:srgbClr val="FF0000"/>
                </a:solidFill>
              </a:rPr>
              <a:t> 선택 값은 </a:t>
            </a:r>
            <a:r>
              <a:rPr lang="ko-KR" altLang="en-US" sz="1000" dirty="0" err="1" smtClean="0">
                <a:solidFill>
                  <a:srgbClr val="FF0000"/>
                </a:solidFill>
              </a:rPr>
              <a:t>렌탈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ko-KR" altLang="en-US" sz="1000" dirty="0">
                <a:solidFill>
                  <a:srgbClr val="FF0000"/>
                </a:solidFill>
              </a:rPr>
              <a:t>중고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ko-KR" altLang="en-US" sz="1000" dirty="0">
                <a:solidFill>
                  <a:srgbClr val="FF0000"/>
                </a:solidFill>
              </a:rPr>
              <a:t>해외직구 제외 값 중 있는 값만 체크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endParaRPr kumimoji="1"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82897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3.1 </a:t>
            </a:r>
            <a:r>
              <a:rPr lang="ko-KR" altLang="en-US" sz="2215" kern="0" dirty="0" err="1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네이버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 가격조사 검색 필터 적용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079382" y="4525941"/>
            <a:ext cx="673236" cy="103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 bwMode="ltGray">
          <a:xfrm>
            <a:off x="4901934" y="4358960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621" y="1963568"/>
            <a:ext cx="4973708" cy="3446559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225986" y="3003753"/>
            <a:ext cx="1275654" cy="2255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 bwMode="ltGray">
          <a:xfrm>
            <a:off x="4032846" y="2794983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586500" y="2092519"/>
            <a:ext cx="1993120" cy="247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2406492" y="1870394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652706" y="3803858"/>
            <a:ext cx="465228" cy="4656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 bwMode="ltGray">
          <a:xfrm>
            <a:off x="4472698" y="3615652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40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3.2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>
                <a:solidFill>
                  <a:schemeClr val="tx1"/>
                </a:solidFill>
              </a:rPr>
              <a:t>검색된 제품 목록에 브랜드 카탈로그가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있는 경우</a:t>
            </a:r>
            <a:r>
              <a:rPr kumimoji="1" lang="en-US" altLang="ko-KR" sz="1000" dirty="0">
                <a:solidFill>
                  <a:schemeClr val="tx1"/>
                </a:solidFill>
              </a:rPr>
              <a:t>,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브랜드 카탈로그 클릭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쇼핑몰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,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가격</a:t>
            </a:r>
            <a:r>
              <a:rPr kumimoji="1" lang="en-US" altLang="ko-KR" sz="1000" dirty="0">
                <a:solidFill>
                  <a:schemeClr val="tx1"/>
                </a:solidFill>
              </a:rPr>
              <a:t>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등 데이터 추출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제외 쇼핑몰 제외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>
                <a:solidFill>
                  <a:srgbClr val="FF0000"/>
                </a:solidFill>
              </a:rPr>
              <a:t>검색된 제품 목록에 브랜드 카탈로그가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있는 경우에만 수행</a:t>
            </a:r>
            <a:endParaRPr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25324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3.2 </a:t>
            </a:r>
            <a:r>
              <a:rPr lang="ko-KR" altLang="en-US" sz="2215" kern="0" dirty="0" err="1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네이버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 가격조사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–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브랜드 카탈로그가 있는 경우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563" y="1643855"/>
            <a:ext cx="4043098" cy="1798717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5605468" y="2589403"/>
            <a:ext cx="1236445" cy="222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5461451" y="2412578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417" y="3626391"/>
            <a:ext cx="3040244" cy="2476302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5038130" y="4898524"/>
            <a:ext cx="1803783" cy="12041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 bwMode="ltGray">
          <a:xfrm>
            <a:off x="4852397" y="4711793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92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3.3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브랜드카탈로그가 있는 경우 엑셀의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L~U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열에 작성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판매처와 가격 분할하여 작성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72218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3.3 </a:t>
            </a:r>
            <a:r>
              <a:rPr lang="ko-KR" altLang="en-US" sz="2215" kern="0" dirty="0" err="1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네이버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 가격조사 추출 데이터 작성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–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브랜드카탈로그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/</a:t>
            </a:r>
            <a:r>
              <a:rPr lang="ko-KR" altLang="en-US" sz="2215" kern="0" dirty="0" err="1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쇼핑몰별최저가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3" y="1639511"/>
            <a:ext cx="4257675" cy="4391025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2546667" y="1604786"/>
            <a:ext cx="4226781" cy="6754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2341295" y="1588855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528515" y="3564632"/>
            <a:ext cx="4263083" cy="4102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 bwMode="ltGray">
          <a:xfrm>
            <a:off x="2341657" y="3377901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53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3.4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낮은 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가격순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판매가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, 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배송비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데이터 추출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판매처 데이터 추출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브랜드 카탈로그가 없는 경우에만 수행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endParaRPr kumimoji="1"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60495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3.4 </a:t>
            </a:r>
            <a:r>
              <a:rPr lang="ko-KR" altLang="en-US" sz="2215" kern="0" dirty="0" err="1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네이버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 가격조사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–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브랜드 카탈로그가 없는 경우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432" y="2491006"/>
            <a:ext cx="5067461" cy="2451676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2576667" y="2794764"/>
            <a:ext cx="494193" cy="2008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2397755" y="2572219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122676" y="3191004"/>
            <a:ext cx="877824" cy="2008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760720" y="3039804"/>
            <a:ext cx="587755" cy="2008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 bwMode="ltGray">
          <a:xfrm>
            <a:off x="2936487" y="3006559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8" name="타원 17"/>
          <p:cNvSpPr/>
          <p:nvPr/>
        </p:nvSpPr>
        <p:spPr bwMode="ltGray">
          <a:xfrm>
            <a:off x="5585376" y="2829605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1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3.5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상위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10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개 가격 추출한 경우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V~BI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열까지 작성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판매처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,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판매가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, 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배송비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분할하여 작성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가격의 경우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Excel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수식으로 자동 계산되는 칼럼</a:t>
            </a:r>
            <a:endParaRPr kumimoji="1"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72218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3.5 </a:t>
            </a:r>
            <a:r>
              <a:rPr lang="ko-KR" altLang="en-US" sz="2215" kern="0" dirty="0" err="1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네이버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 가격조사 추출 데이터 작성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–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상위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10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개 가격 추출하는 경우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358" y="2084463"/>
            <a:ext cx="5162199" cy="3381375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1898357" y="2046302"/>
            <a:ext cx="5162200" cy="8010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 bwMode="ltGray">
          <a:xfrm>
            <a:off x="1733197" y="1842387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908588" y="3485639"/>
            <a:ext cx="5151969" cy="4102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 bwMode="ltGray">
          <a:xfrm>
            <a:off x="1718350" y="3279111"/>
            <a:ext cx="216000" cy="222545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45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4AC0454-9C8B-1E47-AA21-AF5351E09507}"/>
              </a:ext>
            </a:extLst>
          </p:cNvPr>
          <p:cNvSpPr/>
          <p:nvPr/>
        </p:nvSpPr>
        <p:spPr>
          <a:xfrm>
            <a:off x="1832670" y="1196072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AD4E150-A564-4B4B-9F44-563EDAEE04FE}"/>
              </a:ext>
            </a:extLst>
          </p:cNvPr>
          <p:cNvSpPr/>
          <p:nvPr/>
        </p:nvSpPr>
        <p:spPr>
          <a:xfrm>
            <a:off x="1832671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D70BE9B-8DEB-5543-94A6-2ECA05E2D9BF}"/>
              </a:ext>
            </a:extLst>
          </p:cNvPr>
          <p:cNvSpPr/>
          <p:nvPr/>
        </p:nvSpPr>
        <p:spPr>
          <a:xfrm>
            <a:off x="7305279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과제 담당자에게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HI-TOC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으로 쪽지 발송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과제 담당자 및 운영 담당자에게 메일 발송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A0EE56E-5672-354E-8A0B-93D94A744300}"/>
              </a:ext>
            </a:extLst>
          </p:cNvPr>
          <p:cNvSpPr/>
          <p:nvPr/>
        </p:nvSpPr>
        <p:spPr>
          <a:xfrm>
            <a:off x="7305279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E435E86-A4BF-4BB8-AD22-83631078E9AF}"/>
              </a:ext>
            </a:extLst>
          </p:cNvPr>
          <p:cNvSpPr/>
          <p:nvPr/>
        </p:nvSpPr>
        <p:spPr>
          <a:xfrm>
            <a:off x="7305279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kumimoji="1"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864DDAF-832D-4E97-AD5C-0A1EC223DF9E}"/>
              </a:ext>
            </a:extLst>
          </p:cNvPr>
          <p:cNvSpPr/>
          <p:nvPr/>
        </p:nvSpPr>
        <p:spPr>
          <a:xfrm>
            <a:off x="7305279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xmlns="" id="{4D127449-C26E-47A8-A46E-8FAFF42C7BEF}"/>
              </a:ext>
            </a:extLst>
          </p:cNvPr>
          <p:cNvSpPr txBox="1"/>
          <p:nvPr/>
        </p:nvSpPr>
        <p:spPr>
          <a:xfrm>
            <a:off x="672218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400" kern="0" dirty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Step 4. RPA </a:t>
            </a:r>
            <a:r>
              <a:rPr lang="ko-KR" altLang="en-US" sz="2400" kern="0" dirty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진행 결과 쪽지 보내기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876" y="1910435"/>
            <a:ext cx="221932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54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635</Words>
  <Application>Microsoft Office PowerPoint</Application>
  <PresentationFormat>와이드스크린</PresentationFormat>
  <Paragraphs>220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굴림</vt:lpstr>
      <vt:lpstr>나눔바른고딕</vt:lpstr>
      <vt:lpstr>맑은 고딕</vt:lpstr>
      <vt:lpstr>맑은 고딕 (Headings)</vt:lpstr>
      <vt:lpstr>휴면명조</vt:lpstr>
      <vt:lpstr>Arial</vt:lpstr>
      <vt:lpstr>Office 테마</vt:lpstr>
      <vt:lpstr>PowerPoint 프레젠테이션</vt:lpstr>
      <vt:lpstr>문서 이력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문희영</dc:creator>
  <cp:lastModifiedBy>RPA ADMIN</cp:lastModifiedBy>
  <cp:revision>89</cp:revision>
  <dcterms:created xsi:type="dcterms:W3CDTF">2022-01-05T07:27:18Z</dcterms:created>
  <dcterms:modified xsi:type="dcterms:W3CDTF">2025-07-21T00:22:57Z</dcterms:modified>
</cp:coreProperties>
</file>